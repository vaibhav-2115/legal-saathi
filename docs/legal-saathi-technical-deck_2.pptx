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4" d="100"/>
          <a:sy n="74" d="100"/>
        </p:scale>
        <p:origin x="-324" y="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23FA14-E859-4319-BA6C-2DCF7B067690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E67FD4-C79F-4417-9BBD-DB5907255F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235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Legal Saathi: a multilingual, voice-capable legal assistance platform whose answers are grounded in retrieved Acts and judgments, and whose Engine detects patterns across citizens' complaints.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failure modes of generic legal chatbots, each answered by a specific Legal Saathi design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→ UNDERSTAND → VERIFY → EXPLAIN → ACT → UNITE. The last step is what no generic chatbot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LLM sits in the middle of the pipeline, not at the start or the end — retrieval feeds it, and the citation layer checks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layers, each with a frozen contract. The cross-cutting concerns on the right are always on and deliberately not drawn as a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 is the differentiator: extract, normalize, compare, cluster, explain, consent. The explanation step matters — users see which fields matched, not a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are the must-haves. Everything else — voice, drafts, clustering — is P1 or P2.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phases, but the plan is built around one milestone: a single cited answer flowing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core loop in under 60 seconds, then reveal the collective-action moment — that is the part people react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931920"/>
            <a:ext cx="3657600" cy="36576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66760" y="2331720"/>
            <a:ext cx="1051560" cy="10515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05740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SAATHI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12724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 AI Legal Assistance, Grounded in Real Law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76732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citizen's problem to verified legal information and a real next step — powered by the Legal Saathi Engine, which turns isolated complaints into recognized patterns.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864608"/>
            <a:ext cx="1993392" cy="384048"/>
          </a:xfrm>
          <a:prstGeom prst="roundRect">
            <a:avLst>
              <a:gd name="adj" fmla="val 50000"/>
            </a:avLst>
          </a:prstGeom>
          <a:solidFill>
            <a:srgbClr val="013A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486460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REAL LAW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61488" y="4864608"/>
            <a:ext cx="2476195" cy="384048"/>
          </a:xfrm>
          <a:prstGeom prst="roundRect">
            <a:avLst>
              <a:gd name="adj" fmla="val 50000"/>
            </a:avLst>
          </a:prstGeom>
          <a:solidFill>
            <a:srgbClr val="013A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61488" y="4864608"/>
            <a:ext cx="24761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REGIONAL LANGUAGES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38851" y="4864608"/>
            <a:ext cx="2556662" cy="384048"/>
          </a:xfrm>
          <a:prstGeom prst="roundRect">
            <a:avLst>
              <a:gd name="adj" fmla="val 50000"/>
            </a:avLst>
          </a:prstGeom>
          <a:solidFill>
            <a:srgbClr val="013A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38851" y="4864608"/>
            <a:ext cx="25566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→ COLLECTIVE ACTION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0533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  •  PRODUCT BLUEPRINT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707624" y="6428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2192731" cy="32918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  <a:effectLst>
            <a:outerShdw blurRad="101600" dist="25400" dir="5400000" algn="bl" rotWithShape="0">
              <a:srgbClr val="0B2E33">
                <a:alpha val="14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66928" y="411480"/>
            <a:ext cx="21927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6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THE FIX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86968"/>
            <a:ext cx="110550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4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Citizens don't need another chatbot —</a:t>
            </a:r>
            <a:endParaRPr lang="en-US" sz="4000" dirty="0"/>
          </a:p>
          <a:p>
            <a:pPr marL="0" indent="0">
              <a:lnSpc>
                <a:spcPts val="4500"/>
              </a:lnSpc>
              <a:buNone/>
            </a:pPr>
            <a:r>
              <a:rPr lang="en-US" sz="4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need a trustworthy one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5321808" cy="4224528"/>
          </a:xfrm>
          <a:prstGeom prst="roundRect">
            <a:avLst>
              <a:gd name="adj" fmla="val 2165"/>
            </a:avLst>
          </a:prstGeom>
          <a:solidFill>
            <a:srgbClr val="FBF4E9"/>
          </a:solidFill>
          <a:ln w="12700">
            <a:solidFill>
              <a:srgbClr val="F0DDBC"/>
            </a:solidFill>
            <a:prstDash val="solid"/>
          </a:ln>
          <a:effectLst>
            <a:outerShdw blurRad="177800" dist="50800" dir="5400000" algn="bl" rotWithShape="0">
              <a:srgbClr val="0B2E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00216" y="2148840"/>
            <a:ext cx="5321808" cy="4224528"/>
          </a:xfrm>
          <a:prstGeom prst="roundRect">
            <a:avLst>
              <a:gd name="adj" fmla="val 2165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  <a:effectLst>
            <a:outerShdw blurRad="228600" dist="63500" dir="5400000" algn="bl" rotWithShape="0">
              <a:srgbClr val="0B2E33">
                <a:alpha val="3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59536" y="2350008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60" dirty="0">
                <a:solidFill>
                  <a:srgbClr val="B5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592824" y="2350008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6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LEGAL SAATHI FIX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1248" y="2862072"/>
            <a:ext cx="310896" cy="31089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1248" y="2862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0720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answers with no traceable source — users can't verify what they're told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74536" y="2862072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74536" y="2862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013448" y="280720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grounded in retrieved Acts &amp; judgments — the LLM synthesizes, never invents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41248" y="3575304"/>
            <a:ext cx="310896" cy="31089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1248" y="3575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5204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indication of confidence — a guess and a fact look identical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74536" y="3575304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74536" y="3575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013448" y="35204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visible confidence badge: strong / partial / insufficient evidence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41248" y="4288536"/>
            <a:ext cx="310896" cy="31089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41248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23367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end at information, never reach action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74536" y="4288536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574536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013448" y="423367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conversation routes to a concrete action: notice, RTI, evidence checklist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41248" y="5001768"/>
            <a:ext cx="310896" cy="31089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41248" y="5001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280160" y="494690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English-first tools exclude regional-language, low-literacy and voice-first users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74536" y="5001768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574536" y="5001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013448" y="494690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regional language treated as core UX, not an add-on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41248" y="5715000"/>
            <a:ext cx="310896" cy="31089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41248" y="5715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280160" y="566013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complaints stay isolated — community-level patterns go unnoticed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574536" y="5715000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574536" y="5715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013448" y="566013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detects similar incidents and offers consent-based collective action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10707624" y="6428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9BB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1565453" cy="32918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  <a:effectLst>
            <a:outerShdw blurRad="101600" dist="25400" dir="5400000" algn="bl" rotWithShape="0">
              <a:srgbClr val="0B2E33">
                <a:alpha val="14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66928" y="411480"/>
            <a:ext cx="156545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6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86968"/>
            <a:ext cx="110550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4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journey: from a citizen's problem to a resolved pattern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66928" y="2606040"/>
            <a:ext cx="1613916" cy="2788920"/>
          </a:xfrm>
          <a:prstGeom prst="roundRect">
            <a:avLst>
              <a:gd name="adj" fmla="val 566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203200" dist="50800" dir="5400000" algn="bl" rotWithShape="0">
              <a:srgbClr val="0B2E33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82549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68096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355848"/>
            <a:ext cx="1248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758184"/>
            <a:ext cx="12481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issue — voice or text, any language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08276" y="3881628"/>
            <a:ext cx="219456" cy="230429"/>
          </a:xfrm>
          <a:prstGeom prst="chevron">
            <a:avLst/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5164" y="2606040"/>
            <a:ext cx="1613916" cy="2788920"/>
          </a:xfrm>
          <a:prstGeom prst="roundRect">
            <a:avLst>
              <a:gd name="adj" fmla="val 566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203200" dist="50800" dir="5400000" algn="bl" rotWithShape="0">
              <a:srgbClr val="0B2E33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6332" y="282549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656332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638044" y="3355848"/>
            <a:ext cx="1248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2638044" y="3758184"/>
            <a:ext cx="12481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structured case facts &amp; classify the issue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096512" y="3881628"/>
            <a:ext cx="219456" cy="230429"/>
          </a:xfrm>
          <a:prstGeom prst="chevron">
            <a:avLst/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2606040"/>
            <a:ext cx="1613916" cy="2788920"/>
          </a:xfrm>
          <a:prstGeom prst="roundRect">
            <a:avLst>
              <a:gd name="adj" fmla="val 5666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203200" dist="50800" dir="5400000" algn="bl" rotWithShape="0">
              <a:srgbClr val="0B2E33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44568" y="282549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544568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3355848"/>
            <a:ext cx="1248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3758184"/>
            <a:ext cx="12481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real legal sources that support the case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84748" y="3881628"/>
            <a:ext cx="219456" cy="230429"/>
          </a:xfrm>
          <a:prstGeom prst="chevron">
            <a:avLst/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1636" y="2606040"/>
            <a:ext cx="1613916" cy="2788920"/>
          </a:xfrm>
          <a:prstGeom prst="roundRect">
            <a:avLst>
              <a:gd name="adj" fmla="val 5666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203200" dist="50800" dir="5400000" algn="bl" rotWithShape="0">
              <a:srgbClr val="0B2E33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32804" y="282549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32804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14516" y="3355848"/>
            <a:ext cx="1248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6414516" y="3758184"/>
            <a:ext cx="12481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cited answer with a confidence indicator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872984" y="3881628"/>
            <a:ext cx="219456" cy="230429"/>
          </a:xfrm>
          <a:prstGeom prst="chevron">
            <a:avLst/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19872" y="2606040"/>
            <a:ext cx="1613916" cy="2788920"/>
          </a:xfrm>
          <a:prstGeom prst="roundRect">
            <a:avLst>
              <a:gd name="adj" fmla="val 566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203200" dist="50800" dir="5400000" algn="bl" rotWithShape="0">
              <a:srgbClr val="0B2E33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282549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32104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302752" y="3355848"/>
            <a:ext cx="1248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8302752" y="3758184"/>
            <a:ext cx="12481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0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Notice, RTI, DLSA, e-FIR guidance, evidence checklist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761220" y="3881628"/>
            <a:ext cx="219456" cy="230429"/>
          </a:xfrm>
          <a:prstGeom prst="chevron">
            <a:avLst/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08108" y="2606040"/>
            <a:ext cx="1613916" cy="2788920"/>
          </a:xfrm>
          <a:prstGeom prst="roundRect">
            <a:avLst>
              <a:gd name="adj" fmla="val 566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203200" dist="50800" dir="5400000" algn="bl" rotWithShape="0">
              <a:srgbClr val="0B2E33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209276" y="282549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10209276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190988" y="3355848"/>
            <a:ext cx="1248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UNITE</a:t>
            </a:r>
            <a:endParaRPr lang="en-US" sz="1550" dirty="0"/>
          </a:p>
        </p:txBody>
      </p:sp>
      <p:sp>
        <p:nvSpPr>
          <p:cNvPr id="39" name="Text 37"/>
          <p:cNvSpPr txBox="1"/>
          <p:nvPr/>
        </p:nvSpPr>
        <p:spPr>
          <a:xfrm>
            <a:off x="10190988" y="3758184"/>
            <a:ext cx="12481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0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finds patterns; consent-based collective action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" y="5742432"/>
            <a:ext cx="11055096" cy="603504"/>
          </a:xfrm>
          <a:prstGeom prst="roundRect">
            <a:avLst>
              <a:gd name="adj" fmla="val 15152"/>
            </a:avLst>
          </a:prstGeom>
          <a:solidFill>
            <a:srgbClr val="F1F8F7"/>
          </a:solidFill>
          <a:ln w="12700">
            <a:solidFill>
              <a:srgbClr val="DCEAE8"/>
            </a:solidFill>
            <a:prstDash val="solid"/>
          </a:ln>
          <a:effectLst>
            <a:outerShdw blurRad="177800" dist="50800" dir="5400000" algn="bl" rotWithShape="0">
              <a:srgbClr val="0B2E33">
                <a:alpha val="16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841248" y="5742432"/>
            <a:ext cx="10506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carried through every step:   </a:t>
            </a: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 •  Evidence  •  Transparency  •  Action  •  Multilingual Accessibility  •  Privacy  •  Modularity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10707624" y="6428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9BB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pipeline: input to verified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3A3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904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TXT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Text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3A3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25877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26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3A3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3685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/ PDF / Image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1417320"/>
            <a:ext cx="1874520" cy="3063240"/>
          </a:xfrm>
          <a:prstGeom prst="roundRect">
            <a:avLst>
              <a:gd name="adj" fmla="val 3902"/>
            </a:avLst>
          </a:prstGeom>
          <a:solidFill>
            <a:srgbClr val="F4FAF9"/>
          </a:solidFill>
          <a:ln w="12700">
            <a:solidFill>
              <a:srgbClr val="CFE3E1"/>
            </a:solidFill>
            <a:prstDash val="solid"/>
          </a:ln>
          <a:effectLst>
            <a:outerShdw blurRad="76200" dist="25400" dir="5400000" algn="bl" rotWithShape="0">
              <a:srgbClr val="1B3A3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651760" y="15270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Processing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19659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Speech-to-Text +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27889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OCR / document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3611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 normalization &amp;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03120" y="1851660"/>
            <a:ext cx="411480" cy="1097280"/>
          </a:xfrm>
          <a:prstGeom prst="line">
            <a:avLst/>
          </a:prstGeom>
          <a:noFill/>
          <a:ln w="22225">
            <a:solidFill>
              <a:srgbClr val="028090"/>
            </a:solidFill>
            <a:prstDash val="dash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103120" y="2948940"/>
            <a:ext cx="411480" cy="9144"/>
          </a:xfrm>
          <a:prstGeom prst="line">
            <a:avLst/>
          </a:prstGeom>
          <a:noFill/>
          <a:ln w="22225">
            <a:solidFill>
              <a:srgbClr val="028090"/>
            </a:solidFill>
            <a:prstDash val="dash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2103120" y="2948940"/>
            <a:ext cx="411480" cy="1097280"/>
          </a:xfrm>
          <a:prstGeom prst="line">
            <a:avLst/>
          </a:prstGeom>
          <a:noFill/>
          <a:ln w="22225">
            <a:solidFill>
              <a:srgbClr val="028090"/>
            </a:solidFill>
            <a:prstDash val="dash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709160" y="1417320"/>
            <a:ext cx="1965960" cy="3063240"/>
          </a:xfrm>
          <a:prstGeom prst="roundRect">
            <a:avLst>
              <a:gd name="adj" fmla="val 3721"/>
            </a:avLst>
          </a:prstGeom>
          <a:solidFill>
            <a:srgbClr val="F4FAF9"/>
          </a:solidFill>
          <a:ln w="12700">
            <a:solidFill>
              <a:srgbClr val="CFE3E1"/>
            </a:solidFill>
            <a:prstDash val="solid"/>
          </a:ln>
          <a:effectLst>
            <a:outerShdw blurRad="76200" dist="25400" dir="5400000" algn="bl" rotWithShape="0">
              <a:srgbClr val="1B3A3A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846320" y="15270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/ Entity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1945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Issue type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Opposing party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Location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Amount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703320"/>
            <a:ext cx="1691640" cy="594360"/>
          </a:xfrm>
          <a:prstGeom prst="roundRect">
            <a:avLst>
              <a:gd name="adj" fmla="val 12308"/>
            </a:avLst>
          </a:prstGeom>
          <a:solidFill>
            <a:srgbClr val="028090"/>
          </a:solidFill>
          <a:ln w="12700">
            <a:solidFill>
              <a:srgbClr val="CFE3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10328" y="374904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NER +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normalization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89120" y="2948940"/>
            <a:ext cx="320040" cy="9144"/>
          </a:xfrm>
          <a:prstGeom prst="line">
            <a:avLst/>
          </a:prstGeom>
          <a:noFill/>
          <a:ln w="22225">
            <a:solidFill>
              <a:srgbClr val="028090"/>
            </a:solidFill>
            <a:prstDash val="dash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949440" y="141732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4FAF9"/>
          </a:solidFill>
          <a:ln w="12700">
            <a:solidFill>
              <a:srgbClr val="CFE3E1"/>
            </a:solidFill>
            <a:prstDash val="solid"/>
          </a:ln>
          <a:effectLst>
            <a:outerShdw blurRad="76200" dist="25400" dir="5400000" algn="bl" rotWithShape="0">
              <a:srgbClr val="1B3A3A">
                <a:alpha val="1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086600" y="15087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18288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(ChromaDB)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Exact (BM25)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Fusion &amp; re-rank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49440" y="306324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4FAF9"/>
          </a:solidFill>
          <a:ln w="12700">
            <a:solidFill>
              <a:srgbClr val="CFE3E1"/>
            </a:solidFill>
            <a:prstDash val="solid"/>
          </a:ln>
          <a:effectLst>
            <a:outerShdw blurRad="76200" dist="25400" dir="5400000" algn="bl" rotWithShape="0">
              <a:srgbClr val="1B3A3A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086600" y="31546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Reasoning (LLM)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34747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Grounded generation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Provider abstraction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fallback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V="1">
            <a:off x="6675120" y="2125980"/>
            <a:ext cx="274320" cy="822960"/>
          </a:xfrm>
          <a:prstGeom prst="line">
            <a:avLst/>
          </a:prstGeom>
          <a:noFill/>
          <a:ln w="22225">
            <a:solidFill>
              <a:srgbClr val="028090"/>
            </a:solidFill>
            <a:prstDash val="dash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023860" y="2834640"/>
            <a:ext cx="9144" cy="228600"/>
          </a:xfrm>
          <a:prstGeom prst="line">
            <a:avLst/>
          </a:prstGeom>
          <a:noFill/>
          <a:ln w="22225">
            <a:solidFill>
              <a:srgbClr val="00A896"/>
            </a:solidFill>
            <a:prstDash val="dash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464040" y="141732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013A40"/>
          </a:solidFill>
          <a:ln w="12700">
            <a:solidFill>
              <a:srgbClr val="CFE3E1"/>
            </a:solidFill>
            <a:prstDash val="solid"/>
          </a:ln>
          <a:effectLst>
            <a:outerShdw blurRad="76200" dist="25400" dir="5400000" algn="bl" rotWithShape="0">
              <a:srgbClr val="1B3A3A">
                <a:alpha val="1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9601200" y="15087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Citation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601200" y="20116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→ source check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 badge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98280" y="2125980"/>
            <a:ext cx="365760" cy="9144"/>
          </a:xfrm>
          <a:prstGeom prst="line">
            <a:avLst/>
          </a:prstGeom>
          <a:noFill/>
          <a:ln w="22225">
            <a:solidFill>
              <a:srgbClr val="00A896"/>
            </a:solidFill>
            <a:prstDash val="dash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464040" y="306324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4FAF9"/>
          </a:solidFill>
          <a:ln w="12700">
            <a:solidFill>
              <a:srgbClr val="CFE3E1"/>
            </a:solidFill>
            <a:prstDash val="solid"/>
          </a:ln>
          <a:effectLst>
            <a:outerShdw blurRad="76200" dist="25400" dir="5400000" algn="bl" rotWithShape="0">
              <a:srgbClr val="1B3A3A">
                <a:alpha val="18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9601200" y="31546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Context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601200" y="34747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Issue-type playbook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Applicable Act/Section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Evidence &amp; explain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538460" y="2834640"/>
            <a:ext cx="9144" cy="228600"/>
          </a:xfrm>
          <a:prstGeom prst="line">
            <a:avLst/>
          </a:prstGeom>
          <a:noFill/>
          <a:ln w="22225">
            <a:solidFill>
              <a:srgbClr val="00A896"/>
            </a:solidFill>
            <a:prstDash val="dash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098280" y="4343400"/>
            <a:ext cx="365760" cy="9144"/>
          </a:xfrm>
          <a:prstGeom prst="line">
            <a:avLst/>
          </a:prstGeom>
          <a:noFill/>
          <a:ln w="22225">
            <a:solidFill>
              <a:srgbClr val="5C7C7A"/>
            </a:solidFill>
            <a:prstDash val="dash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949440" y="4709160"/>
            <a:ext cx="4663440" cy="1600200"/>
          </a:xfrm>
          <a:prstGeom prst="roundRect">
            <a:avLst>
              <a:gd name="adj" fmla="val 4571"/>
            </a:avLst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3A3A">
                <a:alpha val="18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7132320" y="48188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Saathi Engine — Pattern Analytics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7132320" y="52120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1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Recurring incident detection    • Locality-based clustering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1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Similarity + explanation           • Consent-gated collective action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0538460" y="4480560"/>
            <a:ext cx="342900" cy="228600"/>
          </a:xfrm>
          <a:prstGeom prst="line">
            <a:avLst/>
          </a:prstGeom>
          <a:noFill/>
          <a:ln w="22225">
            <a:solidFill>
              <a:srgbClr val="00A896"/>
            </a:solidFill>
            <a:prstDash val="dash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692140" y="4480560"/>
            <a:ext cx="1097280" cy="228600"/>
          </a:xfrm>
          <a:prstGeom prst="line">
            <a:avLst/>
          </a:prstGeom>
          <a:noFill/>
          <a:ln w="22225">
            <a:solidFill>
              <a:srgbClr val="5C7C7A"/>
            </a:solidFill>
            <a:prstDash val="dash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2013509" cy="32918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  <a:effectLst>
            <a:outerShdw blurRad="101600" dist="25400" dir="5400000" algn="bl" rotWithShape="0">
              <a:srgbClr val="0B2E33">
                <a:alpha val="14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66928" y="411480"/>
            <a:ext cx="20135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6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86968"/>
            <a:ext cx="110550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4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architecture keeps every module independently replaceable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763524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14300" dist="25400" dir="5400000" algn="bl" rotWithShape="0">
              <a:srgbClr val="0B2E33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214884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D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r>
              <a:rPr lang="en-US" sz="1200" dirty="0">
                <a:solidFill>
                  <a:srgbClr val="D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Next.js, TypeScript, Tailwind, Framer Motion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rot="10800000">
            <a:off x="1389888" y="2514600"/>
            <a:ext cx="274320" cy="64008"/>
          </a:xfrm>
          <a:prstGeom prst="triangle">
            <a:avLst/>
          </a:prstGeom>
          <a:solidFill>
            <a:srgbClr val="A8C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578608"/>
            <a:ext cx="7635240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14300" dist="25400" dir="5400000" algn="bl" rotWithShape="0">
              <a:srgbClr val="0B2E33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04672" y="2578608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D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r>
              <a:rPr lang="en-US" sz="1200" dirty="0">
                <a:solidFill>
                  <a:srgbClr val="D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FastAPI routers, request validation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10800000">
            <a:off x="1389888" y="2944368"/>
            <a:ext cx="274320" cy="64008"/>
          </a:xfrm>
          <a:prstGeom prst="triangle">
            <a:avLst/>
          </a:prstGeom>
          <a:solidFill>
            <a:srgbClr val="A8C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3008376"/>
            <a:ext cx="763524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14300" dist="25400" dir="5400000" algn="bl" rotWithShape="0">
              <a:srgbClr val="0B2E33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4672" y="3008376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D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</a:t>
            </a:r>
            <a:r>
              <a:rPr lang="en-US" sz="1200" dirty="0">
                <a:solidFill>
                  <a:srgbClr val="D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classifier.py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10800000">
            <a:off x="1389888" y="3374136"/>
            <a:ext cx="274320" cy="64008"/>
          </a:xfrm>
          <a:prstGeom prst="triangle">
            <a:avLst/>
          </a:prstGeom>
          <a:solidFill>
            <a:srgbClr val="A8C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3438144"/>
            <a:ext cx="7635240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14300" dist="25400" dir="5400000" algn="bl" rotWithShape="0">
              <a:srgbClr val="0B2E33">
                <a:alpha val="1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04672" y="3438144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D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Understanding</a:t>
            </a:r>
            <a:r>
              <a:rPr lang="en-US" sz="1200" dirty="0">
                <a:solidFill>
                  <a:srgbClr val="D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structured entity extraction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10800000">
            <a:off x="1389888" y="3803904"/>
            <a:ext cx="274320" cy="64008"/>
          </a:xfrm>
          <a:prstGeom prst="triangle">
            <a:avLst/>
          </a:prstGeom>
          <a:solidFill>
            <a:srgbClr val="A8C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867912"/>
            <a:ext cx="763524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14300" dist="25400" dir="5400000" algn="bl" rotWithShape="0">
              <a:srgbClr val="0B2E33">
                <a:alpha val="1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04672" y="3867912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D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r>
              <a:rPr lang="en-US" sz="1200" dirty="0">
                <a:solidFill>
                  <a:srgbClr val="D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ChromaDB (semantic) + BM25 (exact)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rot="10800000">
            <a:off x="1389888" y="4233672"/>
            <a:ext cx="274320" cy="64008"/>
          </a:xfrm>
          <a:prstGeom prst="triangle">
            <a:avLst/>
          </a:prstGeom>
          <a:solidFill>
            <a:srgbClr val="A8C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4297680"/>
            <a:ext cx="7635240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14300" dist="25400" dir="5400000" algn="bl" rotWithShape="0">
              <a:srgbClr val="0B2E33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04672" y="429768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D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/ Context Assembly</a:t>
            </a:r>
            <a:r>
              <a:rPr lang="en-US" sz="1200" dirty="0">
                <a:solidFill>
                  <a:srgbClr val="D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ranked, de-duplicated source set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rot="10800000">
            <a:off x="1389888" y="4663440"/>
            <a:ext cx="274320" cy="64008"/>
          </a:xfrm>
          <a:prstGeom prst="triangle">
            <a:avLst/>
          </a:prstGeom>
          <a:solidFill>
            <a:srgbClr val="A8C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4727448"/>
            <a:ext cx="763524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14300" dist="25400" dir="5400000" algn="bl" rotWithShape="0">
              <a:srgbClr val="0B2E33">
                <a:alpha val="16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04672" y="4727448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D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r>
              <a:rPr lang="en-US" sz="1200" dirty="0">
                <a:solidFill>
                  <a:srgbClr val="D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primary + fallback via abstraction layer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rot="10800000">
            <a:off x="1389888" y="5093208"/>
            <a:ext cx="274320" cy="64008"/>
          </a:xfrm>
          <a:prstGeom prst="triangle">
            <a:avLst/>
          </a:prstGeom>
          <a:solidFill>
            <a:srgbClr val="A8C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5157216"/>
            <a:ext cx="7635240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14300" dist="25400" dir="5400000" algn="bl" rotWithShape="0">
              <a:srgbClr val="0B2E33">
                <a:alpha val="16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04672" y="5157216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D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/ Citation Layer</a:t>
            </a:r>
            <a:r>
              <a:rPr lang="en-US" sz="1200" dirty="0">
                <a:solidFill>
                  <a:srgbClr val="D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claim-to-source check, confidence scoring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 rot="10800000">
            <a:off x="1389888" y="5522976"/>
            <a:ext cx="274320" cy="64008"/>
          </a:xfrm>
          <a:prstGeom prst="triangle">
            <a:avLst/>
          </a:prstGeom>
          <a:solidFill>
            <a:srgbClr val="A8C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5586984"/>
            <a:ext cx="763524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14300" dist="25400" dir="5400000" algn="bl" rotWithShape="0">
              <a:srgbClr val="0B2E33">
                <a:alpha val="16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04672" y="5586984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D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Layer</a:t>
            </a:r>
            <a:r>
              <a:rPr lang="en-US" sz="1200" dirty="0">
                <a:solidFill>
                  <a:srgbClr val="DF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Notice, RTI, DLSA, e-FIR, Checklist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 rot="10800000">
            <a:off x="1389888" y="5952744"/>
            <a:ext cx="274320" cy="64008"/>
          </a:xfrm>
          <a:prstGeom prst="triangle">
            <a:avLst/>
          </a:prstGeom>
          <a:solidFill>
            <a:srgbClr val="A8C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6016752"/>
            <a:ext cx="7635240" cy="365760"/>
          </a:xfrm>
          <a:prstGeom prst="roundRect">
            <a:avLst>
              <a:gd name="adj" fmla="val 15000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  <a:effectLst>
            <a:outerShdw blurRad="114300" dist="25400" dir="5400000" algn="bl" rotWithShape="0">
              <a:srgbClr val="0B2E33">
                <a:alpha val="16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04672" y="6016752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Saathi Engine</a:t>
            </a:r>
            <a:r>
              <a:rPr lang="en-US" sz="12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similarity, clustering, consent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586216" y="2148840"/>
            <a:ext cx="3035808" cy="1874520"/>
          </a:xfrm>
          <a:prstGeom prst="roundRect">
            <a:avLst>
              <a:gd name="adj" fmla="val 4878"/>
            </a:avLst>
          </a:prstGeom>
          <a:solidFill>
            <a:srgbClr val="F4FAF9"/>
          </a:solidFill>
          <a:ln w="12700">
            <a:solidFill>
              <a:srgbClr val="D9E9E7"/>
            </a:solidFill>
            <a:prstDash val="solid"/>
          </a:ln>
          <a:effectLst>
            <a:outerShdw blurRad="177800" dist="50800" dir="5400000" algn="bl" rotWithShape="0">
              <a:srgbClr val="0B2E33">
                <a:alpha val="16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805672" y="233172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layered?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8805672" y="2679192"/>
            <a:ext cx="2596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can be built, tested and replaced by a different team without breaking the others — retrieval, voice and the Engine all plug into the same pipeline contract.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586216" y="4206240"/>
            <a:ext cx="3035808" cy="2157984"/>
          </a:xfrm>
          <a:prstGeom prst="roundRect">
            <a:avLst>
              <a:gd name="adj" fmla="val 4237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  <a:effectLst>
            <a:outerShdw blurRad="203200" dist="50800" dir="5400000" algn="bl" rotWithShape="0">
              <a:srgbClr val="0B2E33">
                <a:alpha val="2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8805672" y="438912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SHOWN, ALWAYS ON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8842248" y="4727448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session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guard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10707624" y="6428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9BB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2371954" cy="32918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  <a:effectLst>
            <a:outerShdw blurRad="101600" dist="25400" dir="5400000" algn="bl" rotWithShape="0">
              <a:srgbClr val="0B2E33">
                <a:alpha val="14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66928" y="411480"/>
            <a:ext cx="23719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6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DIFFERENTIATOR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86968"/>
            <a:ext cx="110550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8"/>
              </a:lnSpc>
              <a:buNone/>
            </a:pPr>
            <a:r>
              <a:rPr lang="en-US" sz="3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Saathi Engine: from one complaint to a pattern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3502152" cy="1783080"/>
          </a:xfrm>
          <a:prstGeom prst="roundRect">
            <a:avLst>
              <a:gd name="adj" fmla="val 5128"/>
            </a:avLst>
          </a:prstGeom>
          <a:solidFill>
            <a:srgbClr val="F4FAF9"/>
          </a:solidFill>
          <a:ln w="12700">
            <a:solidFill>
              <a:srgbClr val="D9E9E7"/>
            </a:solidFill>
            <a:prstDash val="solid"/>
          </a:ln>
          <a:effectLst>
            <a:outerShdw blurRad="177800" dist="50800" dir="5400000" algn="bl" rotWithShape="0">
              <a:srgbClr val="0B2E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2257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232257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3464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facts pulled from the case: opposing party, issue type, location, amount and dates.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01084" y="2884932"/>
            <a:ext cx="210312" cy="220828"/>
          </a:xfrm>
          <a:prstGeom prst="chevron">
            <a:avLst/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103120"/>
            <a:ext cx="3502152" cy="1783080"/>
          </a:xfrm>
          <a:prstGeom prst="roundRect">
            <a:avLst>
              <a:gd name="adj" fmla="val 5128"/>
            </a:avLst>
          </a:prstGeom>
          <a:solidFill>
            <a:srgbClr val="F4FAF9"/>
          </a:solidFill>
          <a:ln w="12700">
            <a:solidFill>
              <a:srgbClr val="D9E9E7"/>
            </a:solidFill>
            <a:prstDash val="solid"/>
          </a:ln>
          <a:effectLst>
            <a:outerShdw blurRad="177800" dist="50800" dir="5400000" algn="bl" rotWithShape="0">
              <a:srgbClr val="0B2E33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81144" y="232257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81144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093208" y="232257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283464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to ISO, amounts to privacy-safe buckets, locations to district / locality.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77556" y="2884932"/>
            <a:ext cx="210312" cy="220828"/>
          </a:xfrm>
          <a:prstGeom prst="chevron">
            <a:avLst/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9872" y="2103120"/>
            <a:ext cx="3502152" cy="1783080"/>
          </a:xfrm>
          <a:prstGeom prst="roundRect">
            <a:avLst>
              <a:gd name="adj" fmla="val 5128"/>
            </a:avLst>
          </a:prstGeom>
          <a:solidFill>
            <a:srgbClr val="F4FAF9"/>
          </a:solidFill>
          <a:ln w="12700">
            <a:solidFill>
              <a:srgbClr val="D9E9E7"/>
            </a:solidFill>
            <a:prstDash val="solid"/>
          </a:ln>
          <a:effectLst>
            <a:outerShdw blurRad="177800" dist="50800" dir="5400000" algn="bl" rotWithShape="0">
              <a:srgbClr val="0B2E33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57616" y="2322576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357616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232257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75904" y="283464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filter plus semantic similarity narrows the candidate incidents.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069080"/>
            <a:ext cx="3502152" cy="1783080"/>
          </a:xfrm>
          <a:prstGeom prst="roundRect">
            <a:avLst>
              <a:gd name="adj" fmla="val 5128"/>
            </a:avLst>
          </a:prstGeom>
          <a:solidFill>
            <a:srgbClr val="F4FAF9"/>
          </a:solidFill>
          <a:ln w="12700">
            <a:solidFill>
              <a:srgbClr val="D9E9E7"/>
            </a:solidFill>
            <a:prstDash val="solid"/>
          </a:ln>
          <a:effectLst>
            <a:outerShdw blurRad="177800" dist="50800" dir="5400000" algn="bl" rotWithShape="0">
              <a:srgbClr val="0B2E33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288536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04672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316736" y="42885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80060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scoring above the similarity threshold are grouped into a pattern.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01084" y="4850892"/>
            <a:ext cx="210312" cy="220828"/>
          </a:xfrm>
          <a:prstGeom prst="chevron">
            <a:avLst/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4069080"/>
            <a:ext cx="3502152" cy="1783080"/>
          </a:xfrm>
          <a:prstGeom prst="roundRect">
            <a:avLst>
              <a:gd name="adj" fmla="val 5128"/>
            </a:avLst>
          </a:prstGeom>
          <a:solidFill>
            <a:srgbClr val="F4FAF9"/>
          </a:solidFill>
          <a:ln w="12700">
            <a:solidFill>
              <a:srgbClr val="D9E9E7"/>
            </a:solidFill>
            <a:prstDash val="solid"/>
          </a:ln>
          <a:effectLst>
            <a:outerShdw blurRad="177800" dist="50800" dir="5400000" algn="bl" rotWithShape="0">
              <a:srgbClr val="0B2E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81144" y="4288536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4581144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093208" y="42885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4599432" y="480060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exactly which fields matched — never an opaque similarity score.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877556" y="4850892"/>
            <a:ext cx="210312" cy="220828"/>
          </a:xfrm>
          <a:prstGeom prst="chevron">
            <a:avLst/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19872" y="4069080"/>
            <a:ext cx="3502152" cy="1783080"/>
          </a:xfrm>
          <a:prstGeom prst="roundRect">
            <a:avLst>
              <a:gd name="adj" fmla="val 5128"/>
            </a:avLst>
          </a:prstGeom>
          <a:solidFill>
            <a:srgbClr val="F4FAF9"/>
          </a:solidFill>
          <a:ln w="12700">
            <a:solidFill>
              <a:srgbClr val="D9E9E7"/>
            </a:solidFill>
            <a:prstDash val="solid"/>
          </a:ln>
          <a:effectLst>
            <a:outerShdw blurRad="177800" dist="50800" dir="5400000" algn="bl" rotWithShape="0">
              <a:srgbClr val="0B2E33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57616" y="4288536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357616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869680" y="42885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375904" y="480060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before any cross-user visibility, and asks again before collective action.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" y="5943600"/>
            <a:ext cx="11055096" cy="530352"/>
          </a:xfrm>
          <a:prstGeom prst="roundRect">
            <a:avLst>
              <a:gd name="adj" fmla="val 17241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  <a:effectLst>
            <a:outerShdw blurRad="203200" dist="50800" dir="5400000" algn="bl" rotWithShape="0">
              <a:srgbClr val="0B2E33">
                <a:alpha val="28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859536" y="5943600"/>
            <a:ext cx="10469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DESIGN:  </a:t>
            </a:r>
            <a:r>
              <a:rPr lang="en-US" sz="1150" i="1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aggregate pattern is shown first — individual detail is never revealed without explicit, revocable consent.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10707624" y="6428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9BB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3268066" cy="32918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  <a:effectLst>
            <a:outerShdw blurRad="101600" dist="25400" dir="5400000" algn="bl" rotWithShape="0">
              <a:srgbClr val="0B2E33">
                <a:alpha val="14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66928" y="411480"/>
            <a:ext cx="32680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6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A DEMO, NOT A TOY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86968"/>
            <a:ext cx="110550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4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P0 features: the smallest slice that proves the whole idea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350215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9E7"/>
            </a:solidFill>
            <a:prstDash val="solid"/>
          </a:ln>
          <a:effectLst>
            <a:outerShdw blurRad="228600" dist="63500" dir="5400000" algn="bl" rotWithShape="0">
              <a:srgbClr val="0B2E33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32304"/>
            <a:ext cx="512064" cy="310896"/>
          </a:xfrm>
          <a:prstGeom prst="roundRect">
            <a:avLst>
              <a:gd name="adj" fmla="val 2941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2432304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426464" y="2414016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Indicator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89504"/>
            <a:ext cx="2990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shows strong / partial / insufficient support — never a bare, unqualified claim.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194560"/>
            <a:ext cx="350215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9E7"/>
            </a:solidFill>
            <a:prstDash val="solid"/>
          </a:ln>
          <a:effectLst>
            <a:outerShdw blurRad="228600" dist="63500" dir="5400000" algn="bl" rotWithShape="0">
              <a:srgbClr val="0B2E33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81144" y="2432304"/>
            <a:ext cx="512064" cy="310896"/>
          </a:xfrm>
          <a:prstGeom prst="roundRect">
            <a:avLst>
              <a:gd name="adj" fmla="val 2941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81144" y="2432304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202936" y="2414016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Citations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2889504"/>
            <a:ext cx="2990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are checked against retrieved Acts &amp; judgments before being shown, not decorated with links after the fact.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19872" y="2194560"/>
            <a:ext cx="350215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9E7"/>
            </a:solidFill>
            <a:prstDash val="solid"/>
          </a:ln>
          <a:effectLst>
            <a:outerShdw blurRad="228600" dist="63500" dir="5400000" algn="bl" rotWithShape="0">
              <a:srgbClr val="0B2E33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57616" y="2432304"/>
            <a:ext cx="512064" cy="310896"/>
          </a:xfrm>
          <a:prstGeom prst="roundRect">
            <a:avLst>
              <a:gd name="adj" fmla="val 2941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57616" y="2432304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979408" y="2414016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Checklist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75904" y="2889504"/>
            <a:ext cx="2990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citizen exactly what documents, photos or receipts they need before acting.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279392"/>
            <a:ext cx="350215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9E7"/>
            </a:solidFill>
            <a:prstDash val="solid"/>
          </a:ln>
          <a:effectLst>
            <a:outerShdw blurRad="228600" dist="63500" dir="5400000" algn="bl" rotWithShape="0">
              <a:srgbClr val="0B2E33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4517136"/>
            <a:ext cx="512064" cy="310896"/>
          </a:xfrm>
          <a:prstGeom prst="roundRect">
            <a:avLst>
              <a:gd name="adj" fmla="val 2941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04672" y="4517136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426464" y="4498848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Routing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974336"/>
            <a:ext cx="2990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signals are detected and routed to human/emergency resources — never handled as ordinary chat.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43400" y="4279392"/>
            <a:ext cx="350215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9E7"/>
            </a:solidFill>
            <a:prstDash val="solid"/>
          </a:ln>
          <a:effectLst>
            <a:outerShdw blurRad="228600" dist="63500" dir="5400000" algn="bl" rotWithShape="0">
              <a:srgbClr val="0B2E33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81144" y="4517136"/>
            <a:ext cx="512064" cy="310896"/>
          </a:xfrm>
          <a:prstGeom prst="roundRect">
            <a:avLst>
              <a:gd name="adj" fmla="val 2941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581144" y="4517136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202936" y="4498848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Schema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599432" y="4974336"/>
            <a:ext cx="2990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conversation persists as structured facts, reusable across the checklist, drafts and the Engine.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19872" y="4279392"/>
            <a:ext cx="350215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9E7"/>
            </a:solidFill>
            <a:prstDash val="solid"/>
          </a:ln>
          <a:effectLst>
            <a:outerShdw blurRad="228600" dist="63500" dir="5400000" algn="bl" rotWithShape="0">
              <a:srgbClr val="0B2E33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57616" y="4517136"/>
            <a:ext cx="512064" cy="310896"/>
          </a:xfrm>
          <a:prstGeom prst="roundRect">
            <a:avLst>
              <a:gd name="adj" fmla="val 2941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357616" y="4517136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979408" y="4498848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Fallback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375904" y="4974336"/>
            <a:ext cx="2990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abstraction layer switches to a fallback provider automatically — no single point of failure.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62727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a feature can't be demoed convincingly end to end in under 90 seconds, it is P1 or P2 — not P0.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707624" y="6428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9BB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1744675" cy="32918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  <a:effectLst>
            <a:outerShdw blurRad="101600" dist="25400" dir="5400000" algn="bl" rotWithShape="0">
              <a:srgbClr val="0B2E33">
                <a:alpha val="14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66928" y="411480"/>
            <a:ext cx="17446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6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PLAN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86968"/>
            <a:ext cx="110550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032"/>
              </a:lnSpc>
              <a:buNone/>
            </a:pPr>
            <a:r>
              <a:rPr lang="en-US" sz="3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Build-first plan: the smallest working slice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1613916" cy="841248"/>
          </a:xfrm>
          <a:prstGeom prst="roundRect">
            <a:avLst>
              <a:gd name="adj" fmla="val 1087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77800" dist="38100" dir="5400000" algn="bl" rotWithShape="0">
              <a:srgbClr val="0B2E33">
                <a:alpha val="2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8368" y="2148840"/>
            <a:ext cx="14310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12848" y="2459736"/>
            <a:ext cx="210312" cy="220828"/>
          </a:xfrm>
          <a:prstGeom prst="chevron">
            <a:avLst/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55164" y="2148840"/>
            <a:ext cx="1613916" cy="841248"/>
          </a:xfrm>
          <a:prstGeom prst="roundRect">
            <a:avLst>
              <a:gd name="adj" fmla="val 1087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77800" dist="38100" dir="5400000" algn="bl" rotWithShape="0">
              <a:srgbClr val="0B2E33">
                <a:alpha val="2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46604" y="2148840"/>
            <a:ext cx="14310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01084" y="2459736"/>
            <a:ext cx="210312" cy="220828"/>
          </a:xfrm>
          <a:prstGeom prst="chevron">
            <a:avLst/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148840"/>
            <a:ext cx="1613916" cy="841248"/>
          </a:xfrm>
          <a:prstGeom prst="roundRect">
            <a:avLst>
              <a:gd name="adj" fmla="val 1087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77800" dist="38100" dir="5400000" algn="bl" rotWithShape="0">
              <a:srgbClr val="0B2E33">
                <a:alpha val="2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434840" y="2148840"/>
            <a:ext cx="14310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Retrieval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9320" y="2459736"/>
            <a:ext cx="210312" cy="220828"/>
          </a:xfrm>
          <a:prstGeom prst="chevron">
            <a:avLst/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1636" y="2148840"/>
            <a:ext cx="1613916" cy="841248"/>
          </a:xfrm>
          <a:prstGeom prst="roundRect">
            <a:avLst>
              <a:gd name="adj" fmla="val 1087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77800" dist="38100" dir="5400000" algn="bl" rotWithShape="0">
              <a:srgbClr val="0B2E33">
                <a:alpha val="24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323076" y="2148840"/>
            <a:ext cx="14310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Answer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77556" y="2459736"/>
            <a:ext cx="210312" cy="220828"/>
          </a:xfrm>
          <a:prstGeom prst="chevron">
            <a:avLst/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9872" y="2148840"/>
            <a:ext cx="1613916" cy="841248"/>
          </a:xfrm>
          <a:prstGeom prst="roundRect">
            <a:avLst>
              <a:gd name="adj" fmla="val 1087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77800" dist="38100" dir="5400000" algn="bl" rotWithShape="0">
              <a:srgbClr val="0B2E33">
                <a:alpha val="24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11312" y="2148840"/>
            <a:ext cx="14310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765792" y="2459736"/>
            <a:ext cx="210312" cy="220828"/>
          </a:xfrm>
          <a:prstGeom prst="chevron">
            <a:avLst/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08108" y="2148840"/>
            <a:ext cx="1613916" cy="841248"/>
          </a:xfrm>
          <a:prstGeom prst="roundRect">
            <a:avLst>
              <a:gd name="adj" fmla="val 1087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77800" dist="38100" dir="5400000" algn="bl" rotWithShape="0">
              <a:srgbClr val="0B2E33">
                <a:alpha val="24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099548" y="2148840"/>
            <a:ext cx="14310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10896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Milestone 1 — built before voice, the Engine, or any extra action modules.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3529584"/>
            <a:ext cx="11055096" cy="512064"/>
          </a:xfrm>
          <a:prstGeom prst="roundRect">
            <a:avLst>
              <a:gd name="adj" fmla="val 17857"/>
            </a:avLst>
          </a:prstGeom>
          <a:solidFill>
            <a:srgbClr val="F4FAF9"/>
          </a:solidFill>
          <a:ln w="12700">
            <a:solidFill>
              <a:srgbClr val="DCEAE8"/>
            </a:solidFill>
            <a:prstDash val="solid"/>
          </a:ln>
          <a:effectLst>
            <a:outerShdw blurRad="127000" dist="25400" dir="5400000" algn="bl" rotWithShape="0">
              <a:srgbClr val="0B2E33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" y="3611880"/>
            <a:ext cx="1298448" cy="347472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" y="361188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0–3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176272" y="3529584"/>
            <a:ext cx="9226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frontend &amp; backend skeletons, knowledge/RAG index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114800"/>
            <a:ext cx="11055096" cy="512064"/>
          </a:xfrm>
          <a:prstGeom prst="roundRect">
            <a:avLst>
              <a:gd name="adj" fmla="val 17857"/>
            </a:avLst>
          </a:prstGeom>
          <a:solidFill>
            <a:srgbClr val="F4FAF9"/>
          </a:solidFill>
          <a:ln w="12700">
            <a:solidFill>
              <a:srgbClr val="DCEAE8"/>
            </a:solidFill>
            <a:prstDash val="solid"/>
          </a:ln>
          <a:effectLst>
            <a:outerShdw blurRad="127000" dist="25400" dir="5400000" algn="bl" rotWithShape="0">
              <a:srgbClr val="0B2E33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6656" y="4197096"/>
            <a:ext cx="1298448" cy="347472"/>
          </a:xfrm>
          <a:prstGeom prst="roundRect">
            <a:avLst>
              <a:gd name="adj" fmla="val 26316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6656" y="419709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2176272" y="4114800"/>
            <a:ext cx="9226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complete grounded chatbot workflow (Milestone 1 above)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66928" y="4700016"/>
            <a:ext cx="11055096" cy="512064"/>
          </a:xfrm>
          <a:prstGeom prst="roundRect">
            <a:avLst>
              <a:gd name="adj" fmla="val 17857"/>
            </a:avLst>
          </a:prstGeom>
          <a:solidFill>
            <a:srgbClr val="F4FAF9"/>
          </a:solidFill>
          <a:ln w="12700">
            <a:solidFill>
              <a:srgbClr val="DCEAE8"/>
            </a:solidFill>
            <a:prstDash val="solid"/>
          </a:ln>
          <a:effectLst>
            <a:outerShdw blurRad="127000" dist="25400" dir="5400000" algn="bl" rotWithShape="0">
              <a:srgbClr val="0B2E33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6656" y="4782312"/>
            <a:ext cx="1298448" cy="347472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76656" y="478231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5–6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2176272" y="4700016"/>
            <a:ext cx="9226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Workspace + first Legal Action modules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66928" y="5285232"/>
            <a:ext cx="11055096" cy="512064"/>
          </a:xfrm>
          <a:prstGeom prst="roundRect">
            <a:avLst>
              <a:gd name="adj" fmla="val 17857"/>
            </a:avLst>
          </a:prstGeom>
          <a:solidFill>
            <a:srgbClr val="F4FAF9"/>
          </a:solidFill>
          <a:ln w="12700">
            <a:solidFill>
              <a:srgbClr val="DCEAE8"/>
            </a:solidFill>
            <a:prstDash val="solid"/>
          </a:ln>
          <a:effectLst>
            <a:outerShdw blurRad="127000" dist="25400" dir="5400000" algn="bl" rotWithShape="0">
              <a:srgbClr val="0B2E33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6656" y="5367528"/>
            <a:ext cx="1298448" cy="347472"/>
          </a:xfrm>
          <a:prstGeom prst="roundRect">
            <a:avLst>
              <a:gd name="adj" fmla="val 26316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76656" y="536752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7–9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2176272" y="5285232"/>
            <a:ext cx="9226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Legal Saathi Engine, Collective Workflow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66928" y="5870448"/>
            <a:ext cx="11055096" cy="512064"/>
          </a:xfrm>
          <a:prstGeom prst="roundRect">
            <a:avLst>
              <a:gd name="adj" fmla="val 17857"/>
            </a:avLst>
          </a:prstGeom>
          <a:solidFill>
            <a:srgbClr val="F4FAF9"/>
          </a:solidFill>
          <a:ln w="12700">
            <a:solidFill>
              <a:srgbClr val="DCEAE8"/>
            </a:solidFill>
            <a:prstDash val="solid"/>
          </a:ln>
          <a:effectLst>
            <a:outerShdw blurRad="127000" dist="25400" dir="5400000" algn="bl" rotWithShape="0">
              <a:srgbClr val="0B2E33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6656" y="5952744"/>
            <a:ext cx="1298448" cy="347472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76656" y="595274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10–11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2176272" y="5870448"/>
            <a:ext cx="9226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security review, final polish &amp; demo rehearsal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10707624" y="6428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9BB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023360"/>
            <a:ext cx="5120640" cy="5120640"/>
          </a:xfrm>
          <a:prstGeom prst="ellipse">
            <a:avLst/>
          </a:prstGeom>
          <a:solidFill>
            <a:srgbClr val="013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11480"/>
            <a:ext cx="1744675" cy="32918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5400000" algn="bl" rotWithShape="0">
              <a:srgbClr val="0B2E33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66928" y="411480"/>
            <a:ext cx="17446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6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DEMO STORY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86968"/>
            <a:ext cx="110550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journey, told end to end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7589520" cy="502920"/>
          </a:xfrm>
          <a:prstGeom prst="roundRect">
            <a:avLst>
              <a:gd name="adj" fmla="val 14545"/>
            </a:avLst>
          </a:prstGeom>
          <a:solidFill>
            <a:srgbClr val="013A40"/>
          </a:solidFill>
          <a:ln w="12700">
            <a:solidFill>
              <a:srgbClr val="0F4249"/>
            </a:solidFill>
            <a:prstDash val="solid"/>
          </a:ln>
          <a:effectLst>
            <a:outerShdw blurRad="1270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" y="2244852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4944" y="22448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33856" y="214884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citizen (voice, in Hindi) reports a landlord withholding their deposit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 rot="10800000">
            <a:off x="722376" y="2656332"/>
            <a:ext cx="256032" cy="64008"/>
          </a:xfrm>
          <a:prstGeom prst="triangle">
            <a:avLst/>
          </a:prstGeom>
          <a:solidFill>
            <a:srgbClr val="2F6B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724912"/>
            <a:ext cx="7589520" cy="502920"/>
          </a:xfrm>
          <a:prstGeom prst="roundRect">
            <a:avLst>
              <a:gd name="adj" fmla="val 14545"/>
            </a:avLst>
          </a:prstGeom>
          <a:solidFill>
            <a:srgbClr val="013A40"/>
          </a:solidFill>
          <a:ln w="12700">
            <a:solidFill>
              <a:srgbClr val="0F4249"/>
            </a:solidFill>
            <a:prstDash val="solid"/>
          </a:ln>
          <a:effectLst>
            <a:outerShdw blurRad="1270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" y="2820924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94944" y="28209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" y="2724912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transcribes, classifies and extracts the structured case facts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 rot="10800000">
            <a:off x="722376" y="3232404"/>
            <a:ext cx="256032" cy="64008"/>
          </a:xfrm>
          <a:prstGeom prst="triangle">
            <a:avLst/>
          </a:prstGeom>
          <a:solidFill>
            <a:srgbClr val="2F6B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3300984"/>
            <a:ext cx="7589520" cy="502920"/>
          </a:xfrm>
          <a:prstGeom prst="roundRect">
            <a:avLst>
              <a:gd name="adj" fmla="val 14545"/>
            </a:avLst>
          </a:prstGeom>
          <a:solidFill>
            <a:srgbClr val="013A40"/>
          </a:solidFill>
          <a:ln w="12700">
            <a:solidFill>
              <a:srgbClr val="0F4249"/>
            </a:solidFill>
            <a:prstDash val="solid"/>
          </a:ln>
          <a:effectLst>
            <a:outerShdw blurRad="1270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" y="3396996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94944" y="33969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" y="3300984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finds the relevant tenancy law sections + judgments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 rot="10800000">
            <a:off x="722376" y="3808476"/>
            <a:ext cx="256032" cy="64008"/>
          </a:xfrm>
          <a:prstGeom prst="triangle">
            <a:avLst/>
          </a:prstGeom>
          <a:solidFill>
            <a:srgbClr val="2F6B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877056"/>
            <a:ext cx="7589520" cy="502920"/>
          </a:xfrm>
          <a:prstGeom prst="roundRect">
            <a:avLst>
              <a:gd name="adj" fmla="val 14545"/>
            </a:avLst>
          </a:prstGeom>
          <a:solidFill>
            <a:srgbClr val="013A40"/>
          </a:solidFill>
          <a:ln w="12700">
            <a:solidFill>
              <a:srgbClr val="0F4249"/>
            </a:solidFill>
            <a:prstDash val="solid"/>
          </a:ln>
          <a:effectLst>
            <a:outerShdw blurRad="1270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4944" y="3973068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94944" y="39730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" y="3877056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cited, plain-language answer appears with a "strong evidence" badge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 rot="10800000">
            <a:off x="722376" y="4384548"/>
            <a:ext cx="256032" cy="64008"/>
          </a:xfrm>
          <a:prstGeom prst="triangle">
            <a:avLst/>
          </a:prstGeom>
          <a:solidFill>
            <a:srgbClr val="2F6B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4453128"/>
            <a:ext cx="7589520" cy="502920"/>
          </a:xfrm>
          <a:prstGeom prst="roundRect">
            <a:avLst>
              <a:gd name="adj" fmla="val 14545"/>
            </a:avLst>
          </a:prstGeom>
          <a:solidFill>
            <a:srgbClr val="013A40"/>
          </a:solidFill>
          <a:ln w="12700">
            <a:solidFill>
              <a:srgbClr val="0F4249"/>
            </a:solidFill>
            <a:prstDash val="solid"/>
          </a:ln>
          <a:effectLst>
            <a:outerShdw blurRad="1270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944" y="4549140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94944" y="45491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33856" y="4453128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Evidence Checklist + draft Legal Notice are offered immediately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 rot="10800000">
            <a:off x="722376" y="4960620"/>
            <a:ext cx="256032" cy="64008"/>
          </a:xfrm>
          <a:prstGeom prst="triangle">
            <a:avLst/>
          </a:prstGeom>
          <a:solidFill>
            <a:srgbClr val="2F6B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5029200"/>
            <a:ext cx="7589520" cy="502920"/>
          </a:xfrm>
          <a:prstGeom prst="roundRect">
            <a:avLst>
              <a:gd name="adj" fmla="val 14545"/>
            </a:avLst>
          </a:prstGeom>
          <a:solidFill>
            <a:srgbClr val="013A40"/>
          </a:solidFill>
          <a:ln w="12700">
            <a:solidFill>
              <a:srgbClr val="0F4249"/>
            </a:solidFill>
            <a:prstDash val="solid"/>
          </a:ln>
          <a:effectLst>
            <a:outerShdw blurRad="1270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4944" y="5125212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94944" y="51252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33856" y="5029200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flags 4 similar cases nearby — shown as an aggregate first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 rot="10800000">
            <a:off x="722376" y="5536692"/>
            <a:ext cx="256032" cy="64008"/>
          </a:xfrm>
          <a:prstGeom prst="triangle">
            <a:avLst/>
          </a:prstGeom>
          <a:solidFill>
            <a:srgbClr val="2F6B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" y="5605272"/>
            <a:ext cx="758952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270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4944" y="5701284"/>
            <a:ext cx="310896" cy="31089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  <a:effectLst>
            <a:outerShdw blurRad="101600" dist="25400" dir="5400000" algn="bl" rotWithShape="0">
              <a:srgbClr val="0B2E33">
                <a:alpha val="2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694944" y="57012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133856" y="5605272"/>
            <a:ext cx="6821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consent, the citizen is connected toward a collective notice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540496" y="2148840"/>
            <a:ext cx="3081528" cy="2743200"/>
          </a:xfrm>
          <a:prstGeom prst="roundRect">
            <a:avLst>
              <a:gd name="adj" fmla="val 3333"/>
            </a:avLst>
          </a:prstGeom>
          <a:solidFill>
            <a:srgbClr val="013A40"/>
          </a:solidFill>
          <a:ln w="12700">
            <a:solidFill>
              <a:srgbClr val="028090"/>
            </a:solidFill>
            <a:prstDash val="solid"/>
          </a:ln>
          <a:effectLst>
            <a:outerShdw blurRad="203200" dist="50800" dir="5400000" algn="bl" rotWithShape="0">
              <a:srgbClr val="0B2E33">
                <a:alpha val="30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8796528" y="2386584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ONE LINE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8796528" y="2752344"/>
            <a:ext cx="25694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“It turns a legal problem into a sourced answer and a next step — and it notices when you're not the only one.”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540496" y="5074920"/>
            <a:ext cx="3081528" cy="1371600"/>
          </a:xfrm>
          <a:prstGeom prst="roundRect">
            <a:avLst>
              <a:gd name="adj" fmla="val 6667"/>
            </a:avLst>
          </a:prstGeom>
          <a:solidFill>
            <a:srgbClr val="0B2E33"/>
          </a:solidFill>
          <a:ln w="12700">
            <a:solidFill>
              <a:srgbClr val="0F4249"/>
            </a:solidFill>
            <a:prstDash val="solid"/>
          </a:ln>
          <a:effectLst>
            <a:outerShdw blurRad="152400" dist="38100" dir="5400000" algn="bl" rotWithShape="0">
              <a:srgbClr val="0B2E33">
                <a:alpha val="20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8796528" y="5257800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FIRST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796528" y="5568696"/>
            <a:ext cx="2569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 — ask, grounded cited answer, act — in under 60 seconds. Then reveal the pattern.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10707624" y="6428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1372</Words>
  <Application>Microsoft Office PowerPoint</Application>
  <PresentationFormat>Custom</PresentationFormat>
  <Paragraphs>224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Saathi — Technical Approach &amp; Product Blueprint</dc:title>
  <dc:subject>PptxGenJS Presentation</dc:subject>
  <dc:creator>Legal Saathi</dc:creator>
  <cp:lastModifiedBy>DELL</cp:lastModifiedBy>
  <cp:revision>2</cp:revision>
  <dcterms:created xsi:type="dcterms:W3CDTF">2026-09-15T16:56:08Z</dcterms:created>
  <dcterms:modified xsi:type="dcterms:W3CDTF">2026-09-19T12:17:27Z</dcterms:modified>
</cp:coreProperties>
</file>