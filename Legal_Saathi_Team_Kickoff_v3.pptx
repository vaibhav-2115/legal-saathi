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not a product pitch — this is our engineering execution plan. By the end of this meeting, each of you will know exactly what you own, what files you touch, how you use AI tools, and what we build first. Let's align and then start building.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thesis. Every other legal chatbot lets the AI hallucinate answers. We don't. Our system retrieves real Indian statutory law and judgments first, then uses the LLM only to synthesize and explain what was retrieved. The LLM never invents legal claims. This is what makes Legal Saathi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citizen journey. A citizen describes their legal problem in their own language — voice or text. The system extracts structured facts, searches real legal databases, generates a cited answer with a confidence badge, offers concrete actions like a legal notice or evidence checklist, and then — this is the magic — the Legal Saathi Engine checks if this pattern matches other complaints for potential collective 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most important architectural principle and the slide you should spend time on. Show the wrong way — LLM directly answering legal questions — and then show our way. The key insight is that legal retrieval via ChromaDB and BM25 is the source of truth. The LLM only synthesizes and explains what was retrieved. Every claim is checked against the source. This is what makes us trustworthy, not just another wrapper around GPT.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layer from top to bottom. Emphasize that each layer is independently replaceable — if we want to swap ChromaDB for another vector DB later, only T3's retrieval_service.py changes. The frozen API contract and Case Schema are the glue that holds all layers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each teammate's zone. The key message is no overlapping ownership and no ambiguity. T1 never touches backend/. T2 never edits retrieval_service.py internals. T3 owns the Case Schema contract. T4 is the infrastructure and quality gatekeeper. Everyone knows their boundary.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every cell — just highlight the pattern. Each row has exactly one LEAD or OWNER. That person makes decisions for that domain. Others consume, review, or support. Point out that T3 OWNS the Case Schema — that means if anyone needs a schema change, they go through T3 and the team sync process.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cultural slide. In hackathons, the number one failure mode is sequential blocking — everyone waits on someone else. We eliminate this by coding against frozen contracts and mock fixtures from Day 1. T1 builds the entire chat UI against a mock API. T2 builds the entire pipeline against a mock retrieval service. T3 builds the RAG index independently. T4 sets up Docker and CI without waiting for anyone. Integration happens AFTER contracts are stable.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contracts are what make parallel work possible. If everyone agrees on the shape of the Case object and the API response formats BEFORE coding, then everyone can build independently. T3 owns the Case Schema — any changes go through the team sync process described in Part 15 of the roadmap. This is not bureaucracy — it's the cheapest insurance against integration nightmares.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Vibe coding does NOT mean blindly pasting AI output. Humans are the architects and tech leads. AI is our fast junior developer. Humans decide architecture, contracts, security, and what's correct. AI writes the implementation, tests, and documentation. Every AI-generated change gets a human diff review before committing. This is how we move fast without breaking things.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each law briefly. Law 1 and Law 6 are the most critical — if AI invents a schema field that doesn't match the contract, it creates a type mismatch that wastes hours to debug. Law 2 keeps AI sessions focused — never ask it to build an entire system in one prompt. These are battle-tested rules for AI-assisted team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loop step by step. Emphasize that EVERY task follows this exact sequence — no exceptions. Step 3 is critical: always give the AI your Master Prompt plus the relevant blueprint sections plus the specific task definition of done. Step 5 is non-negotiable: code is not done until tests pass. Step 6: always review the git diff with your own eyes before committing.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timeline left to right. Foundation phases are fast — audit and freeze in the first 1-2 days. Phases 2-3 are skeleton work that runs in parallel. Then zoom into Phase 4 — this is where the magic happens. Phase 4 is the first time a real user question produces a real cited answer. Everything downstream depends on this. If Phase 4 timeline slips, we immediately cut P2 features. We never add scope that delays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execution slide. Zoom in on the flow. Legal Retrieval — that amber-highlighted layer — is the source of truth. The LLM only synthesizes what was retrieved. The citation layer verifies claims against sources. The confidence badge tells the user how reliable the answer is. If this pipeline doesn't work, nothing else matters — not voice, not the Engine, not action modules. Protect Phase 4 above all else.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on this slide. First, walk through the demo story — this is the exact scenario we'll present to judges. A Hindi-speaking citizen with a deposit problem gets a cited answer, an evidence checklist, a legal notice draft, and discovers 4 other tenants with the same issue. Second, give everyone their immediate action item. By end of today, we need the audit done and contracts frozen so Phase 2 parallel work can start tomorrow.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slide. Read the manifesto aloud — slowly. One architecture. Four owners. Parallel execution. AI-assisted implementation. Human-controlled decisions. Then pause. Build fast. Integrate carefully. Never sacrifice trust. Then end with: Legal Saathi — let's build. The meeting is over. Everyone goes to their Phase 0 audit immediately.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8229600" y="-1371600"/>
            <a:ext cx="5486400" cy="5486400"/>
          </a:xfrm>
          <a:prstGeom prst="ellipse">
            <a:avLst/>
          </a:prstGeom>
          <a:solidFill>
            <a:srgbClr val="0E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3200400"/>
            <a:ext cx="4572000" cy="4572000"/>
          </a:xfrm>
          <a:prstGeom prst="ellipse">
            <a:avLst/>
          </a:prstGeom>
          <a:solidFill>
            <a:srgbClr val="0C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3657600"/>
            <a:ext cx="4114800" cy="4114800"/>
          </a:xfrm>
          <a:prstGeom prst="ellipse">
            <a:avLst/>
          </a:prstGeom>
          <a:solidFill>
            <a:srgbClr val="0B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9164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9164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5176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5176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1188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7200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7200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3212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3212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9224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9224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5236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5236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248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1248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7260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33272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33272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292840" y="457200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292840" y="4937760"/>
            <a:ext cx="36576" cy="36576"/>
          </a:xfrm>
          <a:prstGeom prst="ellipse">
            <a:avLst/>
          </a:prstGeom>
          <a:solidFill>
            <a:srgbClr val="18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914400"/>
            <a:ext cx="9601200" cy="3200400"/>
          </a:xfrm>
          <a:prstGeom prst="rect">
            <a:avLst/>
          </a:prstGeom>
          <a:noFill/>
        </p:spPr>
        <p:txBody>
          <a:bodyPr wrap="square">
            <a:spAutoFit/>
          </a:bodyPr>
          <a:lstStyle/>
          <a:p>
            <a:r>
              <a:rPr sz="5600" b="1">
                <a:solidFill>
                  <a:srgbClr val="FFFFFF"/>
                </a:solidFill>
                <a:latin typeface="Segoe UI"/>
              </a:rPr>
              <a:t>LEGAL SAATHI</a:t>
            </a:r>
          </a:p>
          <a:p>
            <a:pPr>
              <a:spcBef>
                <a:spcPts val="800"/>
              </a:spcBef>
            </a:pPr>
            <a:r>
              <a:rPr sz="2000" b="1">
                <a:solidFill>
                  <a:srgbClr val="3B82F6"/>
                </a:solidFill>
                <a:latin typeface="Segoe UI"/>
              </a:rPr>
              <a:t>From Idea  →  Architecture  →  Parallel Build  →  AI-Assisted Execution</a:t>
            </a:r>
          </a:p>
          <a:p>
            <a:pPr>
              <a:spcBef>
                <a:spcPts val="1200"/>
              </a:spcBef>
            </a:pPr>
            <a:r>
              <a:rPr sz="1300">
                <a:solidFill>
                  <a:srgbClr val="94A3B8"/>
                </a:solidFill>
                <a:latin typeface="Segoe UI"/>
              </a:rPr>
              <a:t>4 Developers  •  One Architecture  •  One Shared Execution Plan</a:t>
            </a:r>
          </a:p>
        </p:txBody>
      </p:sp>
      <p:sp>
        <p:nvSpPr>
          <p:cNvPr id="30" name="Rounded Rectangle 29"/>
          <p:cNvSpPr/>
          <p:nvPr/>
        </p:nvSpPr>
        <p:spPr>
          <a:xfrm>
            <a:off x="914400" y="4114800"/>
            <a:ext cx="1508760" cy="347472"/>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22D3EE"/>
                </a:solidFill>
                <a:latin typeface="Segoe UI"/>
              </a:defRPr>
            </a:pPr>
            <a:r>
              <a:t>Citizen</a:t>
            </a:r>
          </a:p>
        </p:txBody>
      </p:sp>
      <p:sp>
        <p:nvSpPr>
          <p:cNvPr id="31" name="TextBox 30"/>
          <p:cNvSpPr txBox="1"/>
          <p:nvPr/>
        </p:nvSpPr>
        <p:spPr>
          <a:xfrm>
            <a:off x="2423160" y="4114800"/>
            <a:ext cx="182880" cy="347472"/>
          </a:xfrm>
          <a:prstGeom prst="rect">
            <a:avLst/>
          </a:prstGeom>
          <a:noFill/>
        </p:spPr>
        <p:txBody>
          <a:bodyPr wrap="none">
            <a:spAutoFit/>
          </a:bodyPr>
          <a:lstStyle/>
          <a:p>
            <a:pPr algn="ctr">
              <a:spcBef>
                <a:spcPts val="200"/>
              </a:spcBef>
              <a:defRPr sz="1200">
                <a:solidFill>
                  <a:srgbClr val="64748B"/>
                </a:solidFill>
                <a:latin typeface="Segoe UI"/>
              </a:defRPr>
            </a:pPr>
            <a:r>
              <a:t>→</a:t>
            </a:r>
          </a:p>
        </p:txBody>
      </p:sp>
      <p:sp>
        <p:nvSpPr>
          <p:cNvPr id="32" name="Rounded Rectangle 31"/>
          <p:cNvSpPr/>
          <p:nvPr/>
        </p:nvSpPr>
        <p:spPr>
          <a:xfrm>
            <a:off x="2606040" y="4114800"/>
            <a:ext cx="1508760" cy="347472"/>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3B82F6"/>
                </a:solidFill>
                <a:latin typeface="Segoe UI"/>
              </a:defRPr>
            </a:pPr>
            <a:r>
              <a:t>AI Pipeline</a:t>
            </a:r>
          </a:p>
        </p:txBody>
      </p:sp>
      <p:sp>
        <p:nvSpPr>
          <p:cNvPr id="33" name="TextBox 32"/>
          <p:cNvSpPr txBox="1"/>
          <p:nvPr/>
        </p:nvSpPr>
        <p:spPr>
          <a:xfrm>
            <a:off x="4114800" y="4114800"/>
            <a:ext cx="182880" cy="347472"/>
          </a:xfrm>
          <a:prstGeom prst="rect">
            <a:avLst/>
          </a:prstGeom>
          <a:noFill/>
        </p:spPr>
        <p:txBody>
          <a:bodyPr wrap="none">
            <a:spAutoFit/>
          </a:bodyPr>
          <a:lstStyle/>
          <a:p>
            <a:pPr algn="ctr">
              <a:spcBef>
                <a:spcPts val="200"/>
              </a:spcBef>
              <a:defRPr sz="1200">
                <a:solidFill>
                  <a:srgbClr val="64748B"/>
                </a:solidFill>
                <a:latin typeface="Segoe UI"/>
              </a:defRPr>
            </a:pPr>
            <a:r>
              <a:t>→</a:t>
            </a:r>
          </a:p>
        </p:txBody>
      </p:sp>
      <p:sp>
        <p:nvSpPr>
          <p:cNvPr id="34" name="Rounded Rectangle 33"/>
          <p:cNvSpPr/>
          <p:nvPr/>
        </p:nvSpPr>
        <p:spPr>
          <a:xfrm>
            <a:off x="4297680" y="4114800"/>
            <a:ext cx="1508760" cy="347472"/>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F59E0B"/>
                </a:solidFill>
                <a:latin typeface="Segoe UI"/>
              </a:defRPr>
            </a:pPr>
            <a:r>
              <a:t>Legal Knowledge</a:t>
            </a:r>
          </a:p>
        </p:txBody>
      </p:sp>
      <p:sp>
        <p:nvSpPr>
          <p:cNvPr id="35" name="TextBox 34"/>
          <p:cNvSpPr txBox="1"/>
          <p:nvPr/>
        </p:nvSpPr>
        <p:spPr>
          <a:xfrm>
            <a:off x="5806440" y="4114800"/>
            <a:ext cx="182880" cy="347472"/>
          </a:xfrm>
          <a:prstGeom prst="rect">
            <a:avLst/>
          </a:prstGeom>
          <a:noFill/>
        </p:spPr>
        <p:txBody>
          <a:bodyPr wrap="none">
            <a:spAutoFit/>
          </a:bodyPr>
          <a:lstStyle/>
          <a:p>
            <a:pPr algn="ctr">
              <a:spcBef>
                <a:spcPts val="200"/>
              </a:spcBef>
              <a:defRPr sz="1200">
                <a:solidFill>
                  <a:srgbClr val="64748B"/>
                </a:solidFill>
                <a:latin typeface="Segoe UI"/>
              </a:defRPr>
            </a:pPr>
            <a:r>
              <a:t>→</a:t>
            </a:r>
          </a:p>
        </p:txBody>
      </p:sp>
      <p:sp>
        <p:nvSpPr>
          <p:cNvPr id="36" name="Rounded Rectangle 35"/>
          <p:cNvSpPr/>
          <p:nvPr/>
        </p:nvSpPr>
        <p:spPr>
          <a:xfrm>
            <a:off x="5989320" y="4114800"/>
            <a:ext cx="1508760" cy="347472"/>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10B981"/>
                </a:solidFill>
                <a:latin typeface="Segoe UI"/>
              </a:defRPr>
            </a:pPr>
            <a:r>
              <a:t>Verified Answer</a:t>
            </a:r>
          </a:p>
        </p:txBody>
      </p:sp>
      <p:sp>
        <p:nvSpPr>
          <p:cNvPr id="37" name="TextBox 36"/>
          <p:cNvSpPr txBox="1"/>
          <p:nvPr/>
        </p:nvSpPr>
        <p:spPr>
          <a:xfrm>
            <a:off x="7498080" y="4114800"/>
            <a:ext cx="182880" cy="347472"/>
          </a:xfrm>
          <a:prstGeom prst="rect">
            <a:avLst/>
          </a:prstGeom>
          <a:noFill/>
        </p:spPr>
        <p:txBody>
          <a:bodyPr wrap="none">
            <a:spAutoFit/>
          </a:bodyPr>
          <a:lstStyle/>
          <a:p>
            <a:pPr algn="ctr">
              <a:spcBef>
                <a:spcPts val="200"/>
              </a:spcBef>
              <a:defRPr sz="1200">
                <a:solidFill>
                  <a:srgbClr val="64748B"/>
                </a:solidFill>
                <a:latin typeface="Segoe UI"/>
              </a:defRPr>
            </a:pPr>
            <a:r>
              <a:t>→</a:t>
            </a:r>
          </a:p>
        </p:txBody>
      </p:sp>
      <p:sp>
        <p:nvSpPr>
          <p:cNvPr id="38" name="Rounded Rectangle 37"/>
          <p:cNvSpPr/>
          <p:nvPr/>
        </p:nvSpPr>
        <p:spPr>
          <a:xfrm>
            <a:off x="7680960" y="4114800"/>
            <a:ext cx="1508760" cy="347472"/>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22D3EE"/>
                </a:solidFill>
                <a:latin typeface="Segoe UI"/>
              </a:defRPr>
            </a:pPr>
            <a:r>
              <a:t>Action</a:t>
            </a:r>
          </a:p>
        </p:txBody>
      </p:sp>
      <p:sp>
        <p:nvSpPr>
          <p:cNvPr id="39" name="TextBox 38"/>
          <p:cNvSpPr txBox="1"/>
          <p:nvPr/>
        </p:nvSpPr>
        <p:spPr>
          <a:xfrm>
            <a:off x="9189720" y="4114800"/>
            <a:ext cx="182880" cy="347472"/>
          </a:xfrm>
          <a:prstGeom prst="rect">
            <a:avLst/>
          </a:prstGeom>
          <a:noFill/>
        </p:spPr>
        <p:txBody>
          <a:bodyPr wrap="none">
            <a:spAutoFit/>
          </a:bodyPr>
          <a:lstStyle/>
          <a:p>
            <a:pPr algn="ctr">
              <a:spcBef>
                <a:spcPts val="200"/>
              </a:spcBef>
              <a:defRPr sz="1200">
                <a:solidFill>
                  <a:srgbClr val="64748B"/>
                </a:solidFill>
                <a:latin typeface="Segoe UI"/>
              </a:defRPr>
            </a:pPr>
            <a:r>
              <a:t>→</a:t>
            </a:r>
          </a:p>
        </p:txBody>
      </p:sp>
      <p:sp>
        <p:nvSpPr>
          <p:cNvPr id="40" name="Rounded Rectangle 39"/>
          <p:cNvSpPr/>
          <p:nvPr/>
        </p:nvSpPr>
        <p:spPr>
          <a:xfrm>
            <a:off x="9372600" y="4114800"/>
            <a:ext cx="1508760" cy="347472"/>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8B5CF6"/>
                </a:solidFill>
                <a:latin typeface="Segoe UI"/>
              </a:defRPr>
            </a:pPr>
            <a:r>
              <a:t>Collective Intelligence</a:t>
            </a:r>
          </a:p>
        </p:txBody>
      </p:sp>
      <p:sp>
        <p:nvSpPr>
          <p:cNvPr id="41" name="Rounded Rectangle 40"/>
          <p:cNvSpPr/>
          <p:nvPr/>
        </p:nvSpPr>
        <p:spPr>
          <a:xfrm>
            <a:off x="914400" y="4846320"/>
            <a:ext cx="10332720" cy="13716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r>
              <a:rPr sz="1000" b="1">
                <a:solidFill>
                  <a:srgbClr val="3B82F6"/>
                </a:solidFill>
                <a:latin typeface="Segoe UI"/>
              </a:rPr>
              <a:t>TEAM EXECUTION MEETING  •  </a:t>
            </a:r>
            <a:r>
              <a:rPr sz="1000">
                <a:solidFill>
                  <a:srgbClr val="94A3B8"/>
                </a:solidFill>
                <a:latin typeface="Segoe UI"/>
              </a:rPr>
              <a:t>This deck is your blueprint for how we build Legal Saathi as a 4-person engineering team.</a:t>
            </a:r>
          </a:p>
          <a:p>
            <a:pPr>
              <a:spcBef>
                <a:spcPts val="600"/>
              </a:spcBef>
              <a:defRPr sz="1100" b="1">
                <a:solidFill>
                  <a:srgbClr val="10B981"/>
                </a:solidFill>
                <a:latin typeface="Segoe UI"/>
              </a:defRPr>
            </a:pPr>
            <a:r>
              <a:t>Multilingual AI Legal Assistance  |  Grounded in Real Indian Law  |  Voice + Text  |  Privacy-First Collective 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700"/>
                                  <p:tgtEl>
                                    <p:spTgt spid="29"/>
                                  </p:tgtEl>
                                </p:cBhvr>
                              </p:animEffect>
                            </p:childTnLst>
                          </p:cTn>
                        </p:par>
                      </p:childTnLst>
                    </p:cTn>
                  </p:par>
                  <p:par>
                    <p:cTn id="6" fill="hold">
                      <p:stCondLst>
                        <p:cond delay="0"/>
                      </p:stCondLst>
                      <p:childTnLst>
                        <p:par>
                          <p:cTn id="7" presetID="10" presetClass="entr" presetSubtype="0" fill="hold" nodeType="withEffect">
                            <p:stCondLst>
                              <p:cond delay="400"/>
                            </p:stCondLst>
                            <p:childTnLst>
                              <p:animEffect transition="in" filter="fade">
                                <p:cBhvr>
                                  <p:cTn id="8" dur="600"/>
                                  <p:tgtEl>
                                    <p:spTgt spid="41"/>
                                  </p:tgtEl>
                                </p:cBhvr>
                              </p:animEffect>
                            </p:childTnLst>
                          </p:cTn>
                        </p:par>
                      </p:childTnLst>
                    </p:cTn>
                  </p:par>
                </p:childTnLst>
              </p:cTn>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PRODUCT DIFFERENTIATION</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We are not building another legal chatbot.</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02</a:t>
            </a:r>
          </a:p>
        </p:txBody>
      </p:sp>
      <p:sp>
        <p:nvSpPr>
          <p:cNvPr id="6" name="Rounded Rectangle 5"/>
          <p:cNvSpPr/>
          <p:nvPr/>
        </p:nvSpPr>
        <p:spPr>
          <a:xfrm>
            <a:off x="777240" y="1371600"/>
            <a:ext cx="4937760" cy="4206240"/>
          </a:xfrm>
          <a:prstGeom prst="roundRect">
            <a:avLst/>
          </a:prstGeom>
          <a:solidFill>
            <a:srgbClr val="1A0E14"/>
          </a:solidFill>
          <a:ln w="12700">
            <a:solidFill>
              <a:srgbClr val="4B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600200"/>
            <a:ext cx="2560320" cy="320040"/>
          </a:xfrm>
          <a:prstGeom prst="roundRect">
            <a:avLst/>
          </a:prstGeom>
          <a:solidFill>
            <a:srgbClr val="5C1D24"/>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50" b="1">
                <a:solidFill>
                  <a:srgbClr val="F43F5E"/>
                </a:solidFill>
                <a:latin typeface="Segoe UI"/>
              </a:defRPr>
            </a:pPr>
            <a:r>
              <a:t>GENERIC AI CHATBOT</a:t>
            </a:r>
          </a:p>
        </p:txBody>
      </p:sp>
      <p:sp>
        <p:nvSpPr>
          <p:cNvPr id="8" name="TextBox 7"/>
          <p:cNvSpPr txBox="1"/>
          <p:nvPr/>
        </p:nvSpPr>
        <p:spPr>
          <a:xfrm>
            <a:off x="1005840" y="2057400"/>
            <a:ext cx="4480560" cy="3291840"/>
          </a:xfrm>
          <a:prstGeom prst="rect">
            <a:avLst/>
          </a:prstGeom>
          <a:noFill/>
        </p:spPr>
        <p:txBody>
          <a:bodyPr wrap="square" lIns="0" tIns="0" rIns="0" bIns="0">
            <a:spAutoFit/>
          </a:bodyPr>
          <a:lstStyle/>
          <a:p>
            <a:pPr>
              <a:spcAft>
                <a:spcPts val="500"/>
              </a:spcAft>
            </a:pPr>
            <a:r>
              <a:rPr b="1" sz="1100">
                <a:solidFill>
                  <a:srgbClr val="F43F5E"/>
                </a:solidFill>
                <a:latin typeface="Segoe UI"/>
              </a:rPr>
              <a:t>✖  Generic answers  </a:t>
            </a:r>
            <a:r>
              <a:rPr sz="1050">
                <a:solidFill>
                  <a:srgbClr val="CBD5E1"/>
                </a:solidFill>
                <a:latin typeface="Segoe UI"/>
              </a:rPr>
              <a:t>from LLM internal training — no verifiable source.</a:t>
            </a:r>
          </a:p>
          <a:p>
            <a:pPr>
              <a:spcAft>
                <a:spcPts val="500"/>
              </a:spcAft>
            </a:pPr>
            <a:r>
              <a:rPr b="1" sz="1100">
                <a:solidFill>
                  <a:srgbClr val="F43F5E"/>
                </a:solidFill>
                <a:latin typeface="Segoe UI"/>
              </a:rPr>
              <a:t>✖  Zero citations  </a:t>
            </a:r>
            <a:r>
              <a:rPr sz="1050">
                <a:solidFill>
                  <a:srgbClr val="CBD5E1"/>
                </a:solidFill>
                <a:latin typeface="Segoe UI"/>
              </a:rPr>
              <a:t>a guess and a fact look identical to the user.</a:t>
            </a:r>
          </a:p>
          <a:p>
            <a:pPr>
              <a:spcAft>
                <a:spcPts val="500"/>
              </a:spcAft>
            </a:pPr>
            <a:r>
              <a:rPr b="1" sz="1100">
                <a:solidFill>
                  <a:srgbClr val="F43F5E"/>
                </a:solidFill>
                <a:latin typeface="Segoe UI"/>
              </a:rPr>
              <a:t>✖  Information dead-end  </a:t>
            </a:r>
            <a:r>
              <a:rPr sz="1050">
                <a:solidFill>
                  <a:srgbClr val="CBD5E1"/>
                </a:solidFill>
                <a:latin typeface="Segoe UI"/>
              </a:rPr>
              <a:t>conversation ends at text; no action pathway.</a:t>
            </a:r>
          </a:p>
          <a:p>
            <a:pPr>
              <a:spcAft>
                <a:spcPts val="500"/>
              </a:spcAft>
            </a:pPr>
            <a:r>
              <a:rPr b="1" sz="1100">
                <a:solidFill>
                  <a:srgbClr val="F43F5E"/>
                </a:solidFill>
                <a:latin typeface="Segoe UI"/>
              </a:rPr>
              <a:t>✖  No case memory  </a:t>
            </a:r>
            <a:r>
              <a:rPr sz="1050">
                <a:solidFill>
                  <a:srgbClr val="CBD5E1"/>
                </a:solidFill>
                <a:latin typeface="Segoe UI"/>
              </a:rPr>
              <a:t>every session is ephemeral, forgotten on reload.</a:t>
            </a:r>
          </a:p>
          <a:p>
            <a:pPr>
              <a:spcAft>
                <a:spcPts val="500"/>
              </a:spcAft>
            </a:pPr>
            <a:r>
              <a:rPr b="1" sz="1100">
                <a:solidFill>
                  <a:srgbClr val="F43F5E"/>
                </a:solidFill>
                <a:latin typeface="Segoe UI"/>
              </a:rPr>
              <a:t>✖  Users stay isolated  </a:t>
            </a:r>
            <a:r>
              <a:rPr sz="1050">
                <a:solidFill>
                  <a:srgbClr val="CBD5E1"/>
                </a:solidFill>
                <a:latin typeface="Segoe UI"/>
              </a:rPr>
              <a:t>community-wide legal patterns go undetected.</a:t>
            </a:r>
          </a:p>
          <a:p>
            <a:pPr>
              <a:spcAft>
                <a:spcPts val="500"/>
              </a:spcAft>
            </a:pPr>
            <a:r>
              <a:rPr b="1" sz="1100">
                <a:solidFill>
                  <a:srgbClr val="F43F5E"/>
                </a:solidFill>
                <a:latin typeface="Segoe UI"/>
              </a:rPr>
              <a:t>✖  English-only  </a:t>
            </a:r>
            <a:r>
              <a:rPr sz="1050">
                <a:solidFill>
                  <a:srgbClr val="CBD5E1"/>
                </a:solidFill>
                <a:latin typeface="Segoe UI"/>
              </a:rPr>
              <a:t>excludes 90%+ of Indian citizens who need help.</a:t>
            </a:r>
          </a:p>
        </p:txBody>
      </p:sp>
      <p:sp>
        <p:nvSpPr>
          <p:cNvPr id="9" name="Rounded Rectangle 8"/>
          <p:cNvSpPr/>
          <p:nvPr/>
        </p:nvSpPr>
        <p:spPr>
          <a:xfrm>
            <a:off x="6080760" y="1371600"/>
            <a:ext cx="5303520" cy="4206240"/>
          </a:xfrm>
          <a:prstGeom prst="roundRect">
            <a:avLst/>
          </a:prstGeom>
          <a:solidFill>
            <a:srgbClr val="1316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80760" y="1371600"/>
            <a:ext cx="530352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09360" y="1600200"/>
            <a:ext cx="182880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LEGAL SAATHI</a:t>
            </a:r>
          </a:p>
        </p:txBody>
      </p:sp>
      <p:sp>
        <p:nvSpPr>
          <p:cNvPr id="12" name="TextBox 11"/>
          <p:cNvSpPr txBox="1"/>
          <p:nvPr/>
        </p:nvSpPr>
        <p:spPr>
          <a:xfrm>
            <a:off x="6309360" y="2057400"/>
            <a:ext cx="4846320" cy="3291840"/>
          </a:xfrm>
          <a:prstGeom prst="rect">
            <a:avLst/>
          </a:prstGeom>
          <a:noFill/>
        </p:spPr>
        <p:txBody>
          <a:bodyPr wrap="square" lIns="0" tIns="0" rIns="0" bIns="0">
            <a:spAutoFit/>
          </a:bodyPr>
          <a:lstStyle/>
          <a:p>
            <a:pPr>
              <a:spcAft>
                <a:spcPts val="500"/>
              </a:spcAft>
            </a:pPr>
            <a:r>
              <a:rPr b="1" sz="1100">
                <a:solidFill>
                  <a:srgbClr val="10B981"/>
                </a:solidFill>
                <a:latin typeface="Segoe UI"/>
              </a:rPr>
              <a:t>✔  Hybrid Retrieval  </a:t>
            </a:r>
            <a:r>
              <a:rPr sz="1050">
                <a:solidFill>
                  <a:srgbClr val="FFFFFF"/>
                </a:solidFill>
                <a:latin typeface="Segoe UI"/>
              </a:rPr>
              <a:t>ChromaDB (vector) + BM25 (lexical) over real Acts &amp; Judgments.</a:t>
            </a:r>
          </a:p>
          <a:p>
            <a:pPr>
              <a:spcAft>
                <a:spcPts val="500"/>
              </a:spcAft>
            </a:pPr>
            <a:r>
              <a:rPr b="1" sz="1100">
                <a:solidFill>
                  <a:srgbClr val="10B981"/>
                </a:solidFill>
                <a:latin typeface="Segoe UI"/>
              </a:rPr>
              <a:t>✔  Claim-to-Source Citations  </a:t>
            </a:r>
            <a:r>
              <a:rPr sz="1050">
                <a:solidFill>
                  <a:srgbClr val="FFFFFF"/>
                </a:solidFill>
                <a:latin typeface="Segoe UI"/>
              </a:rPr>
              <a:t>every claim maps to an Act/Section + Confidence Badge.</a:t>
            </a:r>
          </a:p>
          <a:p>
            <a:pPr>
              <a:spcAft>
                <a:spcPts val="500"/>
              </a:spcAft>
            </a:pPr>
            <a:r>
              <a:rPr b="1" sz="1100">
                <a:solidFill>
                  <a:srgbClr val="10B981"/>
                </a:solidFill>
                <a:latin typeface="Segoe UI"/>
              </a:rPr>
              <a:t>✔  Action Modules  </a:t>
            </a:r>
            <a:r>
              <a:rPr sz="1050">
                <a:solidFill>
                  <a:srgbClr val="FFFFFF"/>
                </a:solidFill>
                <a:latin typeface="Segoe UI"/>
              </a:rPr>
              <a:t>Evidence Checklist, Legal Notice draft, RTI form generation.</a:t>
            </a:r>
          </a:p>
          <a:p>
            <a:pPr>
              <a:spcAft>
                <a:spcPts val="500"/>
              </a:spcAft>
            </a:pPr>
            <a:r>
              <a:rPr b="1" sz="1100">
                <a:solidFill>
                  <a:srgbClr val="10B981"/>
                </a:solidFill>
                <a:latin typeface="Segoe UI"/>
              </a:rPr>
              <a:t>✔  Structured Case Schema  </a:t>
            </a:r>
            <a:r>
              <a:rPr sz="1050">
                <a:solidFill>
                  <a:srgbClr val="FFFFFF"/>
                </a:solidFill>
                <a:latin typeface="Segoe UI"/>
              </a:rPr>
              <a:t>persisted entities, dates, amounts, opposing party.</a:t>
            </a:r>
          </a:p>
          <a:p>
            <a:pPr>
              <a:spcAft>
                <a:spcPts val="500"/>
              </a:spcAft>
            </a:pPr>
            <a:r>
              <a:rPr b="1" sz="1100">
                <a:solidFill>
                  <a:srgbClr val="10B981"/>
                </a:solidFill>
                <a:latin typeface="Segoe UI"/>
              </a:rPr>
              <a:t>✔  Legal Saathi Engine  </a:t>
            </a:r>
            <a:r>
              <a:rPr sz="1050">
                <a:solidFill>
                  <a:srgbClr val="FFFFFF"/>
                </a:solidFill>
                <a:latin typeface="Segoe UI"/>
              </a:rPr>
              <a:t>privacy-first pattern detection + collective action.</a:t>
            </a:r>
          </a:p>
          <a:p>
            <a:pPr>
              <a:spcAft>
                <a:spcPts val="500"/>
              </a:spcAft>
            </a:pPr>
            <a:r>
              <a:rPr b="1" sz="1100">
                <a:solidFill>
                  <a:srgbClr val="10B981"/>
                </a:solidFill>
                <a:latin typeface="Segoe UI"/>
              </a:rPr>
              <a:t>✔  Voice-First &amp; Multilingual  </a:t>
            </a:r>
            <a:r>
              <a:rPr sz="1050">
                <a:solidFill>
                  <a:srgbClr val="FFFFFF"/>
                </a:solidFill>
                <a:latin typeface="Segoe UI"/>
              </a:rPr>
              <a:t>Hindi/Tamil/English voice round-trip for real citizens.</a:t>
            </a:r>
          </a:p>
        </p:txBody>
      </p:sp>
      <p:sp>
        <p:nvSpPr>
          <p:cNvPr id="13" name="Rounded Rectangle 12"/>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59E0B"/>
                </a:solidFill>
                <a:latin typeface="Segoe UI"/>
              </a:rPr>
              <a:t>The LLM is NEVER the source of truth — it synthesizes retrieved legal evidence.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500"/>
                                  <p:tgtEl>
                                    <p:spTgt spid="6"/>
                                  </p:tgtEl>
                                </p:cBhvr>
                              </p:animEffect>
                            </p:childTnLst>
                          </p:cTn>
                        </p:par>
                      </p:childTnLst>
                    </p:cTn>
                  </p:par>
                  <p:par>
                    <p:cTn id="6" fill="hold">
                      <p:stCondLst>
                        <p:cond delay="0"/>
                      </p:stCondLst>
                      <p:childTnLst>
                        <p:par>
                          <p:cTn id="7" presetID="10" presetClass="entr" presetSubtype="0" fill="hold" nodeType="withEffect">
                            <p:stCondLst>
                              <p:cond delay="300"/>
                            </p:stCondLst>
                            <p:childTnLst>
                              <p:animEffect transition="in" filter="fade">
                                <p:cBhvr>
                                  <p:cTn id="8" dur="500"/>
                                  <p:tgtEl>
                                    <p:spTgt spid="9"/>
                                  </p:tgtEl>
                                </p:cBhvr>
                              </p:animEffect>
                            </p:childTnLst>
                          </p:cTn>
                        </p:par>
                      </p:childTnLst>
                    </p:cTn>
                  </p:par>
                </p:childTn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USER EXPERIENCE</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ASK → UNDERSTAND → VERIFY → EXPLAIN → ACT → UNITE</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03</a:t>
            </a:r>
          </a:p>
        </p:txBody>
      </p:sp>
      <p:sp>
        <p:nvSpPr>
          <p:cNvPr id="6" name="Rounded Rectangle 5"/>
          <p:cNvSpPr/>
          <p:nvPr/>
        </p:nvSpPr>
        <p:spPr>
          <a:xfrm>
            <a:off x="777240" y="1417320"/>
            <a:ext cx="155448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155448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34440" y="1645920"/>
            <a:ext cx="594360" cy="59436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01</a:t>
            </a:r>
          </a:p>
        </p:txBody>
      </p:sp>
      <p:sp>
        <p:nvSpPr>
          <p:cNvPr id="9" name="TextBox 8"/>
          <p:cNvSpPr txBox="1"/>
          <p:nvPr/>
        </p:nvSpPr>
        <p:spPr>
          <a:xfrm>
            <a:off x="822960" y="2377440"/>
            <a:ext cx="1463040" cy="320040"/>
          </a:xfrm>
          <a:prstGeom prst="rect">
            <a:avLst/>
          </a:prstGeom>
          <a:noFill/>
        </p:spPr>
        <p:txBody>
          <a:bodyPr wrap="none">
            <a:spAutoFit/>
          </a:bodyPr>
          <a:lstStyle/>
          <a:p>
            <a:pPr algn="ctr">
              <a:defRPr sz="1400" b="1">
                <a:solidFill>
                  <a:srgbClr val="22D3EE"/>
                </a:solidFill>
                <a:latin typeface="Segoe UI"/>
              </a:defRPr>
            </a:pPr>
            <a:r>
              <a:t>ASK</a:t>
            </a:r>
          </a:p>
        </p:txBody>
      </p:sp>
      <p:sp>
        <p:nvSpPr>
          <p:cNvPr id="10" name="TextBox 9"/>
          <p:cNvSpPr txBox="1"/>
          <p:nvPr/>
        </p:nvSpPr>
        <p:spPr>
          <a:xfrm>
            <a:off x="850392" y="2834640"/>
            <a:ext cx="1408176" cy="2286000"/>
          </a:xfrm>
          <a:prstGeom prst="rect">
            <a:avLst/>
          </a:prstGeom>
          <a:noFill/>
        </p:spPr>
        <p:txBody>
          <a:bodyPr wrap="square">
            <a:spAutoFit/>
          </a:bodyPr>
          <a:lstStyle/>
          <a:p>
            <a:pPr algn="ctr">
              <a:spcAft>
                <a:spcPts val="400"/>
              </a:spcAft>
              <a:defRPr sz="1050">
                <a:solidFill>
                  <a:srgbClr val="CBD5E1"/>
                </a:solidFill>
                <a:latin typeface="Segoe UI"/>
              </a:defRPr>
            </a:pPr>
            <a:r>
              <a:t>Voice / Text</a:t>
            </a:r>
          </a:p>
          <a:p>
            <a:pPr algn="ctr">
              <a:spcAft>
                <a:spcPts val="400"/>
              </a:spcAft>
              <a:defRPr sz="1050">
                <a:solidFill>
                  <a:srgbClr val="CBD5E1"/>
                </a:solidFill>
                <a:latin typeface="Segoe UI"/>
              </a:defRPr>
            </a:pPr>
            <a:r>
              <a:t>Regional Language</a:t>
            </a:r>
          </a:p>
        </p:txBody>
      </p:sp>
      <p:sp>
        <p:nvSpPr>
          <p:cNvPr id="11" name="TextBox 10"/>
          <p:cNvSpPr txBox="1"/>
          <p:nvPr/>
        </p:nvSpPr>
        <p:spPr>
          <a:xfrm>
            <a:off x="2331720" y="1828800"/>
            <a:ext cx="183948019200" cy="274320"/>
          </a:xfrm>
          <a:prstGeom prst="rect">
            <a:avLst/>
          </a:prstGeom>
          <a:noFill/>
        </p:spPr>
        <p:txBody>
          <a:bodyPr wrap="none">
            <a:spAutoFit/>
          </a:bodyPr>
          <a:lstStyle/>
          <a:p>
            <a:pPr algn="ctr">
              <a:defRPr sz="1400">
                <a:solidFill>
                  <a:srgbClr val="64748B"/>
                </a:solidFill>
                <a:latin typeface="Segoe UI"/>
              </a:defRPr>
            </a:pPr>
            <a:r>
              <a:t>→</a:t>
            </a:r>
          </a:p>
        </p:txBody>
      </p:sp>
      <p:sp>
        <p:nvSpPr>
          <p:cNvPr id="12" name="Rounded Rectangle 11"/>
          <p:cNvSpPr/>
          <p:nvPr/>
        </p:nvSpPr>
        <p:spPr>
          <a:xfrm>
            <a:off x="2532888" y="1417320"/>
            <a:ext cx="155448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32888" y="1417320"/>
            <a:ext cx="155448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0088" y="164592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02</a:t>
            </a:r>
          </a:p>
        </p:txBody>
      </p:sp>
      <p:sp>
        <p:nvSpPr>
          <p:cNvPr id="15" name="TextBox 14"/>
          <p:cNvSpPr txBox="1"/>
          <p:nvPr/>
        </p:nvSpPr>
        <p:spPr>
          <a:xfrm>
            <a:off x="2578608" y="2377440"/>
            <a:ext cx="1463040" cy="320040"/>
          </a:xfrm>
          <a:prstGeom prst="rect">
            <a:avLst/>
          </a:prstGeom>
          <a:noFill/>
        </p:spPr>
        <p:txBody>
          <a:bodyPr wrap="none">
            <a:spAutoFit/>
          </a:bodyPr>
          <a:lstStyle/>
          <a:p>
            <a:pPr algn="ctr">
              <a:defRPr sz="1400" b="1">
                <a:solidFill>
                  <a:srgbClr val="10B981"/>
                </a:solidFill>
                <a:latin typeface="Segoe UI"/>
              </a:defRPr>
            </a:pPr>
            <a:r>
              <a:t>UNDERSTAND</a:t>
            </a:r>
          </a:p>
        </p:txBody>
      </p:sp>
      <p:sp>
        <p:nvSpPr>
          <p:cNvPr id="16" name="TextBox 15"/>
          <p:cNvSpPr txBox="1"/>
          <p:nvPr/>
        </p:nvSpPr>
        <p:spPr>
          <a:xfrm>
            <a:off x="2606040" y="2834640"/>
            <a:ext cx="1408176" cy="2286000"/>
          </a:xfrm>
          <a:prstGeom prst="rect">
            <a:avLst/>
          </a:prstGeom>
          <a:noFill/>
        </p:spPr>
        <p:txBody>
          <a:bodyPr wrap="square">
            <a:spAutoFit/>
          </a:bodyPr>
          <a:lstStyle/>
          <a:p>
            <a:pPr algn="ctr">
              <a:spcAft>
                <a:spcPts val="400"/>
              </a:spcAft>
              <a:defRPr sz="1050">
                <a:solidFill>
                  <a:srgbClr val="CBD5E1"/>
                </a:solidFill>
                <a:latin typeface="Segoe UI"/>
              </a:defRPr>
            </a:pPr>
            <a:r>
              <a:t>Intent Classifier</a:t>
            </a:r>
          </a:p>
          <a:p>
            <a:pPr algn="ctr">
              <a:spcAft>
                <a:spcPts val="400"/>
              </a:spcAft>
              <a:defRPr sz="1050">
                <a:solidFill>
                  <a:srgbClr val="CBD5E1"/>
                </a:solidFill>
                <a:latin typeface="Segoe UI"/>
              </a:defRPr>
            </a:pPr>
            <a:r>
              <a:t>+ Entity Extraction</a:t>
            </a:r>
          </a:p>
        </p:txBody>
      </p:sp>
      <p:sp>
        <p:nvSpPr>
          <p:cNvPr id="17" name="TextBox 16"/>
          <p:cNvSpPr txBox="1"/>
          <p:nvPr/>
        </p:nvSpPr>
        <p:spPr>
          <a:xfrm>
            <a:off x="4087368" y="1828800"/>
            <a:ext cx="183948019200" cy="274320"/>
          </a:xfrm>
          <a:prstGeom prst="rect">
            <a:avLst/>
          </a:prstGeom>
          <a:noFill/>
        </p:spPr>
        <p:txBody>
          <a:bodyPr wrap="none">
            <a:spAutoFit/>
          </a:bodyPr>
          <a:lstStyle/>
          <a:p>
            <a:pPr algn="ctr">
              <a:defRPr sz="1400">
                <a:solidFill>
                  <a:srgbClr val="64748B"/>
                </a:solidFill>
                <a:latin typeface="Segoe UI"/>
              </a:defRPr>
            </a:pPr>
            <a:r>
              <a:t>→</a:t>
            </a:r>
          </a:p>
        </p:txBody>
      </p:sp>
      <p:sp>
        <p:nvSpPr>
          <p:cNvPr id="18" name="Rounded Rectangle 17"/>
          <p:cNvSpPr/>
          <p:nvPr/>
        </p:nvSpPr>
        <p:spPr>
          <a:xfrm>
            <a:off x="4288536" y="1417320"/>
            <a:ext cx="155448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88536" y="1417320"/>
            <a:ext cx="155448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45736" y="1645920"/>
            <a:ext cx="594360" cy="5943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03</a:t>
            </a:r>
          </a:p>
        </p:txBody>
      </p:sp>
      <p:sp>
        <p:nvSpPr>
          <p:cNvPr id="21" name="TextBox 20"/>
          <p:cNvSpPr txBox="1"/>
          <p:nvPr/>
        </p:nvSpPr>
        <p:spPr>
          <a:xfrm>
            <a:off x="4334256" y="2377440"/>
            <a:ext cx="1463040" cy="320040"/>
          </a:xfrm>
          <a:prstGeom prst="rect">
            <a:avLst/>
          </a:prstGeom>
          <a:noFill/>
        </p:spPr>
        <p:txBody>
          <a:bodyPr wrap="none">
            <a:spAutoFit/>
          </a:bodyPr>
          <a:lstStyle/>
          <a:p>
            <a:pPr algn="ctr">
              <a:defRPr sz="1400" b="1">
                <a:solidFill>
                  <a:srgbClr val="F59E0B"/>
                </a:solidFill>
                <a:latin typeface="Segoe UI"/>
              </a:defRPr>
            </a:pPr>
            <a:r>
              <a:t>VERIFY</a:t>
            </a:r>
          </a:p>
        </p:txBody>
      </p:sp>
      <p:sp>
        <p:nvSpPr>
          <p:cNvPr id="22" name="TextBox 21"/>
          <p:cNvSpPr txBox="1"/>
          <p:nvPr/>
        </p:nvSpPr>
        <p:spPr>
          <a:xfrm>
            <a:off x="4361688" y="2834640"/>
            <a:ext cx="1408176" cy="2286000"/>
          </a:xfrm>
          <a:prstGeom prst="rect">
            <a:avLst/>
          </a:prstGeom>
          <a:noFill/>
        </p:spPr>
        <p:txBody>
          <a:bodyPr wrap="square">
            <a:spAutoFit/>
          </a:bodyPr>
          <a:lstStyle/>
          <a:p>
            <a:pPr algn="ctr">
              <a:spcAft>
                <a:spcPts val="400"/>
              </a:spcAft>
              <a:defRPr sz="1050">
                <a:solidFill>
                  <a:srgbClr val="CBD5E1"/>
                </a:solidFill>
                <a:latin typeface="Segoe UI"/>
              </a:defRPr>
            </a:pPr>
            <a:r>
              <a:t>ChromaDB + BM25</a:t>
            </a:r>
          </a:p>
          <a:p>
            <a:pPr algn="ctr">
              <a:spcAft>
                <a:spcPts val="400"/>
              </a:spcAft>
              <a:defRPr sz="1050">
                <a:solidFill>
                  <a:srgbClr val="CBD5E1"/>
                </a:solidFill>
                <a:latin typeface="Segoe UI"/>
              </a:defRPr>
            </a:pPr>
            <a:r>
              <a:t>Hybrid Legal Search</a:t>
            </a:r>
          </a:p>
        </p:txBody>
      </p:sp>
      <p:sp>
        <p:nvSpPr>
          <p:cNvPr id="23" name="TextBox 22"/>
          <p:cNvSpPr txBox="1"/>
          <p:nvPr/>
        </p:nvSpPr>
        <p:spPr>
          <a:xfrm>
            <a:off x="5843016" y="1828800"/>
            <a:ext cx="183948019200" cy="274320"/>
          </a:xfrm>
          <a:prstGeom prst="rect">
            <a:avLst/>
          </a:prstGeom>
          <a:noFill/>
        </p:spPr>
        <p:txBody>
          <a:bodyPr wrap="none">
            <a:spAutoFit/>
          </a:bodyPr>
          <a:lstStyle/>
          <a:p>
            <a:pPr algn="ctr">
              <a:defRPr sz="1400">
                <a:solidFill>
                  <a:srgbClr val="64748B"/>
                </a:solidFill>
                <a:latin typeface="Segoe UI"/>
              </a:defRPr>
            </a:pPr>
            <a:r>
              <a:t>→</a:t>
            </a:r>
          </a:p>
        </p:txBody>
      </p:sp>
      <p:sp>
        <p:nvSpPr>
          <p:cNvPr id="24" name="Rounded Rectangle 23"/>
          <p:cNvSpPr/>
          <p:nvPr/>
        </p:nvSpPr>
        <p:spPr>
          <a:xfrm>
            <a:off x="6044184" y="1417320"/>
            <a:ext cx="155448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44184" y="1417320"/>
            <a:ext cx="155448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01384" y="164592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04</a:t>
            </a:r>
          </a:p>
        </p:txBody>
      </p:sp>
      <p:sp>
        <p:nvSpPr>
          <p:cNvPr id="27" name="TextBox 26"/>
          <p:cNvSpPr txBox="1"/>
          <p:nvPr/>
        </p:nvSpPr>
        <p:spPr>
          <a:xfrm>
            <a:off x="6089904" y="2377440"/>
            <a:ext cx="1463040" cy="320040"/>
          </a:xfrm>
          <a:prstGeom prst="rect">
            <a:avLst/>
          </a:prstGeom>
          <a:noFill/>
        </p:spPr>
        <p:txBody>
          <a:bodyPr wrap="none">
            <a:spAutoFit/>
          </a:bodyPr>
          <a:lstStyle/>
          <a:p>
            <a:pPr algn="ctr">
              <a:defRPr sz="1400" b="1">
                <a:solidFill>
                  <a:srgbClr val="10B981"/>
                </a:solidFill>
                <a:latin typeface="Segoe UI"/>
              </a:defRPr>
            </a:pPr>
            <a:r>
              <a:t>EXPLAIN</a:t>
            </a:r>
          </a:p>
        </p:txBody>
      </p:sp>
      <p:sp>
        <p:nvSpPr>
          <p:cNvPr id="28" name="TextBox 27"/>
          <p:cNvSpPr txBox="1"/>
          <p:nvPr/>
        </p:nvSpPr>
        <p:spPr>
          <a:xfrm>
            <a:off x="6117336" y="2834640"/>
            <a:ext cx="1408176" cy="2286000"/>
          </a:xfrm>
          <a:prstGeom prst="rect">
            <a:avLst/>
          </a:prstGeom>
          <a:noFill/>
        </p:spPr>
        <p:txBody>
          <a:bodyPr wrap="square">
            <a:spAutoFit/>
          </a:bodyPr>
          <a:lstStyle/>
          <a:p>
            <a:pPr algn="ctr">
              <a:spcAft>
                <a:spcPts val="400"/>
              </a:spcAft>
              <a:defRPr sz="1050">
                <a:solidFill>
                  <a:srgbClr val="CBD5E1"/>
                </a:solidFill>
                <a:latin typeface="Segoe UI"/>
              </a:defRPr>
            </a:pPr>
            <a:r>
              <a:t>Grounded Answer</a:t>
            </a:r>
          </a:p>
          <a:p>
            <a:pPr algn="ctr">
              <a:spcAft>
                <a:spcPts val="400"/>
              </a:spcAft>
              <a:defRPr sz="1050">
                <a:solidFill>
                  <a:srgbClr val="CBD5E1"/>
                </a:solidFill>
                <a:latin typeface="Segoe UI"/>
              </a:defRPr>
            </a:pPr>
            <a:r>
              <a:t>+ Citation + Badge</a:t>
            </a:r>
          </a:p>
        </p:txBody>
      </p:sp>
      <p:sp>
        <p:nvSpPr>
          <p:cNvPr id="29" name="TextBox 28"/>
          <p:cNvSpPr txBox="1"/>
          <p:nvPr/>
        </p:nvSpPr>
        <p:spPr>
          <a:xfrm>
            <a:off x="7598664" y="1828800"/>
            <a:ext cx="183948019200" cy="274320"/>
          </a:xfrm>
          <a:prstGeom prst="rect">
            <a:avLst/>
          </a:prstGeom>
          <a:noFill/>
        </p:spPr>
        <p:txBody>
          <a:bodyPr wrap="none">
            <a:spAutoFit/>
          </a:bodyPr>
          <a:lstStyle/>
          <a:p>
            <a:pPr algn="ctr">
              <a:defRPr sz="1400">
                <a:solidFill>
                  <a:srgbClr val="64748B"/>
                </a:solidFill>
                <a:latin typeface="Segoe UI"/>
              </a:defRPr>
            </a:pPr>
            <a:r>
              <a:t>→</a:t>
            </a:r>
          </a:p>
        </p:txBody>
      </p:sp>
      <p:sp>
        <p:nvSpPr>
          <p:cNvPr id="30" name="Rounded Rectangle 29"/>
          <p:cNvSpPr/>
          <p:nvPr/>
        </p:nvSpPr>
        <p:spPr>
          <a:xfrm>
            <a:off x="7799832" y="1417320"/>
            <a:ext cx="155448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99832" y="1417320"/>
            <a:ext cx="155448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57032" y="1645920"/>
            <a:ext cx="594360" cy="59436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05</a:t>
            </a:r>
          </a:p>
        </p:txBody>
      </p:sp>
      <p:sp>
        <p:nvSpPr>
          <p:cNvPr id="33" name="TextBox 32"/>
          <p:cNvSpPr txBox="1"/>
          <p:nvPr/>
        </p:nvSpPr>
        <p:spPr>
          <a:xfrm>
            <a:off x="7845552" y="2377440"/>
            <a:ext cx="1463040" cy="320040"/>
          </a:xfrm>
          <a:prstGeom prst="rect">
            <a:avLst/>
          </a:prstGeom>
          <a:noFill/>
        </p:spPr>
        <p:txBody>
          <a:bodyPr wrap="none">
            <a:spAutoFit/>
          </a:bodyPr>
          <a:lstStyle/>
          <a:p>
            <a:pPr algn="ctr">
              <a:defRPr sz="1400" b="1">
                <a:solidFill>
                  <a:srgbClr val="22D3EE"/>
                </a:solidFill>
                <a:latin typeface="Segoe UI"/>
              </a:defRPr>
            </a:pPr>
            <a:r>
              <a:t>ACT</a:t>
            </a:r>
          </a:p>
        </p:txBody>
      </p:sp>
      <p:sp>
        <p:nvSpPr>
          <p:cNvPr id="34" name="TextBox 33"/>
          <p:cNvSpPr txBox="1"/>
          <p:nvPr/>
        </p:nvSpPr>
        <p:spPr>
          <a:xfrm>
            <a:off x="7872984" y="2834640"/>
            <a:ext cx="1408176" cy="2286000"/>
          </a:xfrm>
          <a:prstGeom prst="rect">
            <a:avLst/>
          </a:prstGeom>
          <a:noFill/>
        </p:spPr>
        <p:txBody>
          <a:bodyPr wrap="square">
            <a:spAutoFit/>
          </a:bodyPr>
          <a:lstStyle/>
          <a:p>
            <a:pPr algn="ctr">
              <a:spcAft>
                <a:spcPts val="400"/>
              </a:spcAft>
              <a:defRPr sz="1050">
                <a:solidFill>
                  <a:srgbClr val="CBD5E1"/>
                </a:solidFill>
                <a:latin typeface="Segoe UI"/>
              </a:defRPr>
            </a:pPr>
            <a:r>
              <a:t>Evidence Checklist</a:t>
            </a:r>
          </a:p>
          <a:p>
            <a:pPr algn="ctr">
              <a:spcAft>
                <a:spcPts val="400"/>
              </a:spcAft>
              <a:defRPr sz="1050">
                <a:solidFill>
                  <a:srgbClr val="CBD5E1"/>
                </a:solidFill>
                <a:latin typeface="Segoe UI"/>
              </a:defRPr>
            </a:pPr>
            <a:r>
              <a:t>Legal Notice / RTI</a:t>
            </a:r>
          </a:p>
        </p:txBody>
      </p:sp>
      <p:sp>
        <p:nvSpPr>
          <p:cNvPr id="35" name="TextBox 34"/>
          <p:cNvSpPr txBox="1"/>
          <p:nvPr/>
        </p:nvSpPr>
        <p:spPr>
          <a:xfrm>
            <a:off x="9354312" y="1828800"/>
            <a:ext cx="183948019200" cy="274320"/>
          </a:xfrm>
          <a:prstGeom prst="rect">
            <a:avLst/>
          </a:prstGeom>
          <a:noFill/>
        </p:spPr>
        <p:txBody>
          <a:bodyPr wrap="none">
            <a:spAutoFit/>
          </a:bodyPr>
          <a:lstStyle/>
          <a:p>
            <a:pPr algn="ctr">
              <a:defRPr sz="1400">
                <a:solidFill>
                  <a:srgbClr val="64748B"/>
                </a:solidFill>
                <a:latin typeface="Segoe UI"/>
              </a:defRPr>
            </a:pPr>
            <a:r>
              <a:t>→</a:t>
            </a:r>
          </a:p>
        </p:txBody>
      </p:sp>
      <p:sp>
        <p:nvSpPr>
          <p:cNvPr id="36" name="Rounded Rectangle 35"/>
          <p:cNvSpPr/>
          <p:nvPr/>
        </p:nvSpPr>
        <p:spPr>
          <a:xfrm>
            <a:off x="9555480" y="1417320"/>
            <a:ext cx="1554480" cy="4114800"/>
          </a:xfrm>
          <a:prstGeom prst="roundRect">
            <a:avLst/>
          </a:prstGeom>
          <a:solidFill>
            <a:srgbClr val="131635"/>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55480" y="1417320"/>
            <a:ext cx="155448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012680" y="1645920"/>
            <a:ext cx="594360" cy="59436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06</a:t>
            </a:r>
          </a:p>
        </p:txBody>
      </p:sp>
      <p:sp>
        <p:nvSpPr>
          <p:cNvPr id="39" name="TextBox 38"/>
          <p:cNvSpPr txBox="1"/>
          <p:nvPr/>
        </p:nvSpPr>
        <p:spPr>
          <a:xfrm>
            <a:off x="9601200" y="2377440"/>
            <a:ext cx="1463040" cy="320040"/>
          </a:xfrm>
          <a:prstGeom prst="rect">
            <a:avLst/>
          </a:prstGeom>
          <a:noFill/>
        </p:spPr>
        <p:txBody>
          <a:bodyPr wrap="none">
            <a:spAutoFit/>
          </a:bodyPr>
          <a:lstStyle/>
          <a:p>
            <a:pPr algn="ctr">
              <a:defRPr sz="1400" b="1">
                <a:solidFill>
                  <a:srgbClr val="8B5CF6"/>
                </a:solidFill>
                <a:latin typeface="Segoe UI"/>
              </a:defRPr>
            </a:pPr>
            <a:r>
              <a:t>UNITE</a:t>
            </a:r>
          </a:p>
        </p:txBody>
      </p:sp>
      <p:sp>
        <p:nvSpPr>
          <p:cNvPr id="40" name="TextBox 39"/>
          <p:cNvSpPr txBox="1"/>
          <p:nvPr/>
        </p:nvSpPr>
        <p:spPr>
          <a:xfrm>
            <a:off x="9628632" y="2834640"/>
            <a:ext cx="1408176" cy="2286000"/>
          </a:xfrm>
          <a:prstGeom prst="rect">
            <a:avLst/>
          </a:prstGeom>
          <a:noFill/>
        </p:spPr>
        <p:txBody>
          <a:bodyPr wrap="square">
            <a:spAutoFit/>
          </a:bodyPr>
          <a:lstStyle/>
          <a:p>
            <a:pPr algn="ctr">
              <a:spcAft>
                <a:spcPts val="400"/>
              </a:spcAft>
              <a:defRPr sz="1050">
                <a:solidFill>
                  <a:srgbClr val="CBD5E1"/>
                </a:solidFill>
                <a:latin typeface="Segoe UI"/>
              </a:defRPr>
            </a:pPr>
            <a:r>
              <a:t>Similarity → Pattern</a:t>
            </a:r>
          </a:p>
          <a:p>
            <a:pPr algn="ctr">
              <a:spcAft>
                <a:spcPts val="400"/>
              </a:spcAft>
              <a:defRPr sz="1050">
                <a:solidFill>
                  <a:srgbClr val="CBD5E1"/>
                </a:solidFill>
                <a:latin typeface="Segoe UI"/>
              </a:defRPr>
            </a:pPr>
            <a:r>
              <a:t>Consent → Collective</a:t>
            </a:r>
          </a:p>
          <a:p>
            <a:pPr algn="ctr">
              <a:spcBef>
                <a:spcPts val="1400"/>
              </a:spcBef>
              <a:defRPr sz="950" b="1">
                <a:solidFill>
                  <a:srgbClr val="8B5CF6"/>
                </a:solidFill>
              </a:defRPr>
            </a:pPr>
            <a:r>
              <a:t>★ Core Differentiator</a:t>
            </a:r>
          </a:p>
        </p:txBody>
      </p:sp>
      <p:sp>
        <p:nvSpPr>
          <p:cNvPr id="41" name="Rounded Rectangle 40"/>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94A3B8"/>
                </a:solidFill>
                <a:latin typeface="Segoe UI"/>
              </a:rPr>
              <a:t>PRINCIPLES:  Trust  ·  Evidence  ·  Transparency  ·  Action  ·  Multilingual Accessibility  ·  Privacy  ·  Modularity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400"/>
                                  <p:tgtEl>
                                    <p:spTgt spid="6"/>
                                  </p:tgtEl>
                                </p:cBhvr>
                              </p:animEffect>
                            </p:childTnLst>
                          </p:cTn>
                        </p:par>
                      </p:childTnLst>
                    </p:cTn>
                  </p:par>
                  <p:par>
                    <p:cTn id="6" fill="hold">
                      <p:stCondLst>
                        <p:cond delay="0"/>
                      </p:stCondLst>
                      <p:childTnLst>
                        <p:par>
                          <p:cTn id="7" presetID="10" presetClass="entr" presetSubtype="0" fill="hold" nodeType="withEffect">
                            <p:stCondLst>
                              <p:cond delay="150"/>
                            </p:stCondLst>
                            <p:childTnLst>
                              <p:animEffect transition="in" filter="fade">
                                <p:cBhvr>
                                  <p:cTn id="8" dur="400"/>
                                  <p:tgtEl>
                                    <p:spTgt spid="12"/>
                                  </p:tgtEl>
                                </p:cBhvr>
                              </p:animEffect>
                            </p:childTnLst>
                          </p:cTn>
                        </p:par>
                      </p:childTnLst>
                    </p:cTn>
                  </p:par>
                  <p:par>
                    <p:cTn id="9" fill="hold">
                      <p:stCondLst>
                        <p:cond delay="0"/>
                      </p:stCondLst>
                      <p:childTnLst>
                        <p:par>
                          <p:cTn id="10" presetID="10" presetClass="entr" presetSubtype="0" fill="hold" nodeType="withEffect">
                            <p:stCondLst>
                              <p:cond delay="300"/>
                            </p:stCondLst>
                            <p:childTnLst>
                              <p:animEffect transition="in" filter="fade">
                                <p:cBhvr>
                                  <p:cTn id="11" dur="400"/>
                                  <p:tgtEl>
                                    <p:spTgt spid="18"/>
                                  </p:tgtEl>
                                </p:cBhvr>
                              </p:animEffect>
                            </p:childTnLst>
                          </p:cTn>
                        </p:par>
                      </p:childTnLst>
                    </p:cTn>
                  </p:par>
                  <p:par>
                    <p:cTn id="12" fill="hold">
                      <p:stCondLst>
                        <p:cond delay="0"/>
                      </p:stCondLst>
                      <p:childTnLst>
                        <p:par>
                          <p:cTn id="13" presetID="10" presetClass="entr" presetSubtype="0" fill="hold" nodeType="withEffect">
                            <p:stCondLst>
                              <p:cond delay="450"/>
                            </p:stCondLst>
                            <p:childTnLst>
                              <p:animEffect transition="in" filter="fade">
                                <p:cBhvr>
                                  <p:cTn id="14" dur="400"/>
                                  <p:tgtEl>
                                    <p:spTgt spid="24"/>
                                  </p:tgtEl>
                                </p:cBhvr>
                              </p:animEffect>
                            </p:childTnLst>
                          </p:cTn>
                        </p:par>
                      </p:childTnLst>
                    </p:cTn>
                  </p:par>
                  <p:par>
                    <p:cTn id="15" fill="hold">
                      <p:stCondLst>
                        <p:cond delay="0"/>
                      </p:stCondLst>
                      <p:childTnLst>
                        <p:par>
                          <p:cTn id="16" presetID="10" presetClass="entr" presetSubtype="0" fill="hold" nodeType="withEffect">
                            <p:stCondLst>
                              <p:cond delay="600"/>
                            </p:stCondLst>
                            <p:childTnLst>
                              <p:animEffect transition="in" filter="fade">
                                <p:cBhvr>
                                  <p:cTn id="17" dur="400"/>
                                  <p:tgtEl>
                                    <p:spTgt spid="30"/>
                                  </p:tgtEl>
                                </p:cBhvr>
                              </p:animEffect>
                            </p:childTnLst>
                          </p:cTn>
                        </p:par>
                      </p:childTnLst>
                    </p:cTn>
                  </p:par>
                  <p:par>
                    <p:cTn id="18" fill="hold">
                      <p:stCondLst>
                        <p:cond delay="0"/>
                      </p:stCondLst>
                      <p:childTnLst>
                        <p:par>
                          <p:cTn id="19" presetID="10" presetClass="entr" presetSubtype="0" fill="hold" nodeType="withEffect">
                            <p:stCondLst>
                              <p:cond delay="750"/>
                            </p:stCondLst>
                            <p:childTnLst>
                              <p:animEffect transition="in" filter="fade">
                                <p:cBhvr>
                                  <p:cTn id="20" dur="400"/>
                                  <p:tgtEl>
                                    <p:spTgt spid="36"/>
                                  </p:tgtEl>
                                </p:cBhvr>
                              </p:animEffect>
                            </p:childTnLst>
                          </p:cTn>
                        </p:par>
                      </p:childTnLst>
                    </p:cTn>
                  </p:par>
                </p:childTnLst>
              </p:cTn>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CORE ARCHITECTURAL PRINCIPLE</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The LLM is NOT our source of truth.</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04</a:t>
            </a:r>
          </a:p>
        </p:txBody>
      </p:sp>
      <p:sp>
        <p:nvSpPr>
          <p:cNvPr id="6" name="Rounded Rectangle 5"/>
          <p:cNvSpPr/>
          <p:nvPr/>
        </p:nvSpPr>
        <p:spPr>
          <a:xfrm>
            <a:off x="777240" y="1417320"/>
            <a:ext cx="4114800" cy="4114800"/>
          </a:xfrm>
          <a:prstGeom prst="roundRect">
            <a:avLst/>
          </a:prstGeom>
          <a:solidFill>
            <a:srgbClr val="1A0E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4114800"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627632"/>
            <a:ext cx="2377440" cy="320040"/>
          </a:xfrm>
          <a:prstGeom prst="roundRect">
            <a:avLst/>
          </a:prstGeom>
          <a:solidFill>
            <a:srgbClr val="5C1D24"/>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43F5E"/>
                </a:solidFill>
                <a:latin typeface="Segoe UI"/>
              </a:defRPr>
            </a:pPr>
            <a:r>
              <a:t>✖  THE WRONG WAY</a:t>
            </a:r>
          </a:p>
        </p:txBody>
      </p:sp>
      <p:sp>
        <p:nvSpPr>
          <p:cNvPr id="9" name="Rounded Rectangle 8"/>
          <p:cNvSpPr/>
          <p:nvPr/>
        </p:nvSpPr>
        <p:spPr>
          <a:xfrm>
            <a:off x="1463040" y="2194560"/>
            <a:ext cx="2743200" cy="41148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94A3B8"/>
                </a:solidFill>
                <a:latin typeface="Segoe UI"/>
              </a:defRPr>
            </a:pPr>
            <a:r>
              <a:t>User Question</a:t>
            </a:r>
          </a:p>
        </p:txBody>
      </p:sp>
      <p:sp>
        <p:nvSpPr>
          <p:cNvPr id="10" name="TextBox 9"/>
          <p:cNvSpPr txBox="1"/>
          <p:nvPr/>
        </p:nvSpPr>
        <p:spPr>
          <a:xfrm>
            <a:off x="2606040" y="2606040"/>
            <a:ext cx="457200" cy="320040"/>
          </a:xfrm>
          <a:prstGeom prst="rect">
            <a:avLst/>
          </a:prstGeom>
          <a:noFill/>
        </p:spPr>
        <p:txBody>
          <a:bodyPr wrap="none">
            <a:spAutoFit/>
          </a:bodyPr>
          <a:lstStyle/>
          <a:p>
            <a:pPr algn="ctr">
              <a:defRPr sz="1600">
                <a:solidFill>
                  <a:srgbClr val="F43F5E"/>
                </a:solidFill>
                <a:latin typeface="Segoe UI"/>
              </a:defRPr>
            </a:pPr>
            <a:r>
              <a:t>↓</a:t>
            </a:r>
          </a:p>
        </p:txBody>
      </p:sp>
      <p:sp>
        <p:nvSpPr>
          <p:cNvPr id="11" name="Rounded Rectangle 10"/>
          <p:cNvSpPr/>
          <p:nvPr/>
        </p:nvSpPr>
        <p:spPr>
          <a:xfrm>
            <a:off x="1463040" y="2880360"/>
            <a:ext cx="2743200" cy="411480"/>
          </a:xfrm>
          <a:prstGeom prst="roundRect">
            <a:avLst/>
          </a:prstGeom>
          <a:solidFill>
            <a:srgbClr val="2A151A"/>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F43F5E"/>
                </a:solidFill>
                <a:latin typeface="Segoe UI"/>
              </a:defRPr>
            </a:pPr>
            <a:r>
              <a:t>LLM (Hallucination)</a:t>
            </a:r>
          </a:p>
        </p:txBody>
      </p:sp>
      <p:sp>
        <p:nvSpPr>
          <p:cNvPr id="12" name="TextBox 11"/>
          <p:cNvSpPr txBox="1"/>
          <p:nvPr/>
        </p:nvSpPr>
        <p:spPr>
          <a:xfrm>
            <a:off x="2606040" y="3291840"/>
            <a:ext cx="457200" cy="320040"/>
          </a:xfrm>
          <a:prstGeom prst="rect">
            <a:avLst/>
          </a:prstGeom>
          <a:noFill/>
        </p:spPr>
        <p:txBody>
          <a:bodyPr wrap="none">
            <a:spAutoFit/>
          </a:bodyPr>
          <a:lstStyle/>
          <a:p>
            <a:pPr algn="ctr">
              <a:defRPr sz="1600">
                <a:solidFill>
                  <a:srgbClr val="F43F5E"/>
                </a:solidFill>
                <a:latin typeface="Segoe UI"/>
              </a:defRPr>
            </a:pPr>
            <a:r>
              <a:t>↓</a:t>
            </a:r>
          </a:p>
        </p:txBody>
      </p:sp>
      <p:sp>
        <p:nvSpPr>
          <p:cNvPr id="13" name="Rounded Rectangle 12"/>
          <p:cNvSpPr/>
          <p:nvPr/>
        </p:nvSpPr>
        <p:spPr>
          <a:xfrm>
            <a:off x="1463040" y="3566160"/>
            <a:ext cx="2743200" cy="41148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94A3B8"/>
                </a:solidFill>
                <a:latin typeface="Segoe UI"/>
              </a:defRPr>
            </a:pPr>
            <a:r>
              <a:t>Unverified Answer</a:t>
            </a:r>
          </a:p>
        </p:txBody>
      </p:sp>
      <p:sp>
        <p:nvSpPr>
          <p:cNvPr id="14" name="TextBox 13"/>
          <p:cNvSpPr txBox="1"/>
          <p:nvPr/>
        </p:nvSpPr>
        <p:spPr>
          <a:xfrm>
            <a:off x="1280160" y="2743200"/>
            <a:ext cx="3108960" cy="1371600"/>
          </a:xfrm>
          <a:prstGeom prst="rect">
            <a:avLst/>
          </a:prstGeom>
          <a:noFill/>
        </p:spPr>
        <p:txBody>
          <a:bodyPr wrap="none">
            <a:spAutoFit/>
          </a:bodyPr>
          <a:lstStyle/>
          <a:p>
            <a:pPr algn="ctr">
              <a:defRPr sz="7200">
                <a:solidFill>
                  <a:srgbClr val="5C1D24"/>
                </a:solidFill>
                <a:latin typeface="Segoe UI"/>
              </a:defRPr>
            </a:pPr>
            <a:r>
              <a:t>✖</a:t>
            </a:r>
          </a:p>
        </p:txBody>
      </p:sp>
      <p:sp>
        <p:nvSpPr>
          <p:cNvPr id="15" name="Rounded Rectangle 14"/>
          <p:cNvSpPr/>
          <p:nvPr/>
        </p:nvSpPr>
        <p:spPr>
          <a:xfrm>
            <a:off x="5257800" y="1417320"/>
            <a:ext cx="6126480" cy="4114800"/>
          </a:xfrm>
          <a:prstGeom prst="roundRect">
            <a:avLst/>
          </a:prstGeom>
          <a:solidFill>
            <a:srgbClr val="1316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57800" y="1417320"/>
            <a:ext cx="612648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0" y="1627632"/>
            <a:ext cx="237744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  THE LEGAL SAATHI WAY</a:t>
            </a:r>
          </a:p>
        </p:txBody>
      </p:sp>
      <p:sp>
        <p:nvSpPr>
          <p:cNvPr id="18" name="Rounded Rectangle 17"/>
          <p:cNvSpPr/>
          <p:nvPr/>
        </p:nvSpPr>
        <p:spPr>
          <a:xfrm>
            <a:off x="5760720" y="2103120"/>
            <a:ext cx="502920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CBD5E1"/>
                </a:solidFill>
                <a:latin typeface="Segoe UI"/>
              </a:defRPr>
            </a:pPr>
            <a:r>
              <a:t>User Question</a:t>
            </a:r>
          </a:p>
        </p:txBody>
      </p:sp>
      <p:sp>
        <p:nvSpPr>
          <p:cNvPr id="19" name="TextBox 18"/>
          <p:cNvSpPr txBox="1"/>
          <p:nvPr/>
        </p:nvSpPr>
        <p:spPr>
          <a:xfrm>
            <a:off x="8046720" y="2468880"/>
            <a:ext cx="457200" cy="201168"/>
          </a:xfrm>
          <a:prstGeom prst="rect">
            <a:avLst/>
          </a:prstGeom>
          <a:noFill/>
        </p:spPr>
        <p:txBody>
          <a:bodyPr wrap="none">
            <a:spAutoFit/>
          </a:bodyPr>
          <a:lstStyle/>
          <a:p>
            <a:pPr algn="ctr">
              <a:defRPr sz="1200">
                <a:solidFill>
                  <a:srgbClr val="64748B"/>
                </a:solidFill>
                <a:latin typeface="Segoe UI"/>
              </a:defRPr>
            </a:pPr>
            <a:r>
              <a:t>↓</a:t>
            </a:r>
          </a:p>
        </p:txBody>
      </p:sp>
      <p:sp>
        <p:nvSpPr>
          <p:cNvPr id="20" name="Rounded Rectangle 19"/>
          <p:cNvSpPr/>
          <p:nvPr/>
        </p:nvSpPr>
        <p:spPr>
          <a:xfrm>
            <a:off x="5760720" y="2651760"/>
            <a:ext cx="502920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CBD5E1"/>
                </a:solidFill>
                <a:latin typeface="Segoe UI"/>
              </a:defRPr>
            </a:pPr>
            <a:r>
              <a:t>Intent Classification</a:t>
            </a:r>
          </a:p>
        </p:txBody>
      </p:sp>
      <p:sp>
        <p:nvSpPr>
          <p:cNvPr id="21" name="TextBox 20"/>
          <p:cNvSpPr txBox="1"/>
          <p:nvPr/>
        </p:nvSpPr>
        <p:spPr>
          <a:xfrm>
            <a:off x="8046720" y="3017520"/>
            <a:ext cx="457200" cy="201168"/>
          </a:xfrm>
          <a:prstGeom prst="rect">
            <a:avLst/>
          </a:prstGeom>
          <a:noFill/>
        </p:spPr>
        <p:txBody>
          <a:bodyPr wrap="none">
            <a:spAutoFit/>
          </a:bodyPr>
          <a:lstStyle/>
          <a:p>
            <a:pPr algn="ctr">
              <a:defRPr sz="1200">
                <a:solidFill>
                  <a:srgbClr val="64748B"/>
                </a:solidFill>
                <a:latin typeface="Segoe UI"/>
              </a:defRPr>
            </a:pPr>
            <a:r>
              <a:t>↓</a:t>
            </a:r>
          </a:p>
        </p:txBody>
      </p:sp>
      <p:sp>
        <p:nvSpPr>
          <p:cNvPr id="22" name="Rounded Rectangle 21"/>
          <p:cNvSpPr/>
          <p:nvPr/>
        </p:nvSpPr>
        <p:spPr>
          <a:xfrm>
            <a:off x="5760720" y="3200400"/>
            <a:ext cx="5029200" cy="365760"/>
          </a:xfrm>
          <a:prstGeom prst="roundRect">
            <a:avLst/>
          </a:prstGeom>
          <a:solidFill>
            <a:srgbClr val="1F1A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59E0B"/>
                </a:solidFill>
                <a:latin typeface="Segoe UI"/>
              </a:defRPr>
            </a:pPr>
            <a:r>
              <a:t>Legal Retrieval (ChromaDB + BM25)</a:t>
            </a:r>
          </a:p>
        </p:txBody>
      </p:sp>
      <p:sp>
        <p:nvSpPr>
          <p:cNvPr id="23" name="TextBox 22"/>
          <p:cNvSpPr txBox="1"/>
          <p:nvPr/>
        </p:nvSpPr>
        <p:spPr>
          <a:xfrm>
            <a:off x="8046720" y="3566160"/>
            <a:ext cx="457200" cy="201168"/>
          </a:xfrm>
          <a:prstGeom prst="rect">
            <a:avLst/>
          </a:prstGeom>
          <a:noFill/>
        </p:spPr>
        <p:txBody>
          <a:bodyPr wrap="none">
            <a:spAutoFit/>
          </a:bodyPr>
          <a:lstStyle/>
          <a:p>
            <a:pPr algn="ctr">
              <a:defRPr sz="1200">
                <a:solidFill>
                  <a:srgbClr val="64748B"/>
                </a:solidFill>
                <a:latin typeface="Segoe UI"/>
              </a:defRPr>
            </a:pPr>
            <a:r>
              <a:t>↓</a:t>
            </a:r>
          </a:p>
        </p:txBody>
      </p:sp>
      <p:sp>
        <p:nvSpPr>
          <p:cNvPr id="24" name="Rounded Rectangle 23"/>
          <p:cNvSpPr/>
          <p:nvPr/>
        </p:nvSpPr>
        <p:spPr>
          <a:xfrm>
            <a:off x="5760720" y="3749040"/>
            <a:ext cx="5029200" cy="365760"/>
          </a:xfrm>
          <a:prstGeom prst="roundRect">
            <a:avLst/>
          </a:prstGeom>
          <a:solidFill>
            <a:srgbClr val="1F1A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59E0B"/>
                </a:solidFill>
                <a:latin typeface="Segoe UI"/>
              </a:defRPr>
            </a:pPr>
            <a:r>
              <a:t>Evidence Context Assembly</a:t>
            </a:r>
          </a:p>
        </p:txBody>
      </p:sp>
      <p:sp>
        <p:nvSpPr>
          <p:cNvPr id="25" name="TextBox 24"/>
          <p:cNvSpPr txBox="1"/>
          <p:nvPr/>
        </p:nvSpPr>
        <p:spPr>
          <a:xfrm>
            <a:off x="8046720" y="4114800"/>
            <a:ext cx="457200" cy="201168"/>
          </a:xfrm>
          <a:prstGeom prst="rect">
            <a:avLst/>
          </a:prstGeom>
          <a:noFill/>
        </p:spPr>
        <p:txBody>
          <a:bodyPr wrap="none">
            <a:spAutoFit/>
          </a:bodyPr>
          <a:lstStyle/>
          <a:p>
            <a:pPr algn="ctr">
              <a:defRPr sz="1200">
                <a:solidFill>
                  <a:srgbClr val="64748B"/>
                </a:solidFill>
                <a:latin typeface="Segoe UI"/>
              </a:defRPr>
            </a:pPr>
            <a:r>
              <a:t>↓</a:t>
            </a:r>
          </a:p>
        </p:txBody>
      </p:sp>
      <p:sp>
        <p:nvSpPr>
          <p:cNvPr id="26" name="Rounded Rectangle 25"/>
          <p:cNvSpPr/>
          <p:nvPr/>
        </p:nvSpPr>
        <p:spPr>
          <a:xfrm>
            <a:off x="5760720" y="4297680"/>
            <a:ext cx="502920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CBD5E1"/>
                </a:solidFill>
                <a:latin typeface="Segoe UI"/>
              </a:defRPr>
            </a:pPr>
            <a:r>
              <a:t>LLM Synthesizes Retrieved Evidence</a:t>
            </a:r>
          </a:p>
        </p:txBody>
      </p:sp>
      <p:sp>
        <p:nvSpPr>
          <p:cNvPr id="27" name="TextBox 26"/>
          <p:cNvSpPr txBox="1"/>
          <p:nvPr/>
        </p:nvSpPr>
        <p:spPr>
          <a:xfrm>
            <a:off x="8046720" y="4663440"/>
            <a:ext cx="457200" cy="201168"/>
          </a:xfrm>
          <a:prstGeom prst="rect">
            <a:avLst/>
          </a:prstGeom>
          <a:noFill/>
        </p:spPr>
        <p:txBody>
          <a:bodyPr wrap="none">
            <a:spAutoFit/>
          </a:bodyPr>
          <a:lstStyle/>
          <a:p>
            <a:pPr algn="ctr">
              <a:defRPr sz="1200">
                <a:solidFill>
                  <a:srgbClr val="64748B"/>
                </a:solidFill>
                <a:latin typeface="Segoe UI"/>
              </a:defRPr>
            </a:pPr>
            <a:r>
              <a:t>↓</a:t>
            </a:r>
          </a:p>
        </p:txBody>
      </p:sp>
      <p:sp>
        <p:nvSpPr>
          <p:cNvPr id="28" name="Rounded Rectangle 27"/>
          <p:cNvSpPr/>
          <p:nvPr/>
        </p:nvSpPr>
        <p:spPr>
          <a:xfrm>
            <a:off x="5760720" y="4846320"/>
            <a:ext cx="502920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CBD5E1"/>
                </a:solidFill>
                <a:latin typeface="Segoe UI"/>
              </a:defRPr>
            </a:pPr>
            <a:r>
              <a:t>Citation Verification + Confidence Badge</a:t>
            </a:r>
          </a:p>
        </p:txBody>
      </p:sp>
      <p:sp>
        <p:nvSpPr>
          <p:cNvPr id="29" name="TextBox 28"/>
          <p:cNvSpPr txBox="1"/>
          <p:nvPr/>
        </p:nvSpPr>
        <p:spPr>
          <a:xfrm>
            <a:off x="5486400" y="4754880"/>
            <a:ext cx="5669280" cy="502920"/>
          </a:xfrm>
          <a:prstGeom prst="rect">
            <a:avLst/>
          </a:prstGeom>
          <a:noFill/>
        </p:spPr>
        <p:txBody>
          <a:bodyPr wrap="square">
            <a:spAutoFit/>
          </a:bodyPr>
          <a:lstStyle/>
          <a:p>
            <a:r>
              <a:rPr sz="1100" b="1">
                <a:solidFill>
                  <a:srgbClr val="F59E0B"/>
                </a:solidFill>
                <a:latin typeface="Segoe UI"/>
              </a:rPr>
              <a:t>Legal retrieval is the source of truth. </a:t>
            </a:r>
            <a:r>
              <a:rPr sz="1100">
                <a:solidFill>
                  <a:srgbClr val="CBD5E1"/>
                </a:solidFill>
                <a:latin typeface="Segoe UI"/>
              </a:rPr>
              <a:t>The LLM only explains what was retrieved.</a:t>
            </a:r>
          </a:p>
        </p:txBody>
      </p:sp>
      <p:sp>
        <p:nvSpPr>
          <p:cNvPr id="30" name="Rounded Rectangle 29"/>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0B981"/>
                </a:solidFill>
                <a:latin typeface="Segoe UI"/>
              </a:rPr>
              <a:t>THIS IS THE SLIDE JUDGES MUST UNDERSTAND:  Retrieval-first, LLM-second, citation-always.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500"/>
                                  <p:tgtEl>
                                    <p:spTgt spid="6"/>
                                  </p:tgtEl>
                                </p:cBhvr>
                              </p:animEffect>
                            </p:childTnLst>
                          </p:cTn>
                        </p:par>
                      </p:childTnLst>
                    </p:cTn>
                  </p:par>
                  <p:par>
                    <p:cTn id="6" fill="hold">
                      <p:stCondLst>
                        <p:cond delay="0"/>
                      </p:stCondLst>
                      <p:childTnLst>
                        <p:par>
                          <p:cTn id="7" presetID="10" presetClass="entr" presetSubtype="0" fill="hold" nodeType="withEffect">
                            <p:stCondLst>
                              <p:cond delay="400"/>
                            </p:stCondLst>
                            <p:childTnLst>
                              <p:animEffect transition="in" filter="fade">
                                <p:cBhvr>
                                  <p:cTn id="8" dur="600"/>
                                  <p:tgtEl>
                                    <p:spTgt spid="15"/>
                                  </p:tgtEl>
                                </p:cBhvr>
                              </p:animEffect>
                            </p:childTnLst>
                          </p:cTn>
                        </p:par>
                      </p:childTnLst>
                    </p:cTn>
                  </p:par>
                </p:childTnLst>
              </p:cTn>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SYSTEM DESIGN</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Inside Legal Saathi — Layered &amp; Independently Replaceable</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05</a:t>
            </a:r>
          </a:p>
        </p:txBody>
      </p:sp>
      <p:sp>
        <p:nvSpPr>
          <p:cNvPr id="6" name="Rounded Rectangle 5"/>
          <p:cNvSpPr/>
          <p:nvPr/>
        </p:nvSpPr>
        <p:spPr>
          <a:xfrm>
            <a:off x="777240" y="1417320"/>
            <a:ext cx="10607040" cy="749808"/>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50800" cy="74980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472184"/>
            <a:ext cx="2286000" cy="320040"/>
          </a:xfrm>
          <a:prstGeom prst="rect">
            <a:avLst/>
          </a:prstGeom>
          <a:noFill/>
        </p:spPr>
        <p:txBody>
          <a:bodyPr wrap="none">
            <a:spAutoFit/>
          </a:bodyPr>
          <a:lstStyle/>
          <a:p>
            <a:pPr>
              <a:defRPr sz="1100" b="1">
                <a:solidFill>
                  <a:srgbClr val="22D3EE"/>
                </a:solidFill>
                <a:latin typeface="Segoe UI"/>
              </a:defRPr>
            </a:pPr>
            <a:r>
              <a:t>CLIENT LAYER</a:t>
            </a:r>
          </a:p>
        </p:txBody>
      </p:sp>
      <p:sp>
        <p:nvSpPr>
          <p:cNvPr id="9" name="TextBox 8"/>
          <p:cNvSpPr txBox="1"/>
          <p:nvPr/>
        </p:nvSpPr>
        <p:spPr>
          <a:xfrm>
            <a:off x="1051560" y="1764792"/>
            <a:ext cx="7772400" cy="320040"/>
          </a:xfrm>
          <a:prstGeom prst="rect">
            <a:avLst/>
          </a:prstGeom>
          <a:noFill/>
        </p:spPr>
        <p:txBody>
          <a:bodyPr wrap="none">
            <a:spAutoFit/>
          </a:bodyPr>
          <a:lstStyle/>
          <a:p>
            <a:pPr>
              <a:defRPr sz="950">
                <a:solidFill>
                  <a:srgbClr val="CBD5E1"/>
                </a:solidFill>
                <a:latin typeface="Segoe UI"/>
              </a:defRPr>
            </a:pPr>
            <a:r>
              <a:t>Next.js 14  •  TypeScript  •  Tailwind  •  Framer Motion  •  Voice UI</a:t>
            </a:r>
          </a:p>
        </p:txBody>
      </p:sp>
      <p:sp>
        <p:nvSpPr>
          <p:cNvPr id="10" name="Rounded Rectangle 9"/>
          <p:cNvSpPr/>
          <p:nvPr/>
        </p:nvSpPr>
        <p:spPr>
          <a:xfrm>
            <a:off x="9875520" y="1618488"/>
            <a:ext cx="128016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22D3EE"/>
                </a:solidFill>
                <a:latin typeface="Segoe UI"/>
              </a:defRPr>
            </a:pPr>
            <a:r>
              <a:t>Owner: T1 &amp; T4</a:t>
            </a:r>
          </a:p>
        </p:txBody>
      </p:sp>
      <p:sp>
        <p:nvSpPr>
          <p:cNvPr id="11" name="TextBox 10"/>
          <p:cNvSpPr txBox="1"/>
          <p:nvPr/>
        </p:nvSpPr>
        <p:spPr>
          <a:xfrm>
            <a:off x="5486400" y="2167128"/>
            <a:ext cx="457200" cy="182880"/>
          </a:xfrm>
          <a:prstGeom prst="rect">
            <a:avLst/>
          </a:prstGeom>
          <a:noFill/>
        </p:spPr>
        <p:txBody>
          <a:bodyPr wrap="none">
            <a:spAutoFit/>
          </a:bodyPr>
          <a:lstStyle/>
          <a:p>
            <a:pPr algn="ctr">
              <a:defRPr sz="1200">
                <a:solidFill>
                  <a:srgbClr val="64748B"/>
                </a:solidFill>
                <a:latin typeface="Segoe UI"/>
              </a:defRPr>
            </a:pPr>
            <a:r>
              <a:t>↓</a:t>
            </a:r>
          </a:p>
        </p:txBody>
      </p:sp>
      <p:sp>
        <p:nvSpPr>
          <p:cNvPr id="12" name="Rounded Rectangle 11"/>
          <p:cNvSpPr/>
          <p:nvPr/>
        </p:nvSpPr>
        <p:spPr>
          <a:xfrm>
            <a:off x="777240" y="2304288"/>
            <a:ext cx="10607040" cy="749808"/>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04288"/>
            <a:ext cx="50800"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359152"/>
            <a:ext cx="2286000" cy="320040"/>
          </a:xfrm>
          <a:prstGeom prst="rect">
            <a:avLst/>
          </a:prstGeom>
          <a:noFill/>
        </p:spPr>
        <p:txBody>
          <a:bodyPr wrap="none">
            <a:spAutoFit/>
          </a:bodyPr>
          <a:lstStyle/>
          <a:p>
            <a:pPr>
              <a:defRPr sz="1100" b="1">
                <a:solidFill>
                  <a:srgbClr val="10B981"/>
                </a:solidFill>
                <a:latin typeface="Segoe UI"/>
              </a:defRPr>
            </a:pPr>
            <a:r>
              <a:t>API &amp; ORCHESTRATION</a:t>
            </a:r>
          </a:p>
        </p:txBody>
      </p:sp>
      <p:sp>
        <p:nvSpPr>
          <p:cNvPr id="15" name="TextBox 14"/>
          <p:cNvSpPr txBox="1"/>
          <p:nvPr/>
        </p:nvSpPr>
        <p:spPr>
          <a:xfrm>
            <a:off x="1051560" y="2651760"/>
            <a:ext cx="7772400" cy="320040"/>
          </a:xfrm>
          <a:prstGeom prst="rect">
            <a:avLst/>
          </a:prstGeom>
          <a:noFill/>
        </p:spPr>
        <p:txBody>
          <a:bodyPr wrap="none">
            <a:spAutoFit/>
          </a:bodyPr>
          <a:lstStyle/>
          <a:p>
            <a:pPr>
              <a:defRPr sz="950">
                <a:solidFill>
                  <a:srgbClr val="CBD5E1"/>
                </a:solidFill>
                <a:latin typeface="Segoe UI"/>
              </a:defRPr>
            </a:pPr>
            <a:r>
              <a:t>FastAPI  •  Auth  •  Safety  •  Pipeline  •  Intent Classifier</a:t>
            </a:r>
          </a:p>
        </p:txBody>
      </p:sp>
      <p:sp>
        <p:nvSpPr>
          <p:cNvPr id="16" name="Rounded Rectangle 15"/>
          <p:cNvSpPr/>
          <p:nvPr/>
        </p:nvSpPr>
        <p:spPr>
          <a:xfrm>
            <a:off x="9875520" y="2505456"/>
            <a:ext cx="128016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10B981"/>
                </a:solidFill>
                <a:latin typeface="Segoe UI"/>
              </a:defRPr>
            </a:pPr>
            <a:r>
              <a:t>Owner: T2</a:t>
            </a:r>
          </a:p>
        </p:txBody>
      </p:sp>
      <p:sp>
        <p:nvSpPr>
          <p:cNvPr id="17" name="TextBox 16"/>
          <p:cNvSpPr txBox="1"/>
          <p:nvPr/>
        </p:nvSpPr>
        <p:spPr>
          <a:xfrm>
            <a:off x="5486400" y="3054096"/>
            <a:ext cx="457200" cy="182880"/>
          </a:xfrm>
          <a:prstGeom prst="rect">
            <a:avLst/>
          </a:prstGeom>
          <a:noFill/>
        </p:spPr>
        <p:txBody>
          <a:bodyPr wrap="none">
            <a:spAutoFit/>
          </a:bodyPr>
          <a:lstStyle/>
          <a:p>
            <a:pPr algn="ctr">
              <a:defRPr sz="1200">
                <a:solidFill>
                  <a:srgbClr val="64748B"/>
                </a:solidFill>
                <a:latin typeface="Segoe UI"/>
              </a:defRPr>
            </a:pPr>
            <a:r>
              <a:t>↓</a:t>
            </a:r>
          </a:p>
        </p:txBody>
      </p:sp>
      <p:sp>
        <p:nvSpPr>
          <p:cNvPr id="18" name="Rounded Rectangle 17"/>
          <p:cNvSpPr/>
          <p:nvPr/>
        </p:nvSpPr>
        <p:spPr>
          <a:xfrm>
            <a:off x="777240" y="3191256"/>
            <a:ext cx="10607040" cy="749808"/>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191256"/>
            <a:ext cx="50800" cy="7498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246120"/>
            <a:ext cx="2286000" cy="320040"/>
          </a:xfrm>
          <a:prstGeom prst="rect">
            <a:avLst/>
          </a:prstGeom>
          <a:noFill/>
        </p:spPr>
        <p:txBody>
          <a:bodyPr wrap="none">
            <a:spAutoFit/>
          </a:bodyPr>
          <a:lstStyle/>
          <a:p>
            <a:pPr>
              <a:defRPr sz="1100" b="1">
                <a:solidFill>
                  <a:srgbClr val="F59E0B"/>
                </a:solidFill>
                <a:latin typeface="Segoe UI"/>
              </a:defRPr>
            </a:pPr>
            <a:r>
              <a:t>HYBRID RAG &amp; AI</a:t>
            </a:r>
          </a:p>
        </p:txBody>
      </p:sp>
      <p:sp>
        <p:nvSpPr>
          <p:cNvPr id="21" name="TextBox 20"/>
          <p:cNvSpPr txBox="1"/>
          <p:nvPr/>
        </p:nvSpPr>
        <p:spPr>
          <a:xfrm>
            <a:off x="1051560" y="3538728"/>
            <a:ext cx="7772400" cy="320040"/>
          </a:xfrm>
          <a:prstGeom prst="rect">
            <a:avLst/>
          </a:prstGeom>
          <a:noFill/>
        </p:spPr>
        <p:txBody>
          <a:bodyPr wrap="none">
            <a:spAutoFit/>
          </a:bodyPr>
          <a:lstStyle/>
          <a:p>
            <a:pPr>
              <a:defRPr sz="950">
                <a:solidFill>
                  <a:srgbClr val="CBD5E1"/>
                </a:solidFill>
                <a:latin typeface="Segoe UI"/>
              </a:defRPr>
            </a:pPr>
            <a:r>
              <a:t>ChromaDB  •  BM25  •  Reciprocal Rank Fusion  •  LLM  •  Citation Layer</a:t>
            </a:r>
          </a:p>
        </p:txBody>
      </p:sp>
      <p:sp>
        <p:nvSpPr>
          <p:cNvPr id="22" name="Rounded Rectangle 21"/>
          <p:cNvSpPr/>
          <p:nvPr/>
        </p:nvSpPr>
        <p:spPr>
          <a:xfrm>
            <a:off x="9875520" y="3392424"/>
            <a:ext cx="128016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F59E0B"/>
                </a:solidFill>
                <a:latin typeface="Segoe UI"/>
              </a:defRPr>
            </a:pPr>
            <a:r>
              <a:t>Owner: T3 &amp; T2</a:t>
            </a:r>
          </a:p>
        </p:txBody>
      </p:sp>
      <p:sp>
        <p:nvSpPr>
          <p:cNvPr id="23" name="TextBox 22"/>
          <p:cNvSpPr txBox="1"/>
          <p:nvPr/>
        </p:nvSpPr>
        <p:spPr>
          <a:xfrm>
            <a:off x="5486400" y="3941064"/>
            <a:ext cx="457200" cy="182880"/>
          </a:xfrm>
          <a:prstGeom prst="rect">
            <a:avLst/>
          </a:prstGeom>
          <a:noFill/>
        </p:spPr>
        <p:txBody>
          <a:bodyPr wrap="none">
            <a:spAutoFit/>
          </a:bodyPr>
          <a:lstStyle/>
          <a:p>
            <a:pPr algn="ctr">
              <a:defRPr sz="1200">
                <a:solidFill>
                  <a:srgbClr val="64748B"/>
                </a:solidFill>
                <a:latin typeface="Segoe UI"/>
              </a:defRPr>
            </a:pPr>
            <a:r>
              <a:t>↓</a:t>
            </a:r>
          </a:p>
        </p:txBody>
      </p:sp>
      <p:sp>
        <p:nvSpPr>
          <p:cNvPr id="24" name="Rounded Rectangle 23"/>
          <p:cNvSpPr/>
          <p:nvPr/>
        </p:nvSpPr>
        <p:spPr>
          <a:xfrm>
            <a:off x="777240" y="4078224"/>
            <a:ext cx="10607040" cy="749808"/>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078224"/>
            <a:ext cx="50800" cy="7498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4133088"/>
            <a:ext cx="2286000" cy="320040"/>
          </a:xfrm>
          <a:prstGeom prst="rect">
            <a:avLst/>
          </a:prstGeom>
          <a:noFill/>
        </p:spPr>
        <p:txBody>
          <a:bodyPr wrap="none">
            <a:spAutoFit/>
          </a:bodyPr>
          <a:lstStyle/>
          <a:p>
            <a:pPr>
              <a:defRPr sz="1100" b="1">
                <a:solidFill>
                  <a:srgbClr val="8B5CF6"/>
                </a:solidFill>
                <a:latin typeface="Segoe UI"/>
              </a:defRPr>
            </a:pPr>
            <a:r>
              <a:t>LEGAL SAATHI ENGINE</a:t>
            </a:r>
          </a:p>
        </p:txBody>
      </p:sp>
      <p:sp>
        <p:nvSpPr>
          <p:cNvPr id="27" name="TextBox 26"/>
          <p:cNvSpPr txBox="1"/>
          <p:nvPr/>
        </p:nvSpPr>
        <p:spPr>
          <a:xfrm>
            <a:off x="1051560" y="4425696"/>
            <a:ext cx="7772400" cy="320040"/>
          </a:xfrm>
          <a:prstGeom prst="rect">
            <a:avLst/>
          </a:prstGeom>
          <a:noFill/>
        </p:spPr>
        <p:txBody>
          <a:bodyPr wrap="none">
            <a:spAutoFit/>
          </a:bodyPr>
          <a:lstStyle/>
          <a:p>
            <a:pPr>
              <a:defRPr sz="950">
                <a:solidFill>
                  <a:srgbClr val="CBD5E1"/>
                </a:solidFill>
                <a:latin typeface="Segoe UI"/>
              </a:defRPr>
            </a:pPr>
            <a:r>
              <a:t>Entity Extraction  •  Normalization  •  Similarity  •  Clustering  •  Consent</a:t>
            </a:r>
          </a:p>
        </p:txBody>
      </p:sp>
      <p:sp>
        <p:nvSpPr>
          <p:cNvPr id="28" name="Rounded Rectangle 27"/>
          <p:cNvSpPr/>
          <p:nvPr/>
        </p:nvSpPr>
        <p:spPr>
          <a:xfrm>
            <a:off x="9875520" y="4279392"/>
            <a:ext cx="128016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8B5CF6"/>
                </a:solidFill>
                <a:latin typeface="Segoe UI"/>
              </a:defRPr>
            </a:pPr>
            <a:r>
              <a:t>Owner: T3</a:t>
            </a:r>
          </a:p>
        </p:txBody>
      </p:sp>
      <p:sp>
        <p:nvSpPr>
          <p:cNvPr id="29" name="TextBox 28"/>
          <p:cNvSpPr txBox="1"/>
          <p:nvPr/>
        </p:nvSpPr>
        <p:spPr>
          <a:xfrm>
            <a:off x="5486400" y="4828032"/>
            <a:ext cx="457200" cy="182880"/>
          </a:xfrm>
          <a:prstGeom prst="rect">
            <a:avLst/>
          </a:prstGeom>
          <a:noFill/>
        </p:spPr>
        <p:txBody>
          <a:bodyPr wrap="none">
            <a:spAutoFit/>
          </a:bodyPr>
          <a:lstStyle/>
          <a:p>
            <a:pPr algn="ctr">
              <a:defRPr sz="1200">
                <a:solidFill>
                  <a:srgbClr val="64748B"/>
                </a:solidFill>
                <a:latin typeface="Segoe UI"/>
              </a:defRPr>
            </a:pPr>
            <a:r>
              <a:t>↓</a:t>
            </a:r>
          </a:p>
        </p:txBody>
      </p:sp>
      <p:sp>
        <p:nvSpPr>
          <p:cNvPr id="30" name="Rounded Rectangle 29"/>
          <p:cNvSpPr/>
          <p:nvPr/>
        </p:nvSpPr>
        <p:spPr>
          <a:xfrm>
            <a:off x="777240" y="4965192"/>
            <a:ext cx="10607040" cy="749808"/>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965192"/>
            <a:ext cx="50800" cy="74980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020056"/>
            <a:ext cx="2286000" cy="320040"/>
          </a:xfrm>
          <a:prstGeom prst="rect">
            <a:avLst/>
          </a:prstGeom>
          <a:noFill/>
        </p:spPr>
        <p:txBody>
          <a:bodyPr wrap="none">
            <a:spAutoFit/>
          </a:bodyPr>
          <a:lstStyle/>
          <a:p>
            <a:pPr>
              <a:defRPr sz="1100" b="1">
                <a:solidFill>
                  <a:srgbClr val="8B5CF6"/>
                </a:solidFill>
                <a:latin typeface="Segoe UI"/>
              </a:defRPr>
            </a:pPr>
            <a:r>
              <a:t>ACTION &amp; INFRASTRUCTURE</a:t>
            </a:r>
          </a:p>
        </p:txBody>
      </p:sp>
      <p:sp>
        <p:nvSpPr>
          <p:cNvPr id="33" name="TextBox 32"/>
          <p:cNvSpPr txBox="1"/>
          <p:nvPr/>
        </p:nvSpPr>
        <p:spPr>
          <a:xfrm>
            <a:off x="1051560" y="5312664"/>
            <a:ext cx="7772400" cy="320040"/>
          </a:xfrm>
          <a:prstGeom prst="rect">
            <a:avLst/>
          </a:prstGeom>
          <a:noFill/>
        </p:spPr>
        <p:txBody>
          <a:bodyPr wrap="none">
            <a:spAutoFit/>
          </a:bodyPr>
          <a:lstStyle/>
          <a:p>
            <a:pPr>
              <a:defRPr sz="950">
                <a:solidFill>
                  <a:srgbClr val="CBD5E1"/>
                </a:solidFill>
                <a:latin typeface="Segoe UI"/>
              </a:defRPr>
            </a:pPr>
            <a:r>
              <a:t>Evidence Checklist  •  Legal Notice  •  RTI  •  Docker  •  CI/CD  •  E2E</a:t>
            </a:r>
          </a:p>
        </p:txBody>
      </p:sp>
      <p:sp>
        <p:nvSpPr>
          <p:cNvPr id="34" name="Rounded Rectangle 33"/>
          <p:cNvSpPr/>
          <p:nvPr/>
        </p:nvSpPr>
        <p:spPr>
          <a:xfrm>
            <a:off x="9875520" y="5166360"/>
            <a:ext cx="128016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00" b="1">
                <a:solidFill>
                  <a:srgbClr val="8B5CF6"/>
                </a:solidFill>
                <a:latin typeface="Segoe UI"/>
              </a:defRPr>
            </a:pPr>
            <a:r>
              <a:t>Owner: T4</a:t>
            </a:r>
          </a:p>
        </p:txBody>
      </p:sp>
      <p:sp>
        <p:nvSpPr>
          <p:cNvPr id="35" name="Rounded Rectangle 34"/>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B82F6"/>
                </a:solidFill>
                <a:latin typeface="Segoe UI"/>
              </a:rPr>
              <a:t>Each layer interacts via frozen contracts (docs/API_CONTRACT.md &amp; docs/CASE_SCHEMA.md). Swap any layer without breaking the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400"/>
                                  <p:tgtEl>
                                    <p:spTgt spid="6"/>
                                  </p:tgtEl>
                                </p:cBhvr>
                              </p:animEffect>
                            </p:childTnLst>
                          </p:cTn>
                        </p:par>
                      </p:childTnLst>
                    </p:cTn>
                  </p:par>
                  <p:par>
                    <p:cTn id="6" fill="hold">
                      <p:stCondLst>
                        <p:cond delay="0"/>
                      </p:stCondLst>
                      <p:childTnLst>
                        <p:par>
                          <p:cTn id="7" presetID="10" presetClass="entr" presetSubtype="0" fill="hold" nodeType="withEffect">
                            <p:stCondLst>
                              <p:cond delay="150"/>
                            </p:stCondLst>
                            <p:childTnLst>
                              <p:animEffect transition="in" filter="fade">
                                <p:cBhvr>
                                  <p:cTn id="8" dur="400"/>
                                  <p:tgtEl>
                                    <p:spTgt spid="12"/>
                                  </p:tgtEl>
                                </p:cBhvr>
                              </p:animEffect>
                            </p:childTnLst>
                          </p:cTn>
                        </p:par>
                      </p:childTnLst>
                    </p:cTn>
                  </p:par>
                  <p:par>
                    <p:cTn id="9" fill="hold">
                      <p:stCondLst>
                        <p:cond delay="0"/>
                      </p:stCondLst>
                      <p:childTnLst>
                        <p:par>
                          <p:cTn id="10" presetID="10" presetClass="entr" presetSubtype="0" fill="hold" nodeType="withEffect">
                            <p:stCondLst>
                              <p:cond delay="300"/>
                            </p:stCondLst>
                            <p:childTnLst>
                              <p:animEffect transition="in" filter="fade">
                                <p:cBhvr>
                                  <p:cTn id="11" dur="400"/>
                                  <p:tgtEl>
                                    <p:spTgt spid="18"/>
                                  </p:tgtEl>
                                </p:cBhvr>
                              </p:animEffect>
                            </p:childTnLst>
                          </p:cTn>
                        </p:par>
                      </p:childTnLst>
                    </p:cTn>
                  </p:par>
                  <p:par>
                    <p:cTn id="12" fill="hold">
                      <p:stCondLst>
                        <p:cond delay="0"/>
                      </p:stCondLst>
                      <p:childTnLst>
                        <p:par>
                          <p:cTn id="13" presetID="10" presetClass="entr" presetSubtype="0" fill="hold" nodeType="withEffect">
                            <p:stCondLst>
                              <p:cond delay="450"/>
                            </p:stCondLst>
                            <p:childTnLst>
                              <p:animEffect transition="in" filter="fade">
                                <p:cBhvr>
                                  <p:cTn id="14" dur="400"/>
                                  <p:tgtEl>
                                    <p:spTgt spid="24"/>
                                  </p:tgtEl>
                                </p:cBhvr>
                              </p:animEffect>
                            </p:childTnLst>
                          </p:cTn>
                        </p:par>
                      </p:childTnLst>
                    </p:cTn>
                  </p:par>
                  <p:par>
                    <p:cTn id="15" fill="hold">
                      <p:stCondLst>
                        <p:cond delay="0"/>
                      </p:stCondLst>
                      <p:childTnLst>
                        <p:par>
                          <p:cTn id="16" presetID="10" presetClass="entr" presetSubtype="0" fill="hold" nodeType="withEffect">
                            <p:stCondLst>
                              <p:cond delay="600"/>
                            </p:stCondLst>
                            <p:childTnLst>
                              <p:animEffect transition="in" filter="fade">
                                <p:cBhvr>
                                  <p:cTn id="17" dur="400"/>
                                  <p:tgtEl>
                                    <p:spTgt spid="30"/>
                                  </p:tgtEl>
                                </p:cBhvr>
                              </p:animEffect>
                            </p:childTnLst>
                          </p:cTn>
                        </p:par>
                      </p:childTnLst>
                    </p:cTn>
                  </p:par>
                </p:childTnLst>
              </p:cTn>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TEAM ORGANIZATION</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Four developers. Four ownership zones. One system.</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06</a:t>
            </a:r>
          </a:p>
        </p:txBody>
      </p:sp>
      <p:sp>
        <p:nvSpPr>
          <p:cNvPr id="6" name="Rounded Rectangle 5"/>
          <p:cNvSpPr/>
          <p:nvPr/>
        </p:nvSpPr>
        <p:spPr>
          <a:xfrm>
            <a:off x="777240" y="1417320"/>
            <a:ext cx="2542032"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2542032"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81912" y="1600200"/>
            <a:ext cx="896112" cy="89611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8091A"/>
                </a:solidFill>
                <a:latin typeface="Segoe UI"/>
              </a:defRPr>
            </a:pPr>
            <a:r>
              <a:t>T1</a:t>
            </a:r>
          </a:p>
        </p:txBody>
      </p:sp>
      <p:sp>
        <p:nvSpPr>
          <p:cNvPr id="9" name="TextBox 8"/>
          <p:cNvSpPr txBox="1"/>
          <p:nvPr/>
        </p:nvSpPr>
        <p:spPr>
          <a:xfrm>
            <a:off x="850392" y="2606040"/>
            <a:ext cx="2395728" cy="320040"/>
          </a:xfrm>
          <a:prstGeom prst="rect">
            <a:avLst/>
          </a:prstGeom>
          <a:noFill/>
        </p:spPr>
        <p:txBody>
          <a:bodyPr wrap="none">
            <a:spAutoFit/>
          </a:bodyPr>
          <a:lstStyle/>
          <a:p>
            <a:pPr algn="ctr">
              <a:defRPr sz="1150" b="1">
                <a:solidFill>
                  <a:srgbClr val="FFFFFF"/>
                </a:solidFill>
                <a:latin typeface="Segoe UI"/>
              </a:defRPr>
            </a:pPr>
            <a:r>
              <a:t>Frontend &amp; UI</a:t>
            </a:r>
          </a:p>
        </p:txBody>
      </p:sp>
      <p:sp>
        <p:nvSpPr>
          <p:cNvPr id="10" name="TextBox 9"/>
          <p:cNvSpPr txBox="1"/>
          <p:nvPr/>
        </p:nvSpPr>
        <p:spPr>
          <a:xfrm>
            <a:off x="886968" y="3017520"/>
            <a:ext cx="2322576" cy="2377440"/>
          </a:xfrm>
          <a:prstGeom prst="rect">
            <a:avLst/>
          </a:prstGeom>
          <a:noFill/>
        </p:spPr>
        <p:txBody>
          <a:bodyPr wrap="square" lIns="0" tIns="0" rIns="0" bIns="0">
            <a:spAutoFit/>
          </a:bodyPr>
          <a:lstStyle/>
          <a:p>
            <a:pPr>
              <a:spcAft>
                <a:spcPts val="400"/>
              </a:spcAft>
              <a:defRPr sz="1000">
                <a:solidFill>
                  <a:srgbClr val="CBD5E1"/>
                </a:solidFill>
                <a:latin typeface="Segoe UI"/>
              </a:defRPr>
            </a:pPr>
            <a:r>
              <a:t>·  Next.js 14 App Router + Pages</a:t>
            </a:r>
          </a:p>
          <a:p>
            <a:pPr>
              <a:spcAft>
                <a:spcPts val="400"/>
              </a:spcAft>
              <a:defRPr sz="1000">
                <a:solidFill>
                  <a:srgbClr val="CBD5E1"/>
                </a:solidFill>
                <a:latin typeface="Segoe UI"/>
              </a:defRPr>
            </a:pPr>
            <a:r>
              <a:t>·  Chat UI / CitationCard / ConfidenceBadge</a:t>
            </a:r>
          </a:p>
          <a:p>
            <a:pPr>
              <a:spcAft>
                <a:spcPts val="400"/>
              </a:spcAft>
              <a:defRPr sz="1000">
                <a:solidFill>
                  <a:srgbClr val="CBD5E1"/>
                </a:solidFill>
                <a:latin typeface="Segoe UI"/>
              </a:defRPr>
            </a:pPr>
            <a:r>
              <a:t>·  Case Workspace &amp; Action Forms</a:t>
            </a:r>
          </a:p>
          <a:p>
            <a:pPr>
              <a:spcAft>
                <a:spcPts val="400"/>
              </a:spcAft>
              <a:defRPr sz="1000">
                <a:solidFill>
                  <a:srgbClr val="CBD5E1"/>
                </a:solidFill>
                <a:latin typeface="Segoe UI"/>
              </a:defRPr>
            </a:pPr>
            <a:r>
              <a:t>·  TypeScript API Client (mock → real)</a:t>
            </a:r>
          </a:p>
          <a:p>
            <a:pPr>
              <a:spcAft>
                <a:spcPts val="400"/>
              </a:spcAft>
              <a:defRPr sz="1000">
                <a:solidFill>
                  <a:srgbClr val="CBD5E1"/>
                </a:solidFill>
                <a:latin typeface="Segoe UI"/>
              </a:defRPr>
            </a:pPr>
            <a:r>
              <a:t>·  Loading / Error / Empty states</a:t>
            </a:r>
          </a:p>
        </p:txBody>
      </p:sp>
      <p:sp>
        <p:nvSpPr>
          <p:cNvPr id="11" name="Rounded Rectangle 10"/>
          <p:cNvSpPr/>
          <p:nvPr/>
        </p:nvSpPr>
        <p:spPr>
          <a:xfrm>
            <a:off x="3483864" y="1417320"/>
            <a:ext cx="2542032"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83864" y="1417320"/>
            <a:ext cx="2542032"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88536" y="1600200"/>
            <a:ext cx="896112" cy="8961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8091A"/>
                </a:solidFill>
                <a:latin typeface="Segoe UI"/>
              </a:defRPr>
            </a:pPr>
            <a:r>
              <a:t>T2</a:t>
            </a:r>
          </a:p>
        </p:txBody>
      </p:sp>
      <p:sp>
        <p:nvSpPr>
          <p:cNvPr id="14" name="TextBox 13"/>
          <p:cNvSpPr txBox="1"/>
          <p:nvPr/>
        </p:nvSpPr>
        <p:spPr>
          <a:xfrm>
            <a:off x="3557016" y="2606040"/>
            <a:ext cx="2395728" cy="320040"/>
          </a:xfrm>
          <a:prstGeom prst="rect">
            <a:avLst/>
          </a:prstGeom>
          <a:noFill/>
        </p:spPr>
        <p:txBody>
          <a:bodyPr wrap="none">
            <a:spAutoFit/>
          </a:bodyPr>
          <a:lstStyle/>
          <a:p>
            <a:pPr algn="ctr">
              <a:defRPr sz="1150" b="1">
                <a:solidFill>
                  <a:srgbClr val="FFFFFF"/>
                </a:solidFill>
                <a:latin typeface="Segoe UI"/>
              </a:defRPr>
            </a:pPr>
            <a:r>
              <a:t>Backend &amp; Orchestration</a:t>
            </a:r>
          </a:p>
        </p:txBody>
      </p:sp>
      <p:sp>
        <p:nvSpPr>
          <p:cNvPr id="15" name="TextBox 14"/>
          <p:cNvSpPr txBox="1"/>
          <p:nvPr/>
        </p:nvSpPr>
        <p:spPr>
          <a:xfrm>
            <a:off x="3593592" y="3017520"/>
            <a:ext cx="2322576" cy="2377440"/>
          </a:xfrm>
          <a:prstGeom prst="rect">
            <a:avLst/>
          </a:prstGeom>
          <a:noFill/>
        </p:spPr>
        <p:txBody>
          <a:bodyPr wrap="square" lIns="0" tIns="0" rIns="0" bIns="0">
            <a:spAutoFit/>
          </a:bodyPr>
          <a:lstStyle/>
          <a:p>
            <a:pPr>
              <a:spcAft>
                <a:spcPts val="400"/>
              </a:spcAft>
              <a:defRPr sz="1000">
                <a:solidFill>
                  <a:srgbClr val="CBD5E1"/>
                </a:solidFill>
                <a:latin typeface="Segoe UI"/>
              </a:defRPr>
            </a:pPr>
            <a:r>
              <a:t>·  FastAPI Routers &amp; Middleware</a:t>
            </a:r>
          </a:p>
          <a:p>
            <a:pPr>
              <a:spcAft>
                <a:spcPts val="400"/>
              </a:spcAft>
              <a:defRPr sz="1000">
                <a:solidFill>
                  <a:srgbClr val="CBD5E1"/>
                </a:solidFill>
                <a:latin typeface="Segoe UI"/>
              </a:defRPr>
            </a:pPr>
            <a:r>
              <a:t>·  pipeline.py orchestration flow</a:t>
            </a:r>
          </a:p>
          <a:p>
            <a:pPr>
              <a:spcAft>
                <a:spcPts val="400"/>
              </a:spcAft>
              <a:defRPr sz="1000">
                <a:solidFill>
                  <a:srgbClr val="CBD5E1"/>
                </a:solidFill>
                <a:latin typeface="Segoe UI"/>
              </a:defRPr>
            </a:pPr>
            <a:r>
              <a:t>·  classifier.py + emergency routing</a:t>
            </a:r>
          </a:p>
          <a:p>
            <a:pPr>
              <a:spcAft>
                <a:spcPts val="400"/>
              </a:spcAft>
              <a:defRPr sz="1000">
                <a:solidFill>
                  <a:srgbClr val="CBD5E1"/>
                </a:solidFill>
                <a:latin typeface="Segoe UI"/>
              </a:defRPr>
            </a:pPr>
            <a:r>
              <a:t>·  LLM abstraction + provider fallback</a:t>
            </a:r>
          </a:p>
          <a:p>
            <a:pPr>
              <a:spcAft>
                <a:spcPts val="400"/>
              </a:spcAft>
              <a:defRPr sz="1000">
                <a:solidFill>
                  <a:srgbClr val="CBD5E1"/>
                </a:solidFill>
                <a:latin typeface="Segoe UI"/>
              </a:defRPr>
            </a:pPr>
            <a:r>
              <a:t>·  Citation logic + session auth</a:t>
            </a:r>
          </a:p>
        </p:txBody>
      </p:sp>
      <p:sp>
        <p:nvSpPr>
          <p:cNvPr id="16" name="Rounded Rectangle 15"/>
          <p:cNvSpPr/>
          <p:nvPr/>
        </p:nvSpPr>
        <p:spPr>
          <a:xfrm>
            <a:off x="6190488" y="1417320"/>
            <a:ext cx="2542032"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1417320"/>
            <a:ext cx="2542032"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95160" y="1600200"/>
            <a:ext cx="896112" cy="89611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8091A"/>
                </a:solidFill>
                <a:latin typeface="Segoe UI"/>
              </a:defRPr>
            </a:pPr>
            <a:r>
              <a:t>T3</a:t>
            </a:r>
          </a:p>
        </p:txBody>
      </p:sp>
      <p:sp>
        <p:nvSpPr>
          <p:cNvPr id="19" name="TextBox 18"/>
          <p:cNvSpPr txBox="1"/>
          <p:nvPr/>
        </p:nvSpPr>
        <p:spPr>
          <a:xfrm>
            <a:off x="6263640" y="2606040"/>
            <a:ext cx="2395728" cy="320040"/>
          </a:xfrm>
          <a:prstGeom prst="rect">
            <a:avLst/>
          </a:prstGeom>
          <a:noFill/>
        </p:spPr>
        <p:txBody>
          <a:bodyPr wrap="none">
            <a:spAutoFit/>
          </a:bodyPr>
          <a:lstStyle/>
          <a:p>
            <a:pPr algn="ctr">
              <a:defRPr sz="1150" b="1">
                <a:solidFill>
                  <a:srgbClr val="FFFFFF"/>
                </a:solidFill>
                <a:latin typeface="Segoe UI"/>
              </a:defRPr>
            </a:pPr>
            <a:r>
              <a:t>Data, RAG &amp; Engine</a:t>
            </a:r>
          </a:p>
        </p:txBody>
      </p:sp>
      <p:sp>
        <p:nvSpPr>
          <p:cNvPr id="20" name="TextBox 19"/>
          <p:cNvSpPr txBox="1"/>
          <p:nvPr/>
        </p:nvSpPr>
        <p:spPr>
          <a:xfrm>
            <a:off x="6300216" y="3017520"/>
            <a:ext cx="2322576" cy="2377440"/>
          </a:xfrm>
          <a:prstGeom prst="rect">
            <a:avLst/>
          </a:prstGeom>
          <a:noFill/>
        </p:spPr>
        <p:txBody>
          <a:bodyPr wrap="square" lIns="0" tIns="0" rIns="0" bIns="0">
            <a:spAutoFit/>
          </a:bodyPr>
          <a:lstStyle/>
          <a:p>
            <a:pPr>
              <a:spcAft>
                <a:spcPts val="400"/>
              </a:spcAft>
              <a:defRPr sz="1000">
                <a:solidFill>
                  <a:srgbClr val="CBD5E1"/>
                </a:solidFill>
                <a:latin typeface="Segoe UI"/>
              </a:defRPr>
            </a:pPr>
            <a:r>
              <a:t>·  Corpus ingestion &amp; chunking</a:t>
            </a:r>
          </a:p>
          <a:p>
            <a:pPr>
              <a:spcAft>
                <a:spcPts val="400"/>
              </a:spcAft>
              <a:defRPr sz="1000">
                <a:solidFill>
                  <a:srgbClr val="CBD5E1"/>
                </a:solidFill>
                <a:latin typeface="Segoe UI"/>
              </a:defRPr>
            </a:pPr>
            <a:r>
              <a:t>·  ChromaDB + BM25 + Rank Fusion (RRF)</a:t>
            </a:r>
          </a:p>
          <a:p>
            <a:pPr>
              <a:spcAft>
                <a:spcPts val="400"/>
              </a:spcAft>
              <a:defRPr sz="1000">
                <a:solidFill>
                  <a:srgbClr val="CBD5E1"/>
                </a:solidFill>
                <a:latin typeface="Segoe UI"/>
              </a:defRPr>
            </a:pPr>
            <a:r>
              <a:t>·  Case Schema contract (OWNER)</a:t>
            </a:r>
          </a:p>
          <a:p>
            <a:pPr>
              <a:spcAft>
                <a:spcPts val="400"/>
              </a:spcAft>
              <a:defRPr sz="1000">
                <a:solidFill>
                  <a:srgbClr val="CBD5E1"/>
                </a:solidFill>
                <a:latin typeface="Segoe UI"/>
              </a:defRPr>
            </a:pPr>
            <a:r>
              <a:t>·  Legal Saathi Engine: similarity</a:t>
            </a:r>
          </a:p>
          <a:p>
            <a:pPr>
              <a:spcAft>
                <a:spcPts val="400"/>
              </a:spcAft>
              <a:defRPr sz="1000">
                <a:solidFill>
                  <a:srgbClr val="CBD5E1"/>
                </a:solidFill>
                <a:latin typeface="Segoe UI"/>
              </a:defRPr>
            </a:pPr>
            <a:r>
              <a:t>·  Golden query evaluation set</a:t>
            </a:r>
          </a:p>
        </p:txBody>
      </p:sp>
      <p:sp>
        <p:nvSpPr>
          <p:cNvPr id="21" name="Rounded Rectangle 20"/>
          <p:cNvSpPr/>
          <p:nvPr/>
        </p:nvSpPr>
        <p:spPr>
          <a:xfrm>
            <a:off x="8897112" y="1417320"/>
            <a:ext cx="2542032"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7112" y="1417320"/>
            <a:ext cx="2542032"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701784" y="1600200"/>
            <a:ext cx="896112" cy="89611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8091A"/>
                </a:solidFill>
                <a:latin typeface="Segoe UI"/>
              </a:defRPr>
            </a:pPr>
            <a:r>
              <a:t>T4</a:t>
            </a:r>
          </a:p>
        </p:txBody>
      </p:sp>
      <p:sp>
        <p:nvSpPr>
          <p:cNvPr id="24" name="TextBox 23"/>
          <p:cNvSpPr txBox="1"/>
          <p:nvPr/>
        </p:nvSpPr>
        <p:spPr>
          <a:xfrm>
            <a:off x="8970264" y="2606040"/>
            <a:ext cx="2395728" cy="320040"/>
          </a:xfrm>
          <a:prstGeom prst="rect">
            <a:avLst/>
          </a:prstGeom>
          <a:noFill/>
        </p:spPr>
        <p:txBody>
          <a:bodyPr wrap="none">
            <a:spAutoFit/>
          </a:bodyPr>
          <a:lstStyle/>
          <a:p>
            <a:pPr algn="ctr">
              <a:defRPr sz="1150" b="1">
                <a:solidFill>
                  <a:srgbClr val="FFFFFF"/>
                </a:solidFill>
                <a:latin typeface="Segoe UI"/>
              </a:defRPr>
            </a:pPr>
            <a:r>
              <a:t>Voice, Actions &amp; DevOps</a:t>
            </a:r>
          </a:p>
        </p:txBody>
      </p:sp>
      <p:sp>
        <p:nvSpPr>
          <p:cNvPr id="25" name="TextBox 24"/>
          <p:cNvSpPr txBox="1"/>
          <p:nvPr/>
        </p:nvSpPr>
        <p:spPr>
          <a:xfrm>
            <a:off x="9006840" y="3017520"/>
            <a:ext cx="2322576" cy="2377440"/>
          </a:xfrm>
          <a:prstGeom prst="rect">
            <a:avLst/>
          </a:prstGeom>
          <a:noFill/>
        </p:spPr>
        <p:txBody>
          <a:bodyPr wrap="square" lIns="0" tIns="0" rIns="0" bIns="0">
            <a:spAutoFit/>
          </a:bodyPr>
          <a:lstStyle/>
          <a:p>
            <a:pPr>
              <a:spcAft>
                <a:spcPts val="400"/>
              </a:spcAft>
              <a:defRPr sz="1000">
                <a:solidFill>
                  <a:srgbClr val="CBD5E1"/>
                </a:solidFill>
                <a:latin typeface="Segoe UI"/>
              </a:defRPr>
            </a:pPr>
            <a:r>
              <a:t>·  Docker Compose + CI/CD pipeline</a:t>
            </a:r>
          </a:p>
          <a:p>
            <a:pPr>
              <a:spcAft>
                <a:spcPts val="400"/>
              </a:spcAft>
              <a:defRPr sz="1000">
                <a:solidFill>
                  <a:srgbClr val="CBD5E1"/>
                </a:solidFill>
                <a:latin typeface="Segoe UI"/>
              </a:defRPr>
            </a:pPr>
            <a:r>
              <a:t>·  Action Modules: Checklist / Notice / RTI</a:t>
            </a:r>
          </a:p>
          <a:p>
            <a:pPr>
              <a:spcAft>
                <a:spcPts val="400"/>
              </a:spcAft>
              <a:defRPr sz="1000">
                <a:solidFill>
                  <a:srgbClr val="CBD5E1"/>
                </a:solidFill>
                <a:latin typeface="Segoe UI"/>
              </a:defRPr>
            </a:pPr>
            <a:r>
              <a:t>·  Voice STT → pipeline → TTS</a:t>
            </a:r>
          </a:p>
          <a:p>
            <a:pPr>
              <a:spcAft>
                <a:spcPts val="400"/>
              </a:spcAft>
              <a:defRPr sz="1000">
                <a:solidFill>
                  <a:srgbClr val="CBD5E1"/>
                </a:solidFill>
                <a:latin typeface="Segoe UI"/>
              </a:defRPr>
            </a:pPr>
            <a:r>
              <a:t>·  E2E integration test suite</a:t>
            </a:r>
          </a:p>
          <a:p>
            <a:pPr>
              <a:spcAft>
                <a:spcPts val="400"/>
              </a:spcAft>
              <a:defRPr sz="1000">
                <a:solidFill>
                  <a:srgbClr val="CBD5E1"/>
                </a:solidFill>
                <a:latin typeface="Segoe UI"/>
              </a:defRPr>
            </a:pPr>
            <a:r>
              <a:t>·  Security audit &amp; PR gatekeeper</a:t>
            </a:r>
          </a:p>
        </p:txBody>
      </p:sp>
      <p:sp>
        <p:nvSpPr>
          <p:cNvPr id="26" name="Rounded Rectangle 25"/>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0B981"/>
                </a:solidFill>
                <a:latin typeface="Segoe UI"/>
              </a:rPr>
              <a:t>Each developer has a clear, non-overlapping ownership zone. No ambiguity about who owns what.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500"/>
                                  <p:tgtEl>
                                    <p:spTgt spid="6"/>
                                  </p:tgtEl>
                                </p:cBhvr>
                              </p:animEffect>
                            </p:childTnLst>
                          </p:cTn>
                        </p:par>
                      </p:childTnLst>
                    </p:cTn>
                  </p:par>
                  <p:par>
                    <p:cTn id="6" fill="hold">
                      <p:stCondLst>
                        <p:cond delay="0"/>
                      </p:stCondLst>
                      <p:childTnLst>
                        <p:par>
                          <p:cTn id="7" presetID="10" presetClass="entr" presetSubtype="0" fill="hold" nodeType="withEffect">
                            <p:stCondLst>
                              <p:cond delay="200"/>
                            </p:stCondLst>
                            <p:childTnLst>
                              <p:animEffect transition="in" filter="fade">
                                <p:cBhvr>
                                  <p:cTn id="8" dur="500"/>
                                  <p:tgtEl>
                                    <p:spTgt spid="11"/>
                                  </p:tgtEl>
                                </p:cBhvr>
                              </p:animEffect>
                            </p:childTnLst>
                          </p:cTn>
                        </p:par>
                      </p:childTnLst>
                    </p:cTn>
                  </p:par>
                  <p:par>
                    <p:cTn id="9" fill="hold">
                      <p:stCondLst>
                        <p:cond delay="0"/>
                      </p:stCondLst>
                      <p:childTnLst>
                        <p:par>
                          <p:cTn id="10" presetID="10" presetClass="entr" presetSubtype="0" fill="hold" nodeType="withEffect">
                            <p:stCondLst>
                              <p:cond delay="400"/>
                            </p:stCondLst>
                            <p:childTnLst>
                              <p:animEffect transition="in" filter="fade">
                                <p:cBhvr>
                                  <p:cTn id="11" dur="500"/>
                                  <p:tgtEl>
                                    <p:spTgt spid="16"/>
                                  </p:tgtEl>
                                </p:cBhvr>
                              </p:animEffect>
                            </p:childTnLst>
                          </p:cTn>
                        </p:par>
                      </p:childTnLst>
                    </p:cTn>
                  </p:par>
                  <p:par>
                    <p:cTn id="12" fill="hold">
                      <p:stCondLst>
                        <p:cond delay="0"/>
                      </p:stCondLst>
                      <p:childTnLst>
                        <p:par>
                          <p:cTn id="13" presetID="10" presetClass="entr" presetSubtype="0" fill="hold" nodeType="withEffect">
                            <p:stCondLst>
                              <p:cond delay="600"/>
                            </p:stCondLst>
                            <p:childTnLst>
                              <p:animEffect transition="in" filter="fade">
                                <p:cBhvr>
                                  <p:cTn id="14" dur="500"/>
                                  <p:tgtEl>
                                    <p:spTgt spid="21"/>
                                  </p:tgtEl>
                                </p:cBhvr>
                              </p:animEffect>
                            </p:childTnLst>
                          </p:cTn>
                        </p:par>
                      </p:childTnLst>
                    </p:cTn>
                  </p:par>
                </p:childTnLst>
              </p:cTn>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OWNERSHIP MATRIX</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Who owns what? One clean table.</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07</a:t>
            </a:r>
          </a:p>
        </p:txBody>
      </p:sp>
      <p:sp>
        <p:nvSpPr>
          <p:cNvPr id="6" name="Rounded Rectangle 5"/>
          <p:cNvSpPr/>
          <p:nvPr/>
        </p:nvSpPr>
        <p:spPr>
          <a:xfrm>
            <a:off x="777240" y="1417320"/>
            <a:ext cx="3291840" cy="347472"/>
          </a:xfrm>
          <a:prstGeom prst="roundRect">
            <a:avLst/>
          </a:prstGeom>
          <a:solidFill>
            <a:srgbClr val="1A1E42"/>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3291840" cy="347472"/>
          </a:xfrm>
          <a:prstGeom prst="rect">
            <a:avLst/>
          </a:prstGeom>
          <a:noFill/>
        </p:spPr>
        <p:txBody>
          <a:bodyPr wrap="none" anchor="ctr">
            <a:spAutoFit/>
          </a:bodyPr>
          <a:lstStyle/>
          <a:p>
            <a:pPr algn="ctr">
              <a:defRPr sz="1000" b="1">
                <a:solidFill>
                  <a:srgbClr val="94A3B8"/>
                </a:solidFill>
                <a:latin typeface="Segoe UI"/>
              </a:defRPr>
            </a:pPr>
            <a:r>
              <a:t>Domain</a:t>
            </a:r>
          </a:p>
        </p:txBody>
      </p:sp>
      <p:sp>
        <p:nvSpPr>
          <p:cNvPr id="8" name="Rounded Rectangle 7"/>
          <p:cNvSpPr/>
          <p:nvPr/>
        </p:nvSpPr>
        <p:spPr>
          <a:xfrm>
            <a:off x="4206240" y="1417320"/>
            <a:ext cx="1417320" cy="347472"/>
          </a:xfrm>
          <a:prstGeom prst="roundRect">
            <a:avLst/>
          </a:prstGeom>
          <a:solidFill>
            <a:srgbClr val="1A1E42"/>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417320"/>
            <a:ext cx="1417320" cy="347472"/>
          </a:xfrm>
          <a:prstGeom prst="rect">
            <a:avLst/>
          </a:prstGeom>
          <a:noFill/>
        </p:spPr>
        <p:txBody>
          <a:bodyPr wrap="none" anchor="ctr">
            <a:spAutoFit/>
          </a:bodyPr>
          <a:lstStyle/>
          <a:p>
            <a:pPr algn="ctr">
              <a:defRPr sz="1000" b="1">
                <a:solidFill>
                  <a:srgbClr val="22D3EE"/>
                </a:solidFill>
                <a:latin typeface="Segoe UI"/>
              </a:defRPr>
            </a:pPr>
            <a:r>
              <a:t>T1</a:t>
            </a:r>
          </a:p>
        </p:txBody>
      </p:sp>
      <p:sp>
        <p:nvSpPr>
          <p:cNvPr id="10" name="Rounded Rectangle 9"/>
          <p:cNvSpPr/>
          <p:nvPr/>
        </p:nvSpPr>
        <p:spPr>
          <a:xfrm>
            <a:off x="5760720" y="1417320"/>
            <a:ext cx="1417320" cy="347472"/>
          </a:xfrm>
          <a:prstGeom prst="roundRect">
            <a:avLst/>
          </a:prstGeom>
          <a:solidFill>
            <a:srgbClr val="1A1E42"/>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1417320"/>
            <a:ext cx="1417320" cy="347472"/>
          </a:xfrm>
          <a:prstGeom prst="rect">
            <a:avLst/>
          </a:prstGeom>
          <a:noFill/>
        </p:spPr>
        <p:txBody>
          <a:bodyPr wrap="none" anchor="ctr">
            <a:spAutoFit/>
          </a:bodyPr>
          <a:lstStyle/>
          <a:p>
            <a:pPr algn="ctr">
              <a:defRPr sz="1000" b="1">
                <a:solidFill>
                  <a:srgbClr val="10B981"/>
                </a:solidFill>
                <a:latin typeface="Segoe UI"/>
              </a:defRPr>
            </a:pPr>
            <a:r>
              <a:t>T2</a:t>
            </a:r>
          </a:p>
        </p:txBody>
      </p:sp>
      <p:sp>
        <p:nvSpPr>
          <p:cNvPr id="12" name="Rounded Rectangle 11"/>
          <p:cNvSpPr/>
          <p:nvPr/>
        </p:nvSpPr>
        <p:spPr>
          <a:xfrm>
            <a:off x="7315200" y="1417320"/>
            <a:ext cx="1417320" cy="347472"/>
          </a:xfrm>
          <a:prstGeom prst="roundRect">
            <a:avLst/>
          </a:prstGeom>
          <a:solidFill>
            <a:srgbClr val="1A1E42"/>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417320"/>
            <a:ext cx="1417320" cy="347472"/>
          </a:xfrm>
          <a:prstGeom prst="rect">
            <a:avLst/>
          </a:prstGeom>
          <a:noFill/>
        </p:spPr>
        <p:txBody>
          <a:bodyPr wrap="none" anchor="ctr">
            <a:spAutoFit/>
          </a:bodyPr>
          <a:lstStyle/>
          <a:p>
            <a:pPr algn="ctr">
              <a:defRPr sz="1000" b="1">
                <a:solidFill>
                  <a:srgbClr val="F59E0B"/>
                </a:solidFill>
                <a:latin typeface="Segoe UI"/>
              </a:defRPr>
            </a:pPr>
            <a:r>
              <a:t>T3</a:t>
            </a:r>
          </a:p>
        </p:txBody>
      </p:sp>
      <p:sp>
        <p:nvSpPr>
          <p:cNvPr id="14" name="Rounded Rectangle 13"/>
          <p:cNvSpPr/>
          <p:nvPr/>
        </p:nvSpPr>
        <p:spPr>
          <a:xfrm>
            <a:off x="8869680" y="1417320"/>
            <a:ext cx="1417320" cy="347472"/>
          </a:xfrm>
          <a:prstGeom prst="roundRect">
            <a:avLst/>
          </a:prstGeom>
          <a:solidFill>
            <a:srgbClr val="1A1E42"/>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1417320"/>
            <a:ext cx="1417320" cy="347472"/>
          </a:xfrm>
          <a:prstGeom prst="rect">
            <a:avLst/>
          </a:prstGeom>
          <a:noFill/>
        </p:spPr>
        <p:txBody>
          <a:bodyPr wrap="none" anchor="ctr">
            <a:spAutoFit/>
          </a:bodyPr>
          <a:lstStyle/>
          <a:p>
            <a:pPr algn="ctr">
              <a:defRPr sz="1000" b="1">
                <a:solidFill>
                  <a:srgbClr val="8B5CF6"/>
                </a:solidFill>
                <a:latin typeface="Segoe UI"/>
              </a:defRPr>
            </a:pPr>
            <a:r>
              <a:t>T4</a:t>
            </a:r>
          </a:p>
        </p:txBody>
      </p:sp>
      <p:sp>
        <p:nvSpPr>
          <p:cNvPr id="16" name="Rounded Rectangle 15"/>
          <p:cNvSpPr/>
          <p:nvPr/>
        </p:nvSpPr>
        <p:spPr>
          <a:xfrm>
            <a:off x="777240" y="1801368"/>
            <a:ext cx="329184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801368"/>
            <a:ext cx="3291840" cy="365760"/>
          </a:xfrm>
          <a:prstGeom prst="rect">
            <a:avLst/>
          </a:prstGeom>
          <a:noFill/>
        </p:spPr>
        <p:txBody>
          <a:bodyPr wrap="none" anchor="ctr">
            <a:spAutoFit/>
          </a:bodyPr>
          <a:lstStyle/>
          <a:p>
            <a:pPr algn="l">
              <a:defRPr sz="1000" b="0">
                <a:solidFill>
                  <a:srgbClr val="FFFFFF"/>
                </a:solidFill>
                <a:latin typeface="Segoe UI"/>
              </a:defRPr>
            </a:pPr>
            <a:r>
              <a:t>Frontend UI/UX</a:t>
            </a:r>
          </a:p>
        </p:txBody>
      </p:sp>
      <p:sp>
        <p:nvSpPr>
          <p:cNvPr id="18" name="Rounded Rectangle 17"/>
          <p:cNvSpPr/>
          <p:nvPr/>
        </p:nvSpPr>
        <p:spPr>
          <a:xfrm>
            <a:off x="4206240" y="1801368"/>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1801368"/>
            <a:ext cx="1417320" cy="365760"/>
          </a:xfrm>
          <a:prstGeom prst="rect">
            <a:avLst/>
          </a:prstGeom>
          <a:noFill/>
        </p:spPr>
        <p:txBody>
          <a:bodyPr wrap="none" anchor="ctr" lIns="0">
            <a:spAutoFit/>
          </a:bodyPr>
          <a:lstStyle/>
          <a:p>
            <a:pPr algn="ctr">
              <a:defRPr sz="950" b="1">
                <a:solidFill>
                  <a:srgbClr val="22D3EE"/>
                </a:solidFill>
                <a:latin typeface="Segoe UI"/>
              </a:defRPr>
            </a:pPr>
            <a:r>
              <a:t>LEAD</a:t>
            </a:r>
          </a:p>
        </p:txBody>
      </p:sp>
      <p:sp>
        <p:nvSpPr>
          <p:cNvPr id="20" name="Rounded Rectangle 19"/>
          <p:cNvSpPr/>
          <p:nvPr/>
        </p:nvSpPr>
        <p:spPr>
          <a:xfrm>
            <a:off x="5760720" y="1801368"/>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0" y="1801368"/>
            <a:ext cx="1417320" cy="365760"/>
          </a:xfrm>
          <a:prstGeom prst="rect">
            <a:avLst/>
          </a:prstGeom>
          <a:noFill/>
        </p:spPr>
        <p:txBody>
          <a:bodyPr wrap="none" anchor="ctr" lIns="0">
            <a:spAutoFit/>
          </a:bodyPr>
          <a:lstStyle/>
          <a:p>
            <a:pPr algn="ctr">
              <a:defRPr sz="950" b="0">
                <a:solidFill>
                  <a:srgbClr val="94A3B8"/>
                </a:solidFill>
                <a:latin typeface="Segoe UI"/>
              </a:defRPr>
            </a:pPr>
            <a:r>
              <a:t>Review</a:t>
            </a:r>
          </a:p>
        </p:txBody>
      </p:sp>
      <p:sp>
        <p:nvSpPr>
          <p:cNvPr id="22" name="Rounded Rectangle 21"/>
          <p:cNvSpPr/>
          <p:nvPr/>
        </p:nvSpPr>
        <p:spPr>
          <a:xfrm>
            <a:off x="7315200" y="1801368"/>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1801368"/>
            <a:ext cx="1417320" cy="365760"/>
          </a:xfrm>
          <a:prstGeom prst="rect">
            <a:avLst/>
          </a:prstGeom>
          <a:noFill/>
        </p:spPr>
        <p:txBody>
          <a:bodyPr wrap="none" anchor="ctr" lIns="0">
            <a:spAutoFit/>
          </a:bodyPr>
          <a:lstStyle/>
          <a:p>
            <a:pPr algn="ctr">
              <a:defRPr sz="950" b="0">
                <a:solidFill>
                  <a:srgbClr val="94A3B8"/>
                </a:solidFill>
                <a:latin typeface="Segoe UI"/>
              </a:defRPr>
            </a:pPr>
            <a:r>
              <a:t>—</a:t>
            </a:r>
          </a:p>
        </p:txBody>
      </p:sp>
      <p:sp>
        <p:nvSpPr>
          <p:cNvPr id="24" name="Rounded Rectangle 23"/>
          <p:cNvSpPr/>
          <p:nvPr/>
        </p:nvSpPr>
        <p:spPr>
          <a:xfrm>
            <a:off x="8869680" y="1801368"/>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0" y="1801368"/>
            <a:ext cx="1417320" cy="365760"/>
          </a:xfrm>
          <a:prstGeom prst="rect">
            <a:avLst/>
          </a:prstGeom>
          <a:noFill/>
        </p:spPr>
        <p:txBody>
          <a:bodyPr wrap="none" anchor="ctr" lIns="0">
            <a:spAutoFit/>
          </a:bodyPr>
          <a:lstStyle/>
          <a:p>
            <a:pPr algn="ctr">
              <a:defRPr sz="950" b="0">
                <a:solidFill>
                  <a:srgbClr val="94A3B8"/>
                </a:solidFill>
                <a:latin typeface="Segoe UI"/>
              </a:defRPr>
            </a:pPr>
            <a:r>
              <a:t>QA</a:t>
            </a:r>
          </a:p>
        </p:txBody>
      </p:sp>
      <p:sp>
        <p:nvSpPr>
          <p:cNvPr id="26" name="Rounded Rectangle 25"/>
          <p:cNvSpPr/>
          <p:nvPr/>
        </p:nvSpPr>
        <p:spPr>
          <a:xfrm>
            <a:off x="777240" y="2185416"/>
            <a:ext cx="329184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2185416"/>
            <a:ext cx="3291840" cy="365760"/>
          </a:xfrm>
          <a:prstGeom prst="rect">
            <a:avLst/>
          </a:prstGeom>
          <a:noFill/>
        </p:spPr>
        <p:txBody>
          <a:bodyPr wrap="none" anchor="ctr">
            <a:spAutoFit/>
          </a:bodyPr>
          <a:lstStyle/>
          <a:p>
            <a:pPr algn="l">
              <a:defRPr sz="1000" b="0">
                <a:solidFill>
                  <a:srgbClr val="FFFFFF"/>
                </a:solidFill>
                <a:latin typeface="Segoe UI"/>
              </a:defRPr>
            </a:pPr>
            <a:r>
              <a:t>API &amp; Orchestration</a:t>
            </a:r>
          </a:p>
        </p:txBody>
      </p:sp>
      <p:sp>
        <p:nvSpPr>
          <p:cNvPr id="28" name="Rounded Rectangle 27"/>
          <p:cNvSpPr/>
          <p:nvPr/>
        </p:nvSpPr>
        <p:spPr>
          <a:xfrm>
            <a:off x="4206240" y="2185416"/>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06240" y="2185416"/>
            <a:ext cx="1417320" cy="365760"/>
          </a:xfrm>
          <a:prstGeom prst="rect">
            <a:avLst/>
          </a:prstGeom>
          <a:noFill/>
        </p:spPr>
        <p:txBody>
          <a:bodyPr wrap="none" anchor="ctr" lIns="0">
            <a:spAutoFit/>
          </a:bodyPr>
          <a:lstStyle/>
          <a:p>
            <a:pPr algn="ctr">
              <a:defRPr sz="950" b="0">
                <a:solidFill>
                  <a:srgbClr val="94A3B8"/>
                </a:solidFill>
                <a:latin typeface="Segoe UI"/>
              </a:defRPr>
            </a:pPr>
            <a:r>
              <a:t>Client</a:t>
            </a:r>
          </a:p>
        </p:txBody>
      </p:sp>
      <p:sp>
        <p:nvSpPr>
          <p:cNvPr id="30" name="Rounded Rectangle 29"/>
          <p:cNvSpPr/>
          <p:nvPr/>
        </p:nvSpPr>
        <p:spPr>
          <a:xfrm>
            <a:off x="5760720" y="2185416"/>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720" y="2185416"/>
            <a:ext cx="1417320" cy="365760"/>
          </a:xfrm>
          <a:prstGeom prst="rect">
            <a:avLst/>
          </a:prstGeom>
          <a:noFill/>
        </p:spPr>
        <p:txBody>
          <a:bodyPr wrap="none" anchor="ctr" lIns="0">
            <a:spAutoFit/>
          </a:bodyPr>
          <a:lstStyle/>
          <a:p>
            <a:pPr algn="ctr">
              <a:defRPr sz="950" b="1">
                <a:solidFill>
                  <a:srgbClr val="10B981"/>
                </a:solidFill>
                <a:latin typeface="Segoe UI"/>
              </a:defRPr>
            </a:pPr>
            <a:r>
              <a:t>LEAD</a:t>
            </a:r>
          </a:p>
        </p:txBody>
      </p:sp>
      <p:sp>
        <p:nvSpPr>
          <p:cNvPr id="32" name="Rounded Rectangle 31"/>
          <p:cNvSpPr/>
          <p:nvPr/>
        </p:nvSpPr>
        <p:spPr>
          <a:xfrm>
            <a:off x="7315200" y="2185416"/>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0" y="2185416"/>
            <a:ext cx="1417320" cy="365760"/>
          </a:xfrm>
          <a:prstGeom prst="rect">
            <a:avLst/>
          </a:prstGeom>
          <a:noFill/>
        </p:spPr>
        <p:txBody>
          <a:bodyPr wrap="none" anchor="ctr" lIns="0">
            <a:spAutoFit/>
          </a:bodyPr>
          <a:lstStyle/>
          <a:p>
            <a:pPr algn="ctr">
              <a:defRPr sz="950" b="0">
                <a:solidFill>
                  <a:srgbClr val="94A3B8"/>
                </a:solidFill>
                <a:latin typeface="Segoe UI"/>
              </a:defRPr>
            </a:pPr>
            <a:r>
              <a:t>Service</a:t>
            </a:r>
          </a:p>
        </p:txBody>
      </p:sp>
      <p:sp>
        <p:nvSpPr>
          <p:cNvPr id="34" name="Rounded Rectangle 33"/>
          <p:cNvSpPr/>
          <p:nvPr/>
        </p:nvSpPr>
        <p:spPr>
          <a:xfrm>
            <a:off x="8869680" y="2185416"/>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0" y="2185416"/>
            <a:ext cx="1417320" cy="365760"/>
          </a:xfrm>
          <a:prstGeom prst="rect">
            <a:avLst/>
          </a:prstGeom>
          <a:noFill/>
        </p:spPr>
        <p:txBody>
          <a:bodyPr wrap="none" anchor="ctr" lIns="0">
            <a:spAutoFit/>
          </a:bodyPr>
          <a:lstStyle/>
          <a:p>
            <a:pPr algn="ctr">
              <a:defRPr sz="950" b="0">
                <a:solidFill>
                  <a:srgbClr val="94A3B8"/>
                </a:solidFill>
                <a:latin typeface="Segoe UI"/>
              </a:defRPr>
            </a:pPr>
            <a:r>
              <a:t>—</a:t>
            </a:r>
          </a:p>
        </p:txBody>
      </p:sp>
      <p:sp>
        <p:nvSpPr>
          <p:cNvPr id="36" name="Rounded Rectangle 35"/>
          <p:cNvSpPr/>
          <p:nvPr/>
        </p:nvSpPr>
        <p:spPr>
          <a:xfrm>
            <a:off x="777240" y="2569464"/>
            <a:ext cx="329184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2569464"/>
            <a:ext cx="3291840" cy="365760"/>
          </a:xfrm>
          <a:prstGeom prst="rect">
            <a:avLst/>
          </a:prstGeom>
          <a:noFill/>
        </p:spPr>
        <p:txBody>
          <a:bodyPr wrap="none" anchor="ctr">
            <a:spAutoFit/>
          </a:bodyPr>
          <a:lstStyle/>
          <a:p>
            <a:pPr algn="l">
              <a:defRPr sz="1000" b="0">
                <a:solidFill>
                  <a:srgbClr val="FFFFFF"/>
                </a:solidFill>
                <a:latin typeface="Segoe UI"/>
              </a:defRPr>
            </a:pPr>
            <a:r>
              <a:t>Hybrid RAG (Chroma+BM25)</a:t>
            </a:r>
          </a:p>
        </p:txBody>
      </p:sp>
      <p:sp>
        <p:nvSpPr>
          <p:cNvPr id="38" name="Rounded Rectangle 37"/>
          <p:cNvSpPr/>
          <p:nvPr/>
        </p:nvSpPr>
        <p:spPr>
          <a:xfrm>
            <a:off x="4206240" y="2569464"/>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2569464"/>
            <a:ext cx="1417320" cy="365760"/>
          </a:xfrm>
          <a:prstGeom prst="rect">
            <a:avLst/>
          </a:prstGeom>
          <a:noFill/>
        </p:spPr>
        <p:txBody>
          <a:bodyPr wrap="none" anchor="ctr" lIns="0">
            <a:spAutoFit/>
          </a:bodyPr>
          <a:lstStyle/>
          <a:p>
            <a:pPr algn="ctr">
              <a:defRPr sz="950" b="0">
                <a:solidFill>
                  <a:srgbClr val="94A3B8"/>
                </a:solidFill>
                <a:latin typeface="Segoe UI"/>
              </a:defRPr>
            </a:pPr>
            <a:r>
              <a:t>—</a:t>
            </a:r>
          </a:p>
        </p:txBody>
      </p:sp>
      <p:sp>
        <p:nvSpPr>
          <p:cNvPr id="40" name="Rounded Rectangle 39"/>
          <p:cNvSpPr/>
          <p:nvPr/>
        </p:nvSpPr>
        <p:spPr>
          <a:xfrm>
            <a:off x="5760720" y="2569464"/>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60720" y="2569464"/>
            <a:ext cx="1417320" cy="365760"/>
          </a:xfrm>
          <a:prstGeom prst="rect">
            <a:avLst/>
          </a:prstGeom>
          <a:noFill/>
        </p:spPr>
        <p:txBody>
          <a:bodyPr wrap="none" anchor="ctr" lIns="0">
            <a:spAutoFit/>
          </a:bodyPr>
          <a:lstStyle/>
          <a:p>
            <a:pPr algn="ctr">
              <a:defRPr sz="950" b="0">
                <a:solidFill>
                  <a:srgbClr val="94A3B8"/>
                </a:solidFill>
                <a:latin typeface="Segoe UI"/>
              </a:defRPr>
            </a:pPr>
            <a:r>
              <a:t>Consume</a:t>
            </a:r>
          </a:p>
        </p:txBody>
      </p:sp>
      <p:sp>
        <p:nvSpPr>
          <p:cNvPr id="42" name="Rounded Rectangle 41"/>
          <p:cNvSpPr/>
          <p:nvPr/>
        </p:nvSpPr>
        <p:spPr>
          <a:xfrm>
            <a:off x="7315200" y="2569464"/>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0" y="2569464"/>
            <a:ext cx="1417320" cy="365760"/>
          </a:xfrm>
          <a:prstGeom prst="rect">
            <a:avLst/>
          </a:prstGeom>
          <a:noFill/>
        </p:spPr>
        <p:txBody>
          <a:bodyPr wrap="none" anchor="ctr" lIns="0">
            <a:spAutoFit/>
          </a:bodyPr>
          <a:lstStyle/>
          <a:p>
            <a:pPr algn="ctr">
              <a:defRPr sz="950" b="1">
                <a:solidFill>
                  <a:srgbClr val="F59E0B"/>
                </a:solidFill>
                <a:latin typeface="Segoe UI"/>
              </a:defRPr>
            </a:pPr>
            <a:r>
              <a:t>LEAD</a:t>
            </a:r>
          </a:p>
        </p:txBody>
      </p:sp>
      <p:sp>
        <p:nvSpPr>
          <p:cNvPr id="44" name="Rounded Rectangle 43"/>
          <p:cNvSpPr/>
          <p:nvPr/>
        </p:nvSpPr>
        <p:spPr>
          <a:xfrm>
            <a:off x="8869680" y="2569464"/>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9680" y="2569464"/>
            <a:ext cx="1417320" cy="365760"/>
          </a:xfrm>
          <a:prstGeom prst="rect">
            <a:avLst/>
          </a:prstGeom>
          <a:noFill/>
        </p:spPr>
        <p:txBody>
          <a:bodyPr wrap="none" anchor="ctr" lIns="0">
            <a:spAutoFit/>
          </a:bodyPr>
          <a:lstStyle/>
          <a:p>
            <a:pPr algn="ctr">
              <a:defRPr sz="950" b="0">
                <a:solidFill>
                  <a:srgbClr val="94A3B8"/>
                </a:solidFill>
                <a:latin typeface="Segoe UI"/>
              </a:defRPr>
            </a:pPr>
            <a:r>
              <a:t>—</a:t>
            </a:r>
          </a:p>
        </p:txBody>
      </p:sp>
      <p:sp>
        <p:nvSpPr>
          <p:cNvPr id="46" name="Rounded Rectangle 45"/>
          <p:cNvSpPr/>
          <p:nvPr/>
        </p:nvSpPr>
        <p:spPr>
          <a:xfrm>
            <a:off x="777240" y="2953512"/>
            <a:ext cx="329184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2953512"/>
            <a:ext cx="3291840" cy="365760"/>
          </a:xfrm>
          <a:prstGeom prst="rect">
            <a:avLst/>
          </a:prstGeom>
          <a:noFill/>
        </p:spPr>
        <p:txBody>
          <a:bodyPr wrap="none" anchor="ctr">
            <a:spAutoFit/>
          </a:bodyPr>
          <a:lstStyle/>
          <a:p>
            <a:pPr algn="l">
              <a:defRPr sz="1000" b="0">
                <a:solidFill>
                  <a:srgbClr val="FFFFFF"/>
                </a:solidFill>
                <a:latin typeface="Segoe UI"/>
              </a:defRPr>
            </a:pPr>
            <a:r>
              <a:t>Case Schema Contract</a:t>
            </a:r>
          </a:p>
        </p:txBody>
      </p:sp>
      <p:sp>
        <p:nvSpPr>
          <p:cNvPr id="48" name="Rounded Rectangle 47"/>
          <p:cNvSpPr/>
          <p:nvPr/>
        </p:nvSpPr>
        <p:spPr>
          <a:xfrm>
            <a:off x="4206240" y="2953512"/>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06240" y="2953512"/>
            <a:ext cx="1417320" cy="365760"/>
          </a:xfrm>
          <a:prstGeom prst="rect">
            <a:avLst/>
          </a:prstGeom>
          <a:noFill/>
        </p:spPr>
        <p:txBody>
          <a:bodyPr wrap="none" anchor="ctr" lIns="0">
            <a:spAutoFit/>
          </a:bodyPr>
          <a:lstStyle/>
          <a:p>
            <a:pPr algn="ctr">
              <a:defRPr sz="950" b="0">
                <a:solidFill>
                  <a:srgbClr val="94A3B8"/>
                </a:solidFill>
                <a:latin typeface="Segoe UI"/>
              </a:defRPr>
            </a:pPr>
            <a:r>
              <a:t>Types</a:t>
            </a:r>
          </a:p>
        </p:txBody>
      </p:sp>
      <p:sp>
        <p:nvSpPr>
          <p:cNvPr id="50" name="Rounded Rectangle 49"/>
          <p:cNvSpPr/>
          <p:nvPr/>
        </p:nvSpPr>
        <p:spPr>
          <a:xfrm>
            <a:off x="5760720" y="2953512"/>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60720" y="2953512"/>
            <a:ext cx="1417320" cy="365760"/>
          </a:xfrm>
          <a:prstGeom prst="rect">
            <a:avLst/>
          </a:prstGeom>
          <a:noFill/>
        </p:spPr>
        <p:txBody>
          <a:bodyPr wrap="none" anchor="ctr" lIns="0">
            <a:spAutoFit/>
          </a:bodyPr>
          <a:lstStyle/>
          <a:p>
            <a:pPr algn="ctr">
              <a:defRPr sz="950" b="0">
                <a:solidFill>
                  <a:srgbClr val="94A3B8"/>
                </a:solidFill>
                <a:latin typeface="Segoe UI"/>
              </a:defRPr>
            </a:pPr>
            <a:r>
              <a:t>Model</a:t>
            </a:r>
          </a:p>
        </p:txBody>
      </p:sp>
      <p:sp>
        <p:nvSpPr>
          <p:cNvPr id="52" name="Rounded Rectangle 51"/>
          <p:cNvSpPr/>
          <p:nvPr/>
        </p:nvSpPr>
        <p:spPr>
          <a:xfrm>
            <a:off x="7315200" y="2953512"/>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0" y="2953512"/>
            <a:ext cx="1417320" cy="365760"/>
          </a:xfrm>
          <a:prstGeom prst="rect">
            <a:avLst/>
          </a:prstGeom>
          <a:noFill/>
        </p:spPr>
        <p:txBody>
          <a:bodyPr wrap="none" anchor="ctr" lIns="0">
            <a:spAutoFit/>
          </a:bodyPr>
          <a:lstStyle/>
          <a:p>
            <a:pPr algn="ctr">
              <a:defRPr sz="950" b="1">
                <a:solidFill>
                  <a:srgbClr val="F59E0B"/>
                </a:solidFill>
                <a:latin typeface="Segoe UI"/>
              </a:defRPr>
            </a:pPr>
            <a:r>
              <a:t>OWNER</a:t>
            </a:r>
          </a:p>
        </p:txBody>
      </p:sp>
      <p:sp>
        <p:nvSpPr>
          <p:cNvPr id="54" name="Rounded Rectangle 53"/>
          <p:cNvSpPr/>
          <p:nvPr/>
        </p:nvSpPr>
        <p:spPr>
          <a:xfrm>
            <a:off x="8869680" y="2953512"/>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69680" y="2953512"/>
            <a:ext cx="1417320" cy="365760"/>
          </a:xfrm>
          <a:prstGeom prst="rect">
            <a:avLst/>
          </a:prstGeom>
          <a:noFill/>
        </p:spPr>
        <p:txBody>
          <a:bodyPr wrap="none" anchor="ctr" lIns="0">
            <a:spAutoFit/>
          </a:bodyPr>
          <a:lstStyle/>
          <a:p>
            <a:pPr algn="ctr">
              <a:defRPr sz="950" b="0">
                <a:solidFill>
                  <a:srgbClr val="94A3B8"/>
                </a:solidFill>
                <a:latin typeface="Segoe UI"/>
              </a:defRPr>
            </a:pPr>
            <a:r>
              <a:t>Seed</a:t>
            </a:r>
          </a:p>
        </p:txBody>
      </p:sp>
      <p:sp>
        <p:nvSpPr>
          <p:cNvPr id="56" name="Rounded Rectangle 55"/>
          <p:cNvSpPr/>
          <p:nvPr/>
        </p:nvSpPr>
        <p:spPr>
          <a:xfrm>
            <a:off x="777240" y="3337560"/>
            <a:ext cx="329184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3337560"/>
            <a:ext cx="3291840" cy="365760"/>
          </a:xfrm>
          <a:prstGeom prst="rect">
            <a:avLst/>
          </a:prstGeom>
          <a:noFill/>
        </p:spPr>
        <p:txBody>
          <a:bodyPr wrap="none" anchor="ctr">
            <a:spAutoFit/>
          </a:bodyPr>
          <a:lstStyle/>
          <a:p>
            <a:pPr algn="l">
              <a:defRPr sz="1000" b="0">
                <a:solidFill>
                  <a:srgbClr val="FFFFFF"/>
                </a:solidFill>
                <a:latin typeface="Segoe UI"/>
              </a:defRPr>
            </a:pPr>
            <a:r>
              <a:t>Citation &amp; Trust Layer</a:t>
            </a:r>
          </a:p>
        </p:txBody>
      </p:sp>
      <p:sp>
        <p:nvSpPr>
          <p:cNvPr id="58" name="Rounded Rectangle 57"/>
          <p:cNvSpPr/>
          <p:nvPr/>
        </p:nvSpPr>
        <p:spPr>
          <a:xfrm>
            <a:off x="4206240" y="3337560"/>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06240" y="3337560"/>
            <a:ext cx="1417320" cy="365760"/>
          </a:xfrm>
          <a:prstGeom prst="rect">
            <a:avLst/>
          </a:prstGeom>
          <a:noFill/>
        </p:spPr>
        <p:txBody>
          <a:bodyPr wrap="none" anchor="ctr" lIns="0">
            <a:spAutoFit/>
          </a:bodyPr>
          <a:lstStyle/>
          <a:p>
            <a:pPr algn="ctr">
              <a:defRPr sz="950" b="0">
                <a:solidFill>
                  <a:srgbClr val="94A3B8"/>
                </a:solidFill>
                <a:latin typeface="Segoe UI"/>
              </a:defRPr>
            </a:pPr>
            <a:r>
              <a:t>Badge</a:t>
            </a:r>
          </a:p>
        </p:txBody>
      </p:sp>
      <p:sp>
        <p:nvSpPr>
          <p:cNvPr id="60" name="Rounded Rectangle 59"/>
          <p:cNvSpPr/>
          <p:nvPr/>
        </p:nvSpPr>
        <p:spPr>
          <a:xfrm>
            <a:off x="5760720" y="3337560"/>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760720" y="3337560"/>
            <a:ext cx="1417320" cy="365760"/>
          </a:xfrm>
          <a:prstGeom prst="rect">
            <a:avLst/>
          </a:prstGeom>
          <a:noFill/>
        </p:spPr>
        <p:txBody>
          <a:bodyPr wrap="none" anchor="ctr" lIns="0">
            <a:spAutoFit/>
          </a:bodyPr>
          <a:lstStyle/>
          <a:p>
            <a:pPr algn="ctr">
              <a:defRPr sz="950" b="1">
                <a:solidFill>
                  <a:srgbClr val="10B981"/>
                </a:solidFill>
                <a:latin typeface="Segoe UI"/>
              </a:defRPr>
            </a:pPr>
            <a:r>
              <a:t>LEAD</a:t>
            </a:r>
          </a:p>
        </p:txBody>
      </p:sp>
      <p:sp>
        <p:nvSpPr>
          <p:cNvPr id="62" name="Rounded Rectangle 61"/>
          <p:cNvSpPr/>
          <p:nvPr/>
        </p:nvSpPr>
        <p:spPr>
          <a:xfrm>
            <a:off x="7315200" y="3337560"/>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0" y="3337560"/>
            <a:ext cx="1417320" cy="365760"/>
          </a:xfrm>
          <a:prstGeom prst="rect">
            <a:avLst/>
          </a:prstGeom>
          <a:noFill/>
        </p:spPr>
        <p:txBody>
          <a:bodyPr wrap="none" anchor="ctr" lIns="0">
            <a:spAutoFit/>
          </a:bodyPr>
          <a:lstStyle/>
          <a:p>
            <a:pPr algn="ctr">
              <a:defRPr sz="950" b="0">
                <a:solidFill>
                  <a:srgbClr val="94A3B8"/>
                </a:solidFill>
                <a:latin typeface="Segoe UI"/>
              </a:defRPr>
            </a:pPr>
            <a:r>
              <a:t>Metadata</a:t>
            </a:r>
          </a:p>
        </p:txBody>
      </p:sp>
      <p:sp>
        <p:nvSpPr>
          <p:cNvPr id="64" name="Rounded Rectangle 63"/>
          <p:cNvSpPr/>
          <p:nvPr/>
        </p:nvSpPr>
        <p:spPr>
          <a:xfrm>
            <a:off x="8869680" y="3337560"/>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869680" y="3337560"/>
            <a:ext cx="1417320" cy="365760"/>
          </a:xfrm>
          <a:prstGeom prst="rect">
            <a:avLst/>
          </a:prstGeom>
          <a:noFill/>
        </p:spPr>
        <p:txBody>
          <a:bodyPr wrap="none" anchor="ctr" lIns="0">
            <a:spAutoFit/>
          </a:bodyPr>
          <a:lstStyle/>
          <a:p>
            <a:pPr algn="ctr">
              <a:defRPr sz="950" b="0">
                <a:solidFill>
                  <a:srgbClr val="94A3B8"/>
                </a:solidFill>
                <a:latin typeface="Segoe UI"/>
              </a:defRPr>
            </a:pPr>
            <a:r>
              <a:t>Review</a:t>
            </a:r>
          </a:p>
        </p:txBody>
      </p:sp>
      <p:sp>
        <p:nvSpPr>
          <p:cNvPr id="66" name="Rounded Rectangle 65"/>
          <p:cNvSpPr/>
          <p:nvPr/>
        </p:nvSpPr>
        <p:spPr>
          <a:xfrm>
            <a:off x="777240" y="3721608"/>
            <a:ext cx="329184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7240" y="3721608"/>
            <a:ext cx="3291840" cy="365760"/>
          </a:xfrm>
          <a:prstGeom prst="rect">
            <a:avLst/>
          </a:prstGeom>
          <a:noFill/>
        </p:spPr>
        <p:txBody>
          <a:bodyPr wrap="none" anchor="ctr">
            <a:spAutoFit/>
          </a:bodyPr>
          <a:lstStyle/>
          <a:p>
            <a:pPr algn="l">
              <a:defRPr sz="1000" b="0">
                <a:solidFill>
                  <a:srgbClr val="FFFFFF"/>
                </a:solidFill>
                <a:latin typeface="Segoe UI"/>
              </a:defRPr>
            </a:pPr>
            <a:r>
              <a:t>Legal Saathi Engine</a:t>
            </a:r>
          </a:p>
        </p:txBody>
      </p:sp>
      <p:sp>
        <p:nvSpPr>
          <p:cNvPr id="68" name="Rounded Rectangle 67"/>
          <p:cNvSpPr/>
          <p:nvPr/>
        </p:nvSpPr>
        <p:spPr>
          <a:xfrm>
            <a:off x="4206240" y="3721608"/>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06240" y="3721608"/>
            <a:ext cx="1417320" cy="365760"/>
          </a:xfrm>
          <a:prstGeom prst="rect">
            <a:avLst/>
          </a:prstGeom>
          <a:noFill/>
        </p:spPr>
        <p:txBody>
          <a:bodyPr wrap="none" anchor="ctr" lIns="0">
            <a:spAutoFit/>
          </a:bodyPr>
          <a:lstStyle/>
          <a:p>
            <a:pPr algn="ctr">
              <a:defRPr sz="950" b="0">
                <a:solidFill>
                  <a:srgbClr val="94A3B8"/>
                </a:solidFill>
                <a:latin typeface="Segoe UI"/>
              </a:defRPr>
            </a:pPr>
            <a:r>
              <a:t>UI</a:t>
            </a:r>
          </a:p>
        </p:txBody>
      </p:sp>
      <p:sp>
        <p:nvSpPr>
          <p:cNvPr id="70" name="Rounded Rectangle 69"/>
          <p:cNvSpPr/>
          <p:nvPr/>
        </p:nvSpPr>
        <p:spPr>
          <a:xfrm>
            <a:off x="5760720" y="3721608"/>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760720" y="3721608"/>
            <a:ext cx="1417320" cy="365760"/>
          </a:xfrm>
          <a:prstGeom prst="rect">
            <a:avLst/>
          </a:prstGeom>
          <a:noFill/>
        </p:spPr>
        <p:txBody>
          <a:bodyPr wrap="none" anchor="ctr" lIns="0">
            <a:spAutoFit/>
          </a:bodyPr>
          <a:lstStyle/>
          <a:p>
            <a:pPr algn="ctr">
              <a:defRPr sz="950" b="0">
                <a:solidFill>
                  <a:srgbClr val="94A3B8"/>
                </a:solidFill>
                <a:latin typeface="Segoe UI"/>
              </a:defRPr>
            </a:pPr>
            <a:r>
              <a:t>API</a:t>
            </a:r>
          </a:p>
        </p:txBody>
      </p:sp>
      <p:sp>
        <p:nvSpPr>
          <p:cNvPr id="72" name="Rounded Rectangle 71"/>
          <p:cNvSpPr/>
          <p:nvPr/>
        </p:nvSpPr>
        <p:spPr>
          <a:xfrm>
            <a:off x="7315200" y="3721608"/>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0" y="3721608"/>
            <a:ext cx="1417320" cy="365760"/>
          </a:xfrm>
          <a:prstGeom prst="rect">
            <a:avLst/>
          </a:prstGeom>
          <a:noFill/>
        </p:spPr>
        <p:txBody>
          <a:bodyPr wrap="none" anchor="ctr" lIns="0">
            <a:spAutoFit/>
          </a:bodyPr>
          <a:lstStyle/>
          <a:p>
            <a:pPr algn="ctr">
              <a:defRPr sz="950" b="1">
                <a:solidFill>
                  <a:srgbClr val="F59E0B"/>
                </a:solidFill>
                <a:latin typeface="Segoe UI"/>
              </a:defRPr>
            </a:pPr>
            <a:r>
              <a:t>LEAD</a:t>
            </a:r>
          </a:p>
        </p:txBody>
      </p:sp>
      <p:sp>
        <p:nvSpPr>
          <p:cNvPr id="74" name="Rounded Rectangle 73"/>
          <p:cNvSpPr/>
          <p:nvPr/>
        </p:nvSpPr>
        <p:spPr>
          <a:xfrm>
            <a:off x="8869680" y="3721608"/>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869680" y="3721608"/>
            <a:ext cx="1417320" cy="365760"/>
          </a:xfrm>
          <a:prstGeom prst="rect">
            <a:avLst/>
          </a:prstGeom>
          <a:noFill/>
        </p:spPr>
        <p:txBody>
          <a:bodyPr wrap="none" anchor="ctr" lIns="0">
            <a:spAutoFit/>
          </a:bodyPr>
          <a:lstStyle/>
          <a:p>
            <a:pPr algn="ctr">
              <a:defRPr sz="950" b="0">
                <a:solidFill>
                  <a:srgbClr val="94A3B8"/>
                </a:solidFill>
                <a:latin typeface="Segoe UI"/>
              </a:defRPr>
            </a:pPr>
            <a:r>
              <a:t>Privacy</a:t>
            </a:r>
          </a:p>
        </p:txBody>
      </p:sp>
      <p:sp>
        <p:nvSpPr>
          <p:cNvPr id="76" name="Rounded Rectangle 75"/>
          <p:cNvSpPr/>
          <p:nvPr/>
        </p:nvSpPr>
        <p:spPr>
          <a:xfrm>
            <a:off x="777240" y="4105656"/>
            <a:ext cx="329184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7240" y="4105656"/>
            <a:ext cx="3291840" cy="365760"/>
          </a:xfrm>
          <a:prstGeom prst="rect">
            <a:avLst/>
          </a:prstGeom>
          <a:noFill/>
        </p:spPr>
        <p:txBody>
          <a:bodyPr wrap="none" anchor="ctr">
            <a:spAutoFit/>
          </a:bodyPr>
          <a:lstStyle/>
          <a:p>
            <a:pPr algn="l">
              <a:defRPr sz="1000" b="0">
                <a:solidFill>
                  <a:srgbClr val="FFFFFF"/>
                </a:solidFill>
                <a:latin typeface="Segoe UI"/>
              </a:defRPr>
            </a:pPr>
            <a:r>
              <a:t>Action Modules</a:t>
            </a:r>
          </a:p>
        </p:txBody>
      </p:sp>
      <p:sp>
        <p:nvSpPr>
          <p:cNvPr id="78" name="Rounded Rectangle 77"/>
          <p:cNvSpPr/>
          <p:nvPr/>
        </p:nvSpPr>
        <p:spPr>
          <a:xfrm>
            <a:off x="4206240" y="4105656"/>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06240" y="4105656"/>
            <a:ext cx="1417320" cy="365760"/>
          </a:xfrm>
          <a:prstGeom prst="rect">
            <a:avLst/>
          </a:prstGeom>
          <a:noFill/>
        </p:spPr>
        <p:txBody>
          <a:bodyPr wrap="none" anchor="ctr" lIns="0">
            <a:spAutoFit/>
          </a:bodyPr>
          <a:lstStyle/>
          <a:p>
            <a:pPr algn="ctr">
              <a:defRPr sz="950" b="0">
                <a:solidFill>
                  <a:srgbClr val="94A3B8"/>
                </a:solidFill>
                <a:latin typeface="Segoe UI"/>
              </a:defRPr>
            </a:pPr>
            <a:r>
              <a:t>Forms</a:t>
            </a:r>
          </a:p>
        </p:txBody>
      </p:sp>
      <p:sp>
        <p:nvSpPr>
          <p:cNvPr id="80" name="Rounded Rectangle 79"/>
          <p:cNvSpPr/>
          <p:nvPr/>
        </p:nvSpPr>
        <p:spPr>
          <a:xfrm>
            <a:off x="5760720" y="4105656"/>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760720" y="4105656"/>
            <a:ext cx="1417320" cy="365760"/>
          </a:xfrm>
          <a:prstGeom prst="rect">
            <a:avLst/>
          </a:prstGeom>
          <a:noFill/>
        </p:spPr>
        <p:txBody>
          <a:bodyPr wrap="none" anchor="ctr" lIns="0">
            <a:spAutoFit/>
          </a:bodyPr>
          <a:lstStyle/>
          <a:p>
            <a:pPr algn="ctr">
              <a:defRPr sz="950" b="0">
                <a:solidFill>
                  <a:srgbClr val="94A3B8"/>
                </a:solidFill>
                <a:latin typeface="Segoe UI"/>
              </a:defRPr>
            </a:pPr>
            <a:r>
              <a:t>API</a:t>
            </a:r>
          </a:p>
        </p:txBody>
      </p:sp>
      <p:sp>
        <p:nvSpPr>
          <p:cNvPr id="82" name="Rounded Rectangle 81"/>
          <p:cNvSpPr/>
          <p:nvPr/>
        </p:nvSpPr>
        <p:spPr>
          <a:xfrm>
            <a:off x="7315200" y="4105656"/>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315200" y="4105656"/>
            <a:ext cx="1417320" cy="365760"/>
          </a:xfrm>
          <a:prstGeom prst="rect">
            <a:avLst/>
          </a:prstGeom>
          <a:noFill/>
        </p:spPr>
        <p:txBody>
          <a:bodyPr wrap="none" anchor="ctr" lIns="0">
            <a:spAutoFit/>
          </a:bodyPr>
          <a:lstStyle/>
          <a:p>
            <a:pPr algn="ctr">
              <a:defRPr sz="950" b="0">
                <a:solidFill>
                  <a:srgbClr val="94A3B8"/>
                </a:solidFill>
                <a:latin typeface="Segoe UI"/>
              </a:defRPr>
            </a:pPr>
            <a:r>
              <a:t>Taxonomy</a:t>
            </a:r>
          </a:p>
        </p:txBody>
      </p:sp>
      <p:sp>
        <p:nvSpPr>
          <p:cNvPr id="84" name="Rounded Rectangle 83"/>
          <p:cNvSpPr/>
          <p:nvPr/>
        </p:nvSpPr>
        <p:spPr>
          <a:xfrm>
            <a:off x="8869680" y="4105656"/>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869680" y="4105656"/>
            <a:ext cx="1417320" cy="365760"/>
          </a:xfrm>
          <a:prstGeom prst="rect">
            <a:avLst/>
          </a:prstGeom>
          <a:noFill/>
        </p:spPr>
        <p:txBody>
          <a:bodyPr wrap="none" anchor="ctr" lIns="0">
            <a:spAutoFit/>
          </a:bodyPr>
          <a:lstStyle/>
          <a:p>
            <a:pPr algn="ctr">
              <a:defRPr sz="950" b="1">
                <a:solidFill>
                  <a:srgbClr val="8B5CF6"/>
                </a:solidFill>
                <a:latin typeface="Segoe UI"/>
              </a:defRPr>
            </a:pPr>
            <a:r>
              <a:t>LEAD</a:t>
            </a:r>
          </a:p>
        </p:txBody>
      </p:sp>
      <p:sp>
        <p:nvSpPr>
          <p:cNvPr id="86" name="Rounded Rectangle 85"/>
          <p:cNvSpPr/>
          <p:nvPr/>
        </p:nvSpPr>
        <p:spPr>
          <a:xfrm>
            <a:off x="777240" y="4489704"/>
            <a:ext cx="329184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77240" y="4489704"/>
            <a:ext cx="3291840" cy="365760"/>
          </a:xfrm>
          <a:prstGeom prst="rect">
            <a:avLst/>
          </a:prstGeom>
          <a:noFill/>
        </p:spPr>
        <p:txBody>
          <a:bodyPr wrap="none" anchor="ctr">
            <a:spAutoFit/>
          </a:bodyPr>
          <a:lstStyle/>
          <a:p>
            <a:pPr algn="l">
              <a:defRPr sz="1000" b="0">
                <a:solidFill>
                  <a:srgbClr val="FFFFFF"/>
                </a:solidFill>
                <a:latin typeface="Segoe UI"/>
              </a:defRPr>
            </a:pPr>
            <a:r>
              <a:t>Voice (STT / TTS)</a:t>
            </a:r>
          </a:p>
        </p:txBody>
      </p:sp>
      <p:sp>
        <p:nvSpPr>
          <p:cNvPr id="88" name="Rounded Rectangle 87"/>
          <p:cNvSpPr/>
          <p:nvPr/>
        </p:nvSpPr>
        <p:spPr>
          <a:xfrm>
            <a:off x="4206240" y="4489704"/>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06240" y="4489704"/>
            <a:ext cx="1417320" cy="365760"/>
          </a:xfrm>
          <a:prstGeom prst="rect">
            <a:avLst/>
          </a:prstGeom>
          <a:noFill/>
        </p:spPr>
        <p:txBody>
          <a:bodyPr wrap="none" anchor="ctr" lIns="0">
            <a:spAutoFit/>
          </a:bodyPr>
          <a:lstStyle/>
          <a:p>
            <a:pPr algn="ctr">
              <a:defRPr sz="950" b="0">
                <a:solidFill>
                  <a:srgbClr val="94A3B8"/>
                </a:solidFill>
                <a:latin typeface="Segoe UI"/>
              </a:defRPr>
            </a:pPr>
            <a:r>
              <a:t>Audio</a:t>
            </a:r>
          </a:p>
        </p:txBody>
      </p:sp>
      <p:sp>
        <p:nvSpPr>
          <p:cNvPr id="90" name="Rounded Rectangle 89"/>
          <p:cNvSpPr/>
          <p:nvPr/>
        </p:nvSpPr>
        <p:spPr>
          <a:xfrm>
            <a:off x="5760720" y="4489704"/>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60720" y="4489704"/>
            <a:ext cx="1417320" cy="365760"/>
          </a:xfrm>
          <a:prstGeom prst="rect">
            <a:avLst/>
          </a:prstGeom>
          <a:noFill/>
        </p:spPr>
        <p:txBody>
          <a:bodyPr wrap="none" anchor="ctr" lIns="0">
            <a:spAutoFit/>
          </a:bodyPr>
          <a:lstStyle/>
          <a:p>
            <a:pPr algn="ctr">
              <a:defRPr sz="950" b="0">
                <a:solidFill>
                  <a:srgbClr val="94A3B8"/>
                </a:solidFill>
                <a:latin typeface="Segoe UI"/>
              </a:defRPr>
            </a:pPr>
            <a:r>
              <a:t>Hooks</a:t>
            </a:r>
          </a:p>
        </p:txBody>
      </p:sp>
      <p:sp>
        <p:nvSpPr>
          <p:cNvPr id="92" name="Rounded Rectangle 91"/>
          <p:cNvSpPr/>
          <p:nvPr/>
        </p:nvSpPr>
        <p:spPr>
          <a:xfrm>
            <a:off x="7315200" y="4489704"/>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15200" y="4489704"/>
            <a:ext cx="1417320" cy="365760"/>
          </a:xfrm>
          <a:prstGeom prst="rect">
            <a:avLst/>
          </a:prstGeom>
          <a:noFill/>
        </p:spPr>
        <p:txBody>
          <a:bodyPr wrap="none" anchor="ctr" lIns="0">
            <a:spAutoFit/>
          </a:bodyPr>
          <a:lstStyle/>
          <a:p>
            <a:pPr algn="ctr">
              <a:defRPr sz="950" b="0">
                <a:solidFill>
                  <a:srgbClr val="94A3B8"/>
                </a:solidFill>
                <a:latin typeface="Segoe UI"/>
              </a:defRPr>
            </a:pPr>
            <a:r>
              <a:t>—</a:t>
            </a:r>
          </a:p>
        </p:txBody>
      </p:sp>
      <p:sp>
        <p:nvSpPr>
          <p:cNvPr id="94" name="Rounded Rectangle 93"/>
          <p:cNvSpPr/>
          <p:nvPr/>
        </p:nvSpPr>
        <p:spPr>
          <a:xfrm>
            <a:off x="8869680" y="4489704"/>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869680" y="4489704"/>
            <a:ext cx="1417320" cy="365760"/>
          </a:xfrm>
          <a:prstGeom prst="rect">
            <a:avLst/>
          </a:prstGeom>
          <a:noFill/>
        </p:spPr>
        <p:txBody>
          <a:bodyPr wrap="none" anchor="ctr" lIns="0">
            <a:spAutoFit/>
          </a:bodyPr>
          <a:lstStyle/>
          <a:p>
            <a:pPr algn="ctr">
              <a:defRPr sz="950" b="1">
                <a:solidFill>
                  <a:srgbClr val="8B5CF6"/>
                </a:solidFill>
                <a:latin typeface="Segoe UI"/>
              </a:defRPr>
            </a:pPr>
            <a:r>
              <a:t>LEAD</a:t>
            </a:r>
          </a:p>
        </p:txBody>
      </p:sp>
      <p:sp>
        <p:nvSpPr>
          <p:cNvPr id="96" name="Rounded Rectangle 95"/>
          <p:cNvSpPr/>
          <p:nvPr/>
        </p:nvSpPr>
        <p:spPr>
          <a:xfrm>
            <a:off x="777240" y="4873752"/>
            <a:ext cx="329184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77240" y="4873752"/>
            <a:ext cx="3291840" cy="365760"/>
          </a:xfrm>
          <a:prstGeom prst="rect">
            <a:avLst/>
          </a:prstGeom>
          <a:noFill/>
        </p:spPr>
        <p:txBody>
          <a:bodyPr wrap="none" anchor="ctr">
            <a:spAutoFit/>
          </a:bodyPr>
          <a:lstStyle/>
          <a:p>
            <a:pPr algn="l">
              <a:defRPr sz="1000" b="0">
                <a:solidFill>
                  <a:srgbClr val="FFFFFF"/>
                </a:solidFill>
                <a:latin typeface="Segoe UI"/>
              </a:defRPr>
            </a:pPr>
            <a:r>
              <a:t>Docker / CI/CD</a:t>
            </a:r>
          </a:p>
        </p:txBody>
      </p:sp>
      <p:sp>
        <p:nvSpPr>
          <p:cNvPr id="98" name="Rounded Rectangle 97"/>
          <p:cNvSpPr/>
          <p:nvPr/>
        </p:nvSpPr>
        <p:spPr>
          <a:xfrm>
            <a:off x="4206240" y="4873752"/>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206240" y="4873752"/>
            <a:ext cx="1417320" cy="365760"/>
          </a:xfrm>
          <a:prstGeom prst="rect">
            <a:avLst/>
          </a:prstGeom>
          <a:noFill/>
        </p:spPr>
        <p:txBody>
          <a:bodyPr wrap="none" anchor="ctr" lIns="0">
            <a:spAutoFit/>
          </a:bodyPr>
          <a:lstStyle/>
          <a:p>
            <a:pPr algn="ctr">
              <a:defRPr sz="950" b="0">
                <a:solidFill>
                  <a:srgbClr val="94A3B8"/>
                </a:solidFill>
                <a:latin typeface="Segoe UI"/>
              </a:defRPr>
            </a:pPr>
            <a:r>
              <a:t>—</a:t>
            </a:r>
          </a:p>
        </p:txBody>
      </p:sp>
      <p:sp>
        <p:nvSpPr>
          <p:cNvPr id="100" name="Rounded Rectangle 99"/>
          <p:cNvSpPr/>
          <p:nvPr/>
        </p:nvSpPr>
        <p:spPr>
          <a:xfrm>
            <a:off x="5760720" y="4873752"/>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760720" y="4873752"/>
            <a:ext cx="1417320" cy="365760"/>
          </a:xfrm>
          <a:prstGeom prst="rect">
            <a:avLst/>
          </a:prstGeom>
          <a:noFill/>
        </p:spPr>
        <p:txBody>
          <a:bodyPr wrap="none" anchor="ctr" lIns="0">
            <a:spAutoFit/>
          </a:bodyPr>
          <a:lstStyle/>
          <a:p>
            <a:pPr algn="ctr">
              <a:defRPr sz="950" b="0">
                <a:solidFill>
                  <a:srgbClr val="94A3B8"/>
                </a:solidFill>
                <a:latin typeface="Segoe UI"/>
              </a:defRPr>
            </a:pPr>
            <a:r>
              <a:t>Package</a:t>
            </a:r>
          </a:p>
        </p:txBody>
      </p:sp>
      <p:sp>
        <p:nvSpPr>
          <p:cNvPr id="102" name="Rounded Rectangle 101"/>
          <p:cNvSpPr/>
          <p:nvPr/>
        </p:nvSpPr>
        <p:spPr>
          <a:xfrm>
            <a:off x="7315200" y="4873752"/>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315200" y="4873752"/>
            <a:ext cx="1417320" cy="365760"/>
          </a:xfrm>
          <a:prstGeom prst="rect">
            <a:avLst/>
          </a:prstGeom>
          <a:noFill/>
        </p:spPr>
        <p:txBody>
          <a:bodyPr wrap="none" anchor="ctr" lIns="0">
            <a:spAutoFit/>
          </a:bodyPr>
          <a:lstStyle/>
          <a:p>
            <a:pPr algn="ctr">
              <a:defRPr sz="950" b="0">
                <a:solidFill>
                  <a:srgbClr val="94A3B8"/>
                </a:solidFill>
                <a:latin typeface="Segoe UI"/>
              </a:defRPr>
            </a:pPr>
            <a:r>
              <a:t>Volume</a:t>
            </a:r>
          </a:p>
        </p:txBody>
      </p:sp>
      <p:sp>
        <p:nvSpPr>
          <p:cNvPr id="104" name="Rounded Rectangle 103"/>
          <p:cNvSpPr/>
          <p:nvPr/>
        </p:nvSpPr>
        <p:spPr>
          <a:xfrm>
            <a:off x="8869680" y="4873752"/>
            <a:ext cx="1417320" cy="36576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869680" y="4873752"/>
            <a:ext cx="1417320" cy="365760"/>
          </a:xfrm>
          <a:prstGeom prst="rect">
            <a:avLst/>
          </a:prstGeom>
          <a:noFill/>
        </p:spPr>
        <p:txBody>
          <a:bodyPr wrap="none" anchor="ctr" lIns="0">
            <a:spAutoFit/>
          </a:bodyPr>
          <a:lstStyle/>
          <a:p>
            <a:pPr algn="ctr">
              <a:defRPr sz="950" b="1">
                <a:solidFill>
                  <a:srgbClr val="8B5CF6"/>
                </a:solidFill>
                <a:latin typeface="Segoe UI"/>
              </a:defRPr>
            </a:pPr>
            <a:r>
              <a:t>LEAD</a:t>
            </a:r>
          </a:p>
        </p:txBody>
      </p:sp>
      <p:sp>
        <p:nvSpPr>
          <p:cNvPr id="106" name="Rounded Rectangle 105"/>
          <p:cNvSpPr/>
          <p:nvPr/>
        </p:nvSpPr>
        <p:spPr>
          <a:xfrm>
            <a:off x="777240" y="5257800"/>
            <a:ext cx="329184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77240" y="5257800"/>
            <a:ext cx="3291840" cy="365760"/>
          </a:xfrm>
          <a:prstGeom prst="rect">
            <a:avLst/>
          </a:prstGeom>
          <a:noFill/>
        </p:spPr>
        <p:txBody>
          <a:bodyPr wrap="none" anchor="ctr">
            <a:spAutoFit/>
          </a:bodyPr>
          <a:lstStyle/>
          <a:p>
            <a:pPr algn="l">
              <a:defRPr sz="1000" b="0">
                <a:solidFill>
                  <a:srgbClr val="FFFFFF"/>
                </a:solidFill>
                <a:latin typeface="Segoe UI"/>
              </a:defRPr>
            </a:pPr>
            <a:r>
              <a:t>E2E &amp; Security Testing</a:t>
            </a:r>
          </a:p>
        </p:txBody>
      </p:sp>
      <p:sp>
        <p:nvSpPr>
          <p:cNvPr id="108" name="Rounded Rectangle 107"/>
          <p:cNvSpPr/>
          <p:nvPr/>
        </p:nvSpPr>
        <p:spPr>
          <a:xfrm>
            <a:off x="4206240" y="5257800"/>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206240" y="5257800"/>
            <a:ext cx="1417320" cy="365760"/>
          </a:xfrm>
          <a:prstGeom prst="rect">
            <a:avLst/>
          </a:prstGeom>
          <a:noFill/>
        </p:spPr>
        <p:txBody>
          <a:bodyPr wrap="none" anchor="ctr" lIns="0">
            <a:spAutoFit/>
          </a:bodyPr>
          <a:lstStyle/>
          <a:p>
            <a:pPr algn="ctr">
              <a:defRPr sz="950" b="0">
                <a:solidFill>
                  <a:srgbClr val="94A3B8"/>
                </a:solidFill>
                <a:latin typeface="Segoe UI"/>
              </a:defRPr>
            </a:pPr>
            <a:r>
              <a:t>FE Test</a:t>
            </a:r>
          </a:p>
        </p:txBody>
      </p:sp>
      <p:sp>
        <p:nvSpPr>
          <p:cNvPr id="110" name="Rounded Rectangle 109"/>
          <p:cNvSpPr/>
          <p:nvPr/>
        </p:nvSpPr>
        <p:spPr>
          <a:xfrm>
            <a:off x="5760720" y="5257800"/>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760720" y="5257800"/>
            <a:ext cx="1417320" cy="365760"/>
          </a:xfrm>
          <a:prstGeom prst="rect">
            <a:avLst/>
          </a:prstGeom>
          <a:noFill/>
        </p:spPr>
        <p:txBody>
          <a:bodyPr wrap="none" anchor="ctr" lIns="0">
            <a:spAutoFit/>
          </a:bodyPr>
          <a:lstStyle/>
          <a:p>
            <a:pPr algn="ctr">
              <a:defRPr sz="950" b="0">
                <a:solidFill>
                  <a:srgbClr val="94A3B8"/>
                </a:solidFill>
                <a:latin typeface="Segoe UI"/>
              </a:defRPr>
            </a:pPr>
            <a:r>
              <a:t>BE Test</a:t>
            </a:r>
          </a:p>
        </p:txBody>
      </p:sp>
      <p:sp>
        <p:nvSpPr>
          <p:cNvPr id="112" name="Rounded Rectangle 111"/>
          <p:cNvSpPr/>
          <p:nvPr/>
        </p:nvSpPr>
        <p:spPr>
          <a:xfrm>
            <a:off x="7315200" y="5257800"/>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315200" y="5257800"/>
            <a:ext cx="1417320" cy="365760"/>
          </a:xfrm>
          <a:prstGeom prst="rect">
            <a:avLst/>
          </a:prstGeom>
          <a:noFill/>
        </p:spPr>
        <p:txBody>
          <a:bodyPr wrap="none" anchor="ctr" lIns="0">
            <a:spAutoFit/>
          </a:bodyPr>
          <a:lstStyle/>
          <a:p>
            <a:pPr algn="ctr">
              <a:defRPr sz="950" b="0">
                <a:solidFill>
                  <a:srgbClr val="94A3B8"/>
                </a:solidFill>
                <a:latin typeface="Segoe UI"/>
              </a:defRPr>
            </a:pPr>
            <a:r>
              <a:t>RAG Test</a:t>
            </a:r>
          </a:p>
        </p:txBody>
      </p:sp>
      <p:sp>
        <p:nvSpPr>
          <p:cNvPr id="114" name="Rounded Rectangle 113"/>
          <p:cNvSpPr/>
          <p:nvPr/>
        </p:nvSpPr>
        <p:spPr>
          <a:xfrm>
            <a:off x="8869680" y="5257800"/>
            <a:ext cx="1417320" cy="365760"/>
          </a:xfrm>
          <a:prstGeom prst="roundRect">
            <a:avLst/>
          </a:prstGeom>
          <a:solidFill>
            <a:srgbClr val="13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869680" y="5257800"/>
            <a:ext cx="1417320" cy="365760"/>
          </a:xfrm>
          <a:prstGeom prst="rect">
            <a:avLst/>
          </a:prstGeom>
          <a:noFill/>
        </p:spPr>
        <p:txBody>
          <a:bodyPr wrap="none" anchor="ctr" lIns="0">
            <a:spAutoFit/>
          </a:bodyPr>
          <a:lstStyle/>
          <a:p>
            <a:pPr algn="ctr">
              <a:defRPr sz="950" b="1">
                <a:solidFill>
                  <a:srgbClr val="8B5CF6"/>
                </a:solidFill>
                <a:latin typeface="Segoe UI"/>
              </a:defRPr>
            </a:pPr>
            <a:r>
              <a:t>LEAD</a:t>
            </a:r>
          </a:p>
        </p:txBody>
      </p:sp>
      <p:sp>
        <p:nvSpPr>
          <p:cNvPr id="116" name="Rounded Rectangle 115"/>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94A3B8"/>
                </a:solidFill>
                <a:latin typeface="Segoe UI"/>
              </a:rPr>
              <a:t>LEAD = Primary owner.  OWNER = Contract authority.  Others = Review / Consume /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EXECUTION STRATEGY</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We do NOT build sequentially.</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08</a:t>
            </a:r>
          </a:p>
        </p:txBody>
      </p:sp>
      <p:sp>
        <p:nvSpPr>
          <p:cNvPr id="6" name="Rounded Rectangle 5"/>
          <p:cNvSpPr/>
          <p:nvPr/>
        </p:nvSpPr>
        <p:spPr>
          <a:xfrm>
            <a:off x="777240" y="1417320"/>
            <a:ext cx="4572000" cy="2560320"/>
          </a:xfrm>
          <a:prstGeom prst="roundRect">
            <a:avLst/>
          </a:prstGeom>
          <a:solidFill>
            <a:srgbClr val="1A0E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600200"/>
            <a:ext cx="2286000" cy="292608"/>
          </a:xfrm>
          <a:prstGeom prst="roundRect">
            <a:avLst/>
          </a:prstGeom>
          <a:solidFill>
            <a:srgbClr val="5C1D24"/>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50" b="1">
                <a:solidFill>
                  <a:srgbClr val="F43F5E"/>
                </a:solidFill>
                <a:latin typeface="Segoe UI"/>
              </a:defRPr>
            </a:pPr>
            <a:r>
              <a:t>✖  BAD WORKFLOW</a:t>
            </a:r>
          </a:p>
        </p:txBody>
      </p:sp>
      <p:sp>
        <p:nvSpPr>
          <p:cNvPr id="8" name="Rounded Rectangle 7"/>
          <p:cNvSpPr/>
          <p:nvPr/>
        </p:nvSpPr>
        <p:spPr>
          <a:xfrm>
            <a:off x="1371600" y="2011680"/>
            <a:ext cx="3474720" cy="320040"/>
          </a:xfrm>
          <a:prstGeom prst="roundRect">
            <a:avLst/>
          </a:prstGeom>
          <a:solidFill>
            <a:srgbClr val="2A151A"/>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43F5E"/>
                </a:solidFill>
                <a:latin typeface="Segoe UI"/>
              </a:defRPr>
            </a:pPr>
            <a:r>
              <a:t>T1 waits for T2's API</a:t>
            </a:r>
          </a:p>
        </p:txBody>
      </p:sp>
      <p:sp>
        <p:nvSpPr>
          <p:cNvPr id="9" name="Rounded Rectangle 8"/>
          <p:cNvSpPr/>
          <p:nvPr/>
        </p:nvSpPr>
        <p:spPr>
          <a:xfrm>
            <a:off x="1371600" y="2395728"/>
            <a:ext cx="3474720" cy="320040"/>
          </a:xfrm>
          <a:prstGeom prst="roundRect">
            <a:avLst/>
          </a:prstGeom>
          <a:solidFill>
            <a:srgbClr val="2A151A"/>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43F5E"/>
                </a:solidFill>
                <a:latin typeface="Segoe UI"/>
              </a:defRPr>
            </a:pPr>
            <a:r>
              <a:t>T2 waits for T3's RAG</a:t>
            </a:r>
          </a:p>
        </p:txBody>
      </p:sp>
      <p:sp>
        <p:nvSpPr>
          <p:cNvPr id="10" name="Rounded Rectangle 9"/>
          <p:cNvSpPr/>
          <p:nvPr/>
        </p:nvSpPr>
        <p:spPr>
          <a:xfrm>
            <a:off x="1371600" y="2779776"/>
            <a:ext cx="3474720" cy="320040"/>
          </a:xfrm>
          <a:prstGeom prst="roundRect">
            <a:avLst/>
          </a:prstGeom>
          <a:solidFill>
            <a:srgbClr val="2A151A"/>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43F5E"/>
                </a:solidFill>
                <a:latin typeface="Segoe UI"/>
              </a:defRPr>
            </a:pPr>
            <a:r>
              <a:t>T3 waits for T4's infra</a:t>
            </a:r>
          </a:p>
        </p:txBody>
      </p:sp>
      <p:sp>
        <p:nvSpPr>
          <p:cNvPr id="11" name="Rounded Rectangle 10"/>
          <p:cNvSpPr/>
          <p:nvPr/>
        </p:nvSpPr>
        <p:spPr>
          <a:xfrm>
            <a:off x="1371600" y="3163824"/>
            <a:ext cx="3474720" cy="320040"/>
          </a:xfrm>
          <a:prstGeom prst="roundRect">
            <a:avLst/>
          </a:prstGeom>
          <a:solidFill>
            <a:srgbClr val="2A151A"/>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F43F5E"/>
                </a:solidFill>
                <a:latin typeface="Segoe UI"/>
              </a:defRPr>
            </a:pPr>
            <a:r>
              <a:t>Everyone is blocked</a:t>
            </a:r>
          </a:p>
        </p:txBody>
      </p:sp>
      <p:sp>
        <p:nvSpPr>
          <p:cNvPr id="12" name="TextBox 11"/>
          <p:cNvSpPr txBox="1"/>
          <p:nvPr/>
        </p:nvSpPr>
        <p:spPr>
          <a:xfrm>
            <a:off x="1828800" y="2286000"/>
            <a:ext cx="2286000" cy="1828800"/>
          </a:xfrm>
          <a:prstGeom prst="rect">
            <a:avLst/>
          </a:prstGeom>
          <a:noFill/>
        </p:spPr>
        <p:txBody>
          <a:bodyPr wrap="none">
            <a:spAutoFit/>
          </a:bodyPr>
          <a:lstStyle/>
          <a:p>
            <a:pPr algn="ctr">
              <a:defRPr sz="8000">
                <a:solidFill>
                  <a:srgbClr val="5C1D24"/>
                </a:solidFill>
              </a:defRPr>
            </a:pPr>
            <a:r>
              <a:t>✖</a:t>
            </a:r>
          </a:p>
        </p:txBody>
      </p:sp>
      <p:sp>
        <p:nvSpPr>
          <p:cNvPr id="13" name="Rounded Rectangle 12"/>
          <p:cNvSpPr/>
          <p:nvPr/>
        </p:nvSpPr>
        <p:spPr>
          <a:xfrm>
            <a:off x="5715000" y="1417320"/>
            <a:ext cx="5669280" cy="2560320"/>
          </a:xfrm>
          <a:prstGeom prst="roundRect">
            <a:avLst/>
          </a:prstGeom>
          <a:solidFill>
            <a:srgbClr val="1316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0" y="1417320"/>
            <a:ext cx="566928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0" y="1600200"/>
            <a:ext cx="2926080"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50" b="1">
                <a:solidFill>
                  <a:srgbClr val="08091A"/>
                </a:solidFill>
                <a:latin typeface="Segoe UI"/>
              </a:defRPr>
            </a:pPr>
            <a:r>
              <a:t>✔  PARALLEL EXECUTION</a:t>
            </a:r>
          </a:p>
        </p:txBody>
      </p:sp>
      <p:sp>
        <p:nvSpPr>
          <p:cNvPr id="16" name="Rounded Rectangle 15"/>
          <p:cNvSpPr/>
          <p:nvPr/>
        </p:nvSpPr>
        <p:spPr>
          <a:xfrm>
            <a:off x="6217920" y="2011680"/>
            <a:ext cx="475488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22D3EE"/>
                </a:solidFill>
                <a:latin typeface="Segoe UI"/>
              </a:defRPr>
            </a:pPr>
            <a:r>
              <a:t>T1 → Mock API → Full UI</a:t>
            </a:r>
          </a:p>
        </p:txBody>
      </p:sp>
      <p:sp>
        <p:nvSpPr>
          <p:cNvPr id="17" name="Rounded Rectangle 16"/>
          <p:cNvSpPr/>
          <p:nvPr/>
        </p:nvSpPr>
        <p:spPr>
          <a:xfrm>
            <a:off x="6217920" y="2395728"/>
            <a:ext cx="475488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10B981"/>
                </a:solidFill>
                <a:latin typeface="Segoe UI"/>
              </a:defRPr>
            </a:pPr>
            <a:r>
              <a:t>T2 → Mock RAG → Full Backend</a:t>
            </a:r>
          </a:p>
        </p:txBody>
      </p:sp>
      <p:sp>
        <p:nvSpPr>
          <p:cNvPr id="18" name="Rounded Rectangle 17"/>
          <p:cNvSpPr/>
          <p:nvPr/>
        </p:nvSpPr>
        <p:spPr>
          <a:xfrm>
            <a:off x="6217920" y="2779776"/>
            <a:ext cx="475488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F59E0B"/>
                </a:solidFill>
                <a:latin typeface="Segoe UI"/>
              </a:defRPr>
            </a:pPr>
            <a:r>
              <a:t>T3 → Corpus → Full RAG Index</a:t>
            </a:r>
          </a:p>
        </p:txBody>
      </p:sp>
      <p:sp>
        <p:nvSpPr>
          <p:cNvPr id="19" name="Rounded Rectangle 18"/>
          <p:cNvSpPr/>
          <p:nvPr/>
        </p:nvSpPr>
        <p:spPr>
          <a:xfrm>
            <a:off x="6217920" y="3163824"/>
            <a:ext cx="4754880" cy="320040"/>
          </a:xfrm>
          <a:prstGeom prst="roundRect">
            <a:avLst/>
          </a:prstGeom>
          <a:solidFill>
            <a:srgbClr val="0F112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50" b="1">
                <a:solidFill>
                  <a:srgbClr val="8B5CF6"/>
                </a:solidFill>
                <a:latin typeface="Segoe UI"/>
              </a:defRPr>
            </a:pPr>
            <a:r>
              <a:t>T4 → Docker + CI → Actions + Voice</a:t>
            </a:r>
          </a:p>
        </p:txBody>
      </p:sp>
      <p:sp>
        <p:nvSpPr>
          <p:cNvPr id="20" name="Rounded Rectangle 19"/>
          <p:cNvSpPr/>
          <p:nvPr/>
        </p:nvSpPr>
        <p:spPr>
          <a:xfrm>
            <a:off x="777240" y="4206240"/>
            <a:ext cx="10607040" cy="1188720"/>
          </a:xfrm>
          <a:prstGeom prst="roundRect">
            <a:avLst/>
          </a:prstGeom>
          <a:solidFill>
            <a:srgbClr val="1A1E4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4343400"/>
            <a:ext cx="9418320" cy="914400"/>
          </a:xfrm>
          <a:prstGeom prst="rect">
            <a:avLst/>
          </a:prstGeom>
          <a:noFill/>
        </p:spPr>
        <p:txBody>
          <a:bodyPr wrap="square">
            <a:spAutoFit/>
          </a:bodyPr>
          <a:lstStyle/>
          <a:p>
            <a:pPr algn="ctr"/>
            <a:r>
              <a:rPr sz="2000" b="1">
                <a:solidFill>
                  <a:srgbClr val="FFFFFF"/>
                </a:solidFill>
                <a:latin typeface="Segoe UI"/>
              </a:rPr>
              <a:t>BUILD IN PARALLEL.  INTEGRATE THROUGH CONTRACTS.</a:t>
            </a:r>
          </a:p>
          <a:p>
            <a:pPr algn="ctr">
              <a:spcBef>
                <a:spcPts val="800"/>
              </a:spcBef>
              <a:defRPr sz="1100">
                <a:solidFill>
                  <a:srgbClr val="94A3B8"/>
                </a:solidFill>
                <a:latin typeface="Segoe UI"/>
              </a:defRPr>
            </a:pPr>
            <a:r>
              <a:t>Frontend uses mock API fixtures  •  Backend uses mock retrieval service  •  RAG builds independently  •  DevOps sets up infra from hour 1</a:t>
            </a:r>
          </a:p>
        </p:txBody>
      </p:sp>
      <p:sp>
        <p:nvSpPr>
          <p:cNvPr id="22" name="Rounded Rectangle 21"/>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59E0B"/>
                </a:solidFill>
                <a:latin typeface="Segoe UI"/>
              </a:rPr>
              <a:t>MOCKING RULE:  Mocks live in __mocks__/ or fixtures/ — never inline. Swapping mock → real = 1 import change.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400"/>
                                  <p:tgtEl>
                                    <p:spTgt spid="6"/>
                                  </p:tgtEl>
                                </p:cBhvr>
                              </p:animEffect>
                            </p:childTnLst>
                          </p:cTn>
                        </p:par>
                      </p:childTnLst>
                    </p:cTn>
                  </p:par>
                  <p:par>
                    <p:cTn id="6" fill="hold">
                      <p:stCondLst>
                        <p:cond delay="0"/>
                      </p:stCondLst>
                      <p:childTnLst>
                        <p:par>
                          <p:cTn id="7" presetID="10" presetClass="entr" presetSubtype="0" fill="hold" nodeType="withEffect">
                            <p:stCondLst>
                              <p:cond delay="300"/>
                            </p:stCondLst>
                            <p:childTnLst>
                              <p:animEffect transition="in" filter="fade">
                                <p:cBhvr>
                                  <p:cTn id="8" dur="500"/>
                                  <p:tgtEl>
                                    <p:spTgt spid="13"/>
                                  </p:tgtEl>
                                </p:cBhvr>
                              </p:animEffect>
                            </p:childTnLst>
                          </p:cTn>
                        </p:par>
                      </p:childTnLst>
                    </p:cTn>
                  </p:par>
                  <p:par>
                    <p:cTn id="9" fill="hold">
                      <p:stCondLst>
                        <p:cond delay="0"/>
                      </p:stCondLst>
                      <p:childTnLst>
                        <p:par>
                          <p:cTn id="10" presetID="10" presetClass="entr" presetSubtype="0" fill="hold" nodeType="withEffect">
                            <p:stCondLst>
                              <p:cond delay="500"/>
                            </p:stCondLst>
                            <p:childTnLst>
                              <p:animEffect transition="in" filter="fade">
                                <p:cBhvr>
                                  <p:cTn id="11" dur="600"/>
                                  <p:tgtEl>
                                    <p:spTgt spid="20"/>
                                  </p:tgtEl>
                                </p:cBhvr>
                              </p:animEffect>
                            </p:childTnLst>
                          </p:cTn>
                        </p:par>
                      </p:childTnLst>
                    </p:cTn>
                  </p:par>
                </p:childTnLst>
              </p:cTn>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SHARED CONTRACTS</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Our shared contracts are the foundation of parallel execution.</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09</a:t>
            </a:r>
          </a:p>
        </p:txBody>
      </p:sp>
      <p:sp>
        <p:nvSpPr>
          <p:cNvPr id="6" name="Rounded Rectangle 5"/>
          <p:cNvSpPr/>
          <p:nvPr/>
        </p:nvSpPr>
        <p:spPr>
          <a:xfrm>
            <a:off x="3657600" y="1417320"/>
            <a:ext cx="4846320" cy="1188720"/>
          </a:xfrm>
          <a:prstGeom prst="roundRect">
            <a:avLst/>
          </a:prstGeom>
          <a:solidFill>
            <a:srgbClr val="1A1E4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1417320"/>
            <a:ext cx="484632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0" y="1554480"/>
            <a:ext cx="4297680" cy="868680"/>
          </a:xfrm>
          <a:prstGeom prst="rect">
            <a:avLst/>
          </a:prstGeom>
          <a:noFill/>
        </p:spPr>
        <p:txBody>
          <a:bodyPr wrap="square">
            <a:spAutoFit/>
          </a:bodyPr>
          <a:lstStyle/>
          <a:p>
            <a:pPr algn="ctr">
              <a:defRPr sz="1400" b="1">
                <a:solidFill>
                  <a:srgbClr val="3B82F6"/>
                </a:solidFill>
                <a:latin typeface="Consolas"/>
              </a:defRPr>
            </a:pPr>
            <a:r>
              <a:t>docs/CASE_SCHEMA.md  +  docs/API_CONTRACT.md</a:t>
            </a:r>
          </a:p>
          <a:p>
            <a:pPr algn="ctr">
              <a:spcBef>
                <a:spcPts val="400"/>
              </a:spcBef>
              <a:defRPr sz="1050">
                <a:solidFill>
                  <a:srgbClr val="94A3B8"/>
                </a:solidFill>
                <a:latin typeface="Segoe UI"/>
              </a:defRPr>
            </a:pPr>
            <a:r>
              <a:t>Frozen in Phase 1 — the source of truth for all 4 teammates</a:t>
            </a:r>
          </a:p>
        </p:txBody>
      </p:sp>
      <p:sp>
        <p:nvSpPr>
          <p:cNvPr id="9" name="Rounded Rectangle 8"/>
          <p:cNvSpPr/>
          <p:nvPr/>
        </p:nvSpPr>
        <p:spPr>
          <a:xfrm>
            <a:off x="777240" y="3108960"/>
            <a:ext cx="2377440" cy="24231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108960"/>
            <a:ext cx="237744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3291840"/>
            <a:ext cx="2194560" cy="292608"/>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T1 Frontend</a:t>
            </a:r>
          </a:p>
        </p:txBody>
      </p:sp>
      <p:sp>
        <p:nvSpPr>
          <p:cNvPr id="12" name="TextBox 11"/>
          <p:cNvSpPr txBox="1"/>
          <p:nvPr/>
        </p:nvSpPr>
        <p:spPr>
          <a:xfrm>
            <a:off x="868680" y="3703320"/>
            <a:ext cx="2194560" cy="1645920"/>
          </a:xfrm>
          <a:prstGeom prst="rect">
            <a:avLst/>
          </a:prstGeom>
          <a:noFill/>
        </p:spPr>
        <p:txBody>
          <a:bodyPr wrap="square">
            <a:spAutoFit/>
          </a:bodyPr>
          <a:lstStyle/>
          <a:p>
            <a:pPr>
              <a:spcAft>
                <a:spcPts val="300"/>
              </a:spcAft>
              <a:defRPr sz="1000">
                <a:solidFill>
                  <a:srgbClr val="CBD5E1"/>
                </a:solidFill>
                <a:latin typeface="Segoe UI"/>
              </a:defRPr>
            </a:pPr>
            <a:r>
              <a:t>Builds TypeScript types</a:t>
            </a:r>
          </a:p>
          <a:p>
            <a:pPr>
              <a:spcAft>
                <a:spcPts val="300"/>
              </a:spcAft>
              <a:defRPr sz="1000">
                <a:solidFill>
                  <a:srgbClr val="CBD5E1"/>
                </a:solidFill>
                <a:latin typeface="Segoe UI"/>
              </a:defRPr>
            </a:pPr>
            <a:r>
              <a:t>from CASE_SCHEMA.</a:t>
            </a:r>
          </a:p>
          <a:p>
            <a:pPr>
              <a:spcAft>
                <a:spcPts val="300"/>
              </a:spcAft>
              <a:defRPr sz="1000">
                <a:solidFill>
                  <a:srgbClr val="CBD5E1"/>
                </a:solidFill>
                <a:latin typeface="Segoe UI"/>
              </a:defRPr>
            </a:pPr>
            <a:r>
              <a:t>Mocks API responses</a:t>
            </a:r>
          </a:p>
          <a:p>
            <a:pPr>
              <a:spcAft>
                <a:spcPts val="300"/>
              </a:spcAft>
              <a:defRPr sz="1000">
                <a:solidFill>
                  <a:srgbClr val="CBD5E1"/>
                </a:solidFill>
                <a:latin typeface="Segoe UI"/>
              </a:defRPr>
            </a:pPr>
            <a:r>
              <a:t>from API_CONTRACT.</a:t>
            </a:r>
          </a:p>
        </p:txBody>
      </p:sp>
      <p:sp>
        <p:nvSpPr>
          <p:cNvPr id="13" name="TextBox 12"/>
          <p:cNvSpPr txBox="1"/>
          <p:nvPr/>
        </p:nvSpPr>
        <p:spPr>
          <a:xfrm>
            <a:off x="1691640" y="2651760"/>
            <a:ext cx="457200" cy="457200"/>
          </a:xfrm>
          <a:prstGeom prst="rect">
            <a:avLst/>
          </a:prstGeom>
          <a:noFill/>
        </p:spPr>
        <p:txBody>
          <a:bodyPr wrap="none">
            <a:spAutoFit/>
          </a:bodyPr>
          <a:lstStyle/>
          <a:p>
            <a:pPr algn="ctr">
              <a:defRPr sz="1800">
                <a:solidFill>
                  <a:srgbClr val="22D3EE"/>
                </a:solidFill>
                <a:latin typeface="Segoe UI"/>
              </a:defRPr>
            </a:pPr>
            <a:r>
              <a:t>↓</a:t>
            </a:r>
          </a:p>
        </p:txBody>
      </p:sp>
      <p:sp>
        <p:nvSpPr>
          <p:cNvPr id="14" name="Rounded Rectangle 13"/>
          <p:cNvSpPr/>
          <p:nvPr/>
        </p:nvSpPr>
        <p:spPr>
          <a:xfrm>
            <a:off x="3319272" y="3108960"/>
            <a:ext cx="2377440" cy="24231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19272" y="3108960"/>
            <a:ext cx="237744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10712" y="3291840"/>
            <a:ext cx="2194560"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T2 Backend</a:t>
            </a:r>
          </a:p>
        </p:txBody>
      </p:sp>
      <p:sp>
        <p:nvSpPr>
          <p:cNvPr id="17" name="TextBox 16"/>
          <p:cNvSpPr txBox="1"/>
          <p:nvPr/>
        </p:nvSpPr>
        <p:spPr>
          <a:xfrm>
            <a:off x="3410712" y="3703320"/>
            <a:ext cx="2194560" cy="1645920"/>
          </a:xfrm>
          <a:prstGeom prst="rect">
            <a:avLst/>
          </a:prstGeom>
          <a:noFill/>
        </p:spPr>
        <p:txBody>
          <a:bodyPr wrap="square">
            <a:spAutoFit/>
          </a:bodyPr>
          <a:lstStyle/>
          <a:p>
            <a:pPr>
              <a:spcAft>
                <a:spcPts val="300"/>
              </a:spcAft>
              <a:defRPr sz="1000">
                <a:solidFill>
                  <a:srgbClr val="CBD5E1"/>
                </a:solidFill>
                <a:latin typeface="Segoe UI"/>
              </a:defRPr>
            </a:pPr>
            <a:r>
              <a:t>Implements routers</a:t>
            </a:r>
          </a:p>
          <a:p>
            <a:pPr>
              <a:spcAft>
                <a:spcPts val="300"/>
              </a:spcAft>
              <a:defRPr sz="1000">
                <a:solidFill>
                  <a:srgbClr val="CBD5E1"/>
                </a:solidFill>
                <a:latin typeface="Segoe UI"/>
              </a:defRPr>
            </a:pPr>
            <a:r>
              <a:t>matching API_CONTRACT.</a:t>
            </a:r>
          </a:p>
          <a:p>
            <a:pPr>
              <a:spcAft>
                <a:spcPts val="300"/>
              </a:spcAft>
              <a:defRPr sz="1000">
                <a:solidFill>
                  <a:srgbClr val="CBD5E1"/>
                </a:solidFill>
                <a:latin typeface="Segoe UI"/>
              </a:defRPr>
            </a:pPr>
            <a:r>
              <a:t>Consumes Case schema</a:t>
            </a:r>
          </a:p>
          <a:p>
            <a:pPr>
              <a:spcAft>
                <a:spcPts val="300"/>
              </a:spcAft>
              <a:defRPr sz="1000">
                <a:solidFill>
                  <a:srgbClr val="CBD5E1"/>
                </a:solidFill>
                <a:latin typeface="Segoe UI"/>
              </a:defRPr>
            </a:pPr>
            <a:r>
              <a:t>as Pydantic models.</a:t>
            </a:r>
          </a:p>
        </p:txBody>
      </p:sp>
      <p:sp>
        <p:nvSpPr>
          <p:cNvPr id="18" name="TextBox 17"/>
          <p:cNvSpPr txBox="1"/>
          <p:nvPr/>
        </p:nvSpPr>
        <p:spPr>
          <a:xfrm>
            <a:off x="4233672" y="2651760"/>
            <a:ext cx="457200" cy="457200"/>
          </a:xfrm>
          <a:prstGeom prst="rect">
            <a:avLst/>
          </a:prstGeom>
          <a:noFill/>
        </p:spPr>
        <p:txBody>
          <a:bodyPr wrap="none">
            <a:spAutoFit/>
          </a:bodyPr>
          <a:lstStyle/>
          <a:p>
            <a:pPr algn="ctr">
              <a:defRPr sz="1800">
                <a:solidFill>
                  <a:srgbClr val="10B981"/>
                </a:solidFill>
                <a:latin typeface="Segoe UI"/>
              </a:defRPr>
            </a:pPr>
            <a:r>
              <a:t>↓</a:t>
            </a:r>
          </a:p>
        </p:txBody>
      </p:sp>
      <p:sp>
        <p:nvSpPr>
          <p:cNvPr id="19" name="Rounded Rectangle 18"/>
          <p:cNvSpPr/>
          <p:nvPr/>
        </p:nvSpPr>
        <p:spPr>
          <a:xfrm>
            <a:off x="5861304" y="3108960"/>
            <a:ext cx="2377440" cy="24231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61304" y="3108960"/>
            <a:ext cx="237744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52744" y="3291840"/>
            <a:ext cx="2194560" cy="29260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T3 RAG / Engine</a:t>
            </a:r>
          </a:p>
        </p:txBody>
      </p:sp>
      <p:sp>
        <p:nvSpPr>
          <p:cNvPr id="22" name="TextBox 21"/>
          <p:cNvSpPr txBox="1"/>
          <p:nvPr/>
        </p:nvSpPr>
        <p:spPr>
          <a:xfrm>
            <a:off x="5952744" y="3703320"/>
            <a:ext cx="2194560" cy="1645920"/>
          </a:xfrm>
          <a:prstGeom prst="rect">
            <a:avLst/>
          </a:prstGeom>
          <a:noFill/>
        </p:spPr>
        <p:txBody>
          <a:bodyPr wrap="square">
            <a:spAutoFit/>
          </a:bodyPr>
          <a:lstStyle/>
          <a:p>
            <a:pPr>
              <a:spcAft>
                <a:spcPts val="300"/>
              </a:spcAft>
              <a:defRPr sz="1000">
                <a:solidFill>
                  <a:srgbClr val="CBD5E1"/>
                </a:solidFill>
                <a:latin typeface="Segoe UI"/>
              </a:defRPr>
            </a:pPr>
            <a:r>
              <a:t>OWNS CASE_SCHEMA.</a:t>
            </a:r>
          </a:p>
          <a:p>
            <a:pPr>
              <a:spcAft>
                <a:spcPts val="300"/>
              </a:spcAft>
              <a:defRPr sz="1000">
                <a:solidFill>
                  <a:srgbClr val="CBD5E1"/>
                </a:solidFill>
                <a:latin typeface="Segoe UI"/>
              </a:defRPr>
            </a:pPr>
            <a:r>
              <a:t>Exposes retrieval_service</a:t>
            </a:r>
          </a:p>
          <a:p>
            <a:pPr>
              <a:spcAft>
                <a:spcPts val="300"/>
              </a:spcAft>
              <a:defRPr sz="1000">
                <a:solidFill>
                  <a:srgbClr val="CBD5E1"/>
                </a:solidFill>
                <a:latin typeface="Segoe UI"/>
              </a:defRPr>
            </a:pPr>
            <a:r>
              <a:t>matching the contract.</a:t>
            </a:r>
          </a:p>
          <a:p>
            <a:pPr>
              <a:spcAft>
                <a:spcPts val="300"/>
              </a:spcAft>
              <a:defRPr sz="1000">
                <a:solidFill>
                  <a:srgbClr val="CBD5E1"/>
                </a:solidFill>
                <a:latin typeface="Segoe UI"/>
              </a:defRPr>
            </a:pPr>
            <a:r>
              <a:t>Golden query evaluation.</a:t>
            </a:r>
          </a:p>
        </p:txBody>
      </p:sp>
      <p:sp>
        <p:nvSpPr>
          <p:cNvPr id="23" name="TextBox 22"/>
          <p:cNvSpPr txBox="1"/>
          <p:nvPr/>
        </p:nvSpPr>
        <p:spPr>
          <a:xfrm>
            <a:off x="6775704" y="2651760"/>
            <a:ext cx="457200" cy="457200"/>
          </a:xfrm>
          <a:prstGeom prst="rect">
            <a:avLst/>
          </a:prstGeom>
          <a:noFill/>
        </p:spPr>
        <p:txBody>
          <a:bodyPr wrap="none">
            <a:spAutoFit/>
          </a:bodyPr>
          <a:lstStyle/>
          <a:p>
            <a:pPr algn="ctr">
              <a:defRPr sz="1800">
                <a:solidFill>
                  <a:srgbClr val="F59E0B"/>
                </a:solidFill>
                <a:latin typeface="Segoe UI"/>
              </a:defRPr>
            </a:pPr>
            <a:r>
              <a:t>↓</a:t>
            </a:r>
          </a:p>
        </p:txBody>
      </p:sp>
      <p:sp>
        <p:nvSpPr>
          <p:cNvPr id="24" name="Rounded Rectangle 23"/>
          <p:cNvSpPr/>
          <p:nvPr/>
        </p:nvSpPr>
        <p:spPr>
          <a:xfrm>
            <a:off x="8403336" y="3108960"/>
            <a:ext cx="2377440" cy="24231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03336" y="3108960"/>
            <a:ext cx="237744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94776" y="3291840"/>
            <a:ext cx="2194560" cy="29260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T4 Integration</a:t>
            </a:r>
          </a:p>
        </p:txBody>
      </p:sp>
      <p:sp>
        <p:nvSpPr>
          <p:cNvPr id="27" name="TextBox 26"/>
          <p:cNvSpPr txBox="1"/>
          <p:nvPr/>
        </p:nvSpPr>
        <p:spPr>
          <a:xfrm>
            <a:off x="8494776" y="3703320"/>
            <a:ext cx="2194560" cy="1645920"/>
          </a:xfrm>
          <a:prstGeom prst="rect">
            <a:avLst/>
          </a:prstGeom>
          <a:noFill/>
        </p:spPr>
        <p:txBody>
          <a:bodyPr wrap="square">
            <a:spAutoFit/>
          </a:bodyPr>
          <a:lstStyle/>
          <a:p>
            <a:pPr>
              <a:spcAft>
                <a:spcPts val="300"/>
              </a:spcAft>
              <a:defRPr sz="1000">
                <a:solidFill>
                  <a:srgbClr val="CBD5E1"/>
                </a:solidFill>
                <a:latin typeface="Segoe UI"/>
              </a:defRPr>
            </a:pPr>
            <a:r>
              <a:t>Tests against contracts.</a:t>
            </a:r>
          </a:p>
          <a:p>
            <a:pPr>
              <a:spcAft>
                <a:spcPts val="300"/>
              </a:spcAft>
              <a:defRPr sz="1000">
                <a:solidFill>
                  <a:srgbClr val="CBD5E1"/>
                </a:solidFill>
                <a:latin typeface="Segoe UI"/>
              </a:defRPr>
            </a:pPr>
            <a:r>
              <a:t>Action templates from</a:t>
            </a:r>
          </a:p>
          <a:p>
            <a:pPr>
              <a:spcAft>
                <a:spcPts val="300"/>
              </a:spcAft>
              <a:defRPr sz="1000">
                <a:solidFill>
                  <a:srgbClr val="CBD5E1"/>
                </a:solidFill>
                <a:latin typeface="Segoe UI"/>
              </a:defRPr>
            </a:pPr>
            <a:r>
              <a:t>CASE_SCHEMA structure.</a:t>
            </a:r>
          </a:p>
          <a:p>
            <a:pPr>
              <a:spcAft>
                <a:spcPts val="300"/>
              </a:spcAft>
              <a:defRPr sz="1000">
                <a:solidFill>
                  <a:srgbClr val="CBD5E1"/>
                </a:solidFill>
                <a:latin typeface="Segoe UI"/>
              </a:defRPr>
            </a:pPr>
            <a:r>
              <a:t>E2E contract validation.</a:t>
            </a:r>
          </a:p>
        </p:txBody>
      </p:sp>
      <p:sp>
        <p:nvSpPr>
          <p:cNvPr id="28" name="TextBox 27"/>
          <p:cNvSpPr txBox="1"/>
          <p:nvPr/>
        </p:nvSpPr>
        <p:spPr>
          <a:xfrm>
            <a:off x="9317736" y="2651760"/>
            <a:ext cx="457200" cy="457200"/>
          </a:xfrm>
          <a:prstGeom prst="rect">
            <a:avLst/>
          </a:prstGeom>
          <a:noFill/>
        </p:spPr>
        <p:txBody>
          <a:bodyPr wrap="none">
            <a:spAutoFit/>
          </a:bodyPr>
          <a:lstStyle/>
          <a:p>
            <a:pPr algn="ctr">
              <a:defRPr sz="1800">
                <a:solidFill>
                  <a:srgbClr val="8B5CF6"/>
                </a:solidFill>
                <a:latin typeface="Segoe UI"/>
              </a:defRPr>
            </a:pPr>
            <a:r>
              <a:t>↓</a:t>
            </a:r>
          </a:p>
        </p:txBody>
      </p:sp>
      <p:sp>
        <p:nvSpPr>
          <p:cNvPr id="29" name="Rounded Rectangle 28"/>
          <p:cNvSpPr/>
          <p:nvPr/>
        </p:nvSpPr>
        <p:spPr>
          <a:xfrm>
            <a:off x="777240" y="5623560"/>
            <a:ext cx="10607040" cy="822960"/>
          </a:xfrm>
          <a:prstGeom prst="roundRect">
            <a:avLst/>
          </a:prstGeom>
          <a:solidFill>
            <a:srgbClr val="271E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5715000"/>
            <a:ext cx="9784080" cy="640080"/>
          </a:xfrm>
          <a:prstGeom prst="rect">
            <a:avLst/>
          </a:prstGeom>
          <a:noFill/>
        </p:spPr>
        <p:txBody>
          <a:bodyPr wrap="square" anchor="ctr">
            <a:spAutoFit/>
          </a:bodyPr>
          <a:lstStyle/>
          <a:p>
            <a:pPr algn="ctr"/>
            <a:r>
              <a:rPr sz="1100" b="1">
                <a:solidFill>
                  <a:srgbClr val="F59E0B"/>
                </a:solidFill>
                <a:latin typeface="Segoe UI"/>
              </a:rPr>
              <a:t>⚠  SHARED CONTRACTS ARE NOT CHANGED CASUALLY.  </a:t>
            </a:r>
            <a:r>
              <a:rPr sz="1100">
                <a:solidFill>
                  <a:srgbClr val="CBD5E1"/>
                </a:solidFill>
                <a:latin typeface="Segoe UI"/>
              </a:rPr>
              <a:t>Any change to CASE_SCHEMA.md or API_CONTRACT.md requires a live sync with all 4 developers first.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500"/>
                                  <p:tgtEl>
                                    <p:spTgt spid="6"/>
                                  </p:tgtEl>
                                </p:cBhvr>
                              </p:animEffect>
                            </p:childTnLst>
                          </p:cTn>
                        </p:par>
                      </p:childTnLst>
                    </p:cTn>
                  </p:par>
                </p:childTnLst>
              </p:cTn>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AI-ASSISTED DEVELOPMENT</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AI is our fastest developer — not our architect.</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10</a:t>
            </a:r>
          </a:p>
        </p:txBody>
      </p:sp>
      <p:sp>
        <p:nvSpPr>
          <p:cNvPr id="6" name="Rounded Rectangle 5"/>
          <p:cNvSpPr/>
          <p:nvPr/>
        </p:nvSpPr>
        <p:spPr>
          <a:xfrm>
            <a:off x="777240" y="1417320"/>
            <a:ext cx="457200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457200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627632"/>
            <a:ext cx="1828800" cy="32004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HUMAN DECIDES</a:t>
            </a:r>
          </a:p>
        </p:txBody>
      </p:sp>
      <p:sp>
        <p:nvSpPr>
          <p:cNvPr id="9" name="TextBox 8"/>
          <p:cNvSpPr txBox="1"/>
          <p:nvPr/>
        </p:nvSpPr>
        <p:spPr>
          <a:xfrm>
            <a:off x="1005840" y="2057400"/>
            <a:ext cx="4114800" cy="3200400"/>
          </a:xfrm>
          <a:prstGeom prst="rect">
            <a:avLst/>
          </a:prstGeom>
          <a:noFill/>
        </p:spPr>
        <p:txBody>
          <a:bodyPr wrap="square" lIns="0" tIns="0" rIns="0" bIns="0">
            <a:spAutoFit/>
          </a:bodyPr>
          <a:lstStyle/>
          <a:p>
            <a:pPr>
              <a:spcAft>
                <a:spcPts val="500"/>
              </a:spcAft>
            </a:pPr>
            <a:r>
              <a:rPr b="1" sz="1100">
                <a:solidFill>
                  <a:srgbClr val="22D3EE"/>
                </a:solidFill>
                <a:latin typeface="Segoe UI"/>
              </a:rPr>
              <a:t>Architecture &amp; Design  </a:t>
            </a:r>
            <a:r>
              <a:rPr sz="1050">
                <a:solidFill>
                  <a:srgbClr val="CBD5E1"/>
                </a:solidFill>
                <a:latin typeface="Segoe UI"/>
              </a:rPr>
              <a:t>— system structure, layer boundaries, data flow</a:t>
            </a:r>
          </a:p>
          <a:p>
            <a:pPr>
              <a:spcAft>
                <a:spcPts val="500"/>
              </a:spcAft>
            </a:pPr>
            <a:r>
              <a:rPr b="1" sz="1100">
                <a:solidFill>
                  <a:srgbClr val="22D3EE"/>
                </a:solidFill>
                <a:latin typeface="Segoe UI"/>
              </a:rPr>
              <a:t>Shared Contracts  </a:t>
            </a:r>
            <a:r>
              <a:rPr sz="1050">
                <a:solidFill>
                  <a:srgbClr val="CBD5E1"/>
                </a:solidFill>
                <a:latin typeface="Segoe UI"/>
              </a:rPr>
              <a:t>— CASE_SCHEMA.md, API_CONTRACT.md</a:t>
            </a:r>
          </a:p>
          <a:p>
            <a:pPr>
              <a:spcAft>
                <a:spcPts val="500"/>
              </a:spcAft>
            </a:pPr>
            <a:r>
              <a:rPr b="1" sz="1100">
                <a:solidFill>
                  <a:srgbClr val="22D3EE"/>
                </a:solidFill>
                <a:latin typeface="Segoe UI"/>
              </a:rPr>
              <a:t>Security &amp; Privacy  </a:t>
            </a:r>
            <a:r>
              <a:rPr sz="1050">
                <a:solidFill>
                  <a:srgbClr val="CBD5E1"/>
                </a:solidFill>
                <a:latin typeface="Segoe UI"/>
              </a:rPr>
              <a:t>— consent flows, PII handling, emergency routing</a:t>
            </a:r>
          </a:p>
          <a:p>
            <a:pPr>
              <a:spcAft>
                <a:spcPts val="500"/>
              </a:spcAft>
            </a:pPr>
            <a:r>
              <a:rPr b="1" sz="1100">
                <a:solidFill>
                  <a:srgbClr val="22D3EE"/>
                </a:solidFill>
                <a:latin typeface="Segoe UI"/>
              </a:rPr>
              <a:t>Business Rules  </a:t>
            </a:r>
            <a:r>
              <a:rPr sz="1050">
                <a:solidFill>
                  <a:srgbClr val="CBD5E1"/>
                </a:solidFill>
                <a:latin typeface="Segoe UI"/>
              </a:rPr>
              <a:t>— what legal logic is correct, what's wrong</a:t>
            </a:r>
          </a:p>
          <a:p>
            <a:pPr>
              <a:spcAft>
                <a:spcPts val="500"/>
              </a:spcAft>
            </a:pPr>
            <a:r>
              <a:rPr b="1" sz="1100">
                <a:solidFill>
                  <a:srgbClr val="22D3EE"/>
                </a:solidFill>
                <a:latin typeface="Segoe UI"/>
              </a:rPr>
              <a:t>Code Review  </a:t>
            </a:r>
            <a:r>
              <a:rPr sz="1050">
                <a:solidFill>
                  <a:srgbClr val="CBD5E1"/>
                </a:solidFill>
                <a:latin typeface="Segoe UI"/>
              </a:rPr>
              <a:t>— inspect every diff before committing</a:t>
            </a:r>
          </a:p>
          <a:p>
            <a:pPr>
              <a:spcAft>
                <a:spcPts val="500"/>
              </a:spcAft>
            </a:pPr>
            <a:r>
              <a:rPr b="1" sz="1100">
                <a:solidFill>
                  <a:srgbClr val="22D3EE"/>
                </a:solidFill>
                <a:latin typeface="Segoe UI"/>
              </a:rPr>
              <a:t>Integration Decisions  </a:t>
            </a:r>
            <a:r>
              <a:rPr sz="1050">
                <a:solidFill>
                  <a:srgbClr val="CBD5E1"/>
                </a:solidFill>
                <a:latin typeface="Segoe UI"/>
              </a:rPr>
              <a:t>— when to swap mock → real</a:t>
            </a:r>
          </a:p>
        </p:txBody>
      </p:sp>
      <p:sp>
        <p:nvSpPr>
          <p:cNvPr id="10" name="Rounded Rectangle 9"/>
          <p:cNvSpPr/>
          <p:nvPr/>
        </p:nvSpPr>
        <p:spPr>
          <a:xfrm>
            <a:off x="5715000" y="1417320"/>
            <a:ext cx="5669280" cy="4114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0" y="1417320"/>
            <a:ext cx="566928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0" y="1627632"/>
            <a:ext cx="182880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1000" b="1">
                <a:solidFill>
                  <a:srgbClr val="08091A"/>
                </a:solidFill>
                <a:latin typeface="Segoe UI"/>
              </a:defRPr>
            </a:pPr>
            <a:r>
              <a:t>AI IMPLEMENTS</a:t>
            </a:r>
          </a:p>
        </p:txBody>
      </p:sp>
      <p:sp>
        <p:nvSpPr>
          <p:cNvPr id="13" name="TextBox 12"/>
          <p:cNvSpPr txBox="1"/>
          <p:nvPr/>
        </p:nvSpPr>
        <p:spPr>
          <a:xfrm>
            <a:off x="5943600" y="2057400"/>
            <a:ext cx="5212080" cy="3200400"/>
          </a:xfrm>
          <a:prstGeom prst="rect">
            <a:avLst/>
          </a:prstGeom>
          <a:noFill/>
        </p:spPr>
        <p:txBody>
          <a:bodyPr wrap="square" lIns="0" tIns="0" rIns="0" bIns="0">
            <a:spAutoFit/>
          </a:bodyPr>
          <a:lstStyle/>
          <a:p>
            <a:pPr>
              <a:spcAft>
                <a:spcPts val="500"/>
              </a:spcAft>
            </a:pPr>
            <a:r>
              <a:rPr b="1" sz="1100">
                <a:solidFill>
                  <a:srgbClr val="8B5CF6"/>
                </a:solidFill>
                <a:latin typeface="Segoe UI"/>
              </a:rPr>
              <a:t>Boilerplate &amp; Scaffolding  </a:t>
            </a:r>
            <a:r>
              <a:rPr sz="1050">
                <a:solidFill>
                  <a:srgbClr val="CBD5E1"/>
                </a:solidFill>
                <a:latin typeface="Segoe UI"/>
              </a:rPr>
              <a:t>— routers, components, config files</a:t>
            </a:r>
          </a:p>
          <a:p>
            <a:pPr>
              <a:spcAft>
                <a:spcPts val="500"/>
              </a:spcAft>
            </a:pPr>
            <a:r>
              <a:rPr b="1" sz="1100">
                <a:solidFill>
                  <a:srgbClr val="8B5CF6"/>
                </a:solidFill>
                <a:latin typeface="Segoe UI"/>
              </a:rPr>
              <a:t>Feature Implementation  </a:t>
            </a:r>
            <a:r>
              <a:rPr sz="1050">
                <a:solidFill>
                  <a:srgbClr val="CBD5E1"/>
                </a:solidFill>
                <a:latin typeface="Segoe UI"/>
              </a:rPr>
              <a:t>— from task spec to working code</a:t>
            </a:r>
          </a:p>
          <a:p>
            <a:pPr>
              <a:spcAft>
                <a:spcPts val="500"/>
              </a:spcAft>
            </a:pPr>
            <a:r>
              <a:rPr b="1" sz="1100">
                <a:solidFill>
                  <a:srgbClr val="8B5CF6"/>
                </a:solidFill>
                <a:latin typeface="Segoe UI"/>
              </a:rPr>
              <a:t>Unit &amp; Integration Tests  </a:t>
            </a:r>
            <a:r>
              <a:rPr sz="1050">
                <a:solidFill>
                  <a:srgbClr val="CBD5E1"/>
                </a:solidFill>
                <a:latin typeface="Segoe UI"/>
              </a:rPr>
              <a:t>— pytest, component tests, E2E scripts</a:t>
            </a:r>
          </a:p>
          <a:p>
            <a:pPr>
              <a:spcAft>
                <a:spcPts val="500"/>
              </a:spcAft>
            </a:pPr>
            <a:r>
              <a:rPr b="1" sz="1100">
                <a:solidFill>
                  <a:srgbClr val="8B5CF6"/>
                </a:solidFill>
                <a:latin typeface="Segoe UI"/>
              </a:rPr>
              <a:t>Refactoring  </a:t>
            </a:r>
            <a:r>
              <a:rPr sz="1050">
                <a:solidFill>
                  <a:srgbClr val="CBD5E1"/>
                </a:solidFill>
                <a:latin typeface="Segoe UI"/>
              </a:rPr>
              <a:t>— within your own owned files only</a:t>
            </a:r>
          </a:p>
          <a:p>
            <a:pPr>
              <a:spcAft>
                <a:spcPts val="500"/>
              </a:spcAft>
            </a:pPr>
            <a:r>
              <a:rPr b="1" sz="1100">
                <a:solidFill>
                  <a:srgbClr val="8B5CF6"/>
                </a:solidFill>
                <a:latin typeface="Segoe UI"/>
              </a:rPr>
              <a:t>Documentation  </a:t>
            </a:r>
            <a:r>
              <a:rPr sz="1050">
                <a:solidFill>
                  <a:srgbClr val="CBD5E1"/>
                </a:solidFill>
                <a:latin typeface="Segoe UI"/>
              </a:rPr>
              <a:t>— docstrings, README, inline comments</a:t>
            </a:r>
          </a:p>
          <a:p>
            <a:pPr>
              <a:spcAft>
                <a:spcPts val="500"/>
              </a:spcAft>
            </a:pPr>
            <a:r>
              <a:rPr b="1" sz="1100">
                <a:solidFill>
                  <a:srgbClr val="8B5CF6"/>
                </a:solidFill>
                <a:latin typeface="Segoe UI"/>
              </a:rPr>
              <a:t>Debugging  </a:t>
            </a:r>
            <a:r>
              <a:rPr sz="1050">
                <a:solidFill>
                  <a:srgbClr val="CBD5E1"/>
                </a:solidFill>
                <a:latin typeface="Segoe UI"/>
              </a:rPr>
              <a:t>— trace errors, fix type mismatches</a:t>
            </a:r>
          </a:p>
        </p:txBody>
      </p:sp>
      <p:sp>
        <p:nvSpPr>
          <p:cNvPr id="14" name="Rounded Rectangle 13"/>
          <p:cNvSpPr/>
          <p:nvPr/>
        </p:nvSpPr>
        <p:spPr>
          <a:xfrm>
            <a:off x="4663440" y="2926080"/>
            <a:ext cx="822960" cy="1280160"/>
          </a:xfrm>
          <a:prstGeom prst="roundRect">
            <a:avLst/>
          </a:prstGeom>
          <a:solidFill>
            <a:srgbClr val="0F112B"/>
          </a:solidFill>
          <a:ln w="12700">
            <a:solidFill>
              <a:srgbClr val="2D3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108960"/>
            <a:ext cx="822960" cy="914400"/>
          </a:xfrm>
          <a:prstGeom prst="rect">
            <a:avLst/>
          </a:prstGeom>
          <a:noFill/>
        </p:spPr>
        <p:txBody>
          <a:bodyPr wrap="none">
            <a:spAutoFit/>
          </a:bodyPr>
          <a:lstStyle/>
          <a:p>
            <a:pPr algn="ctr">
              <a:defRPr sz="2800">
                <a:solidFill>
                  <a:srgbClr val="64748B"/>
                </a:solidFill>
                <a:latin typeface="Segoe UI"/>
              </a:defRPr>
            </a:pPr>
            <a:r>
              <a:t>→</a:t>
            </a:r>
          </a:p>
        </p:txBody>
      </p:sp>
      <p:sp>
        <p:nvSpPr>
          <p:cNvPr id="16" name="Rounded Rectangle 15"/>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3B82F6"/>
                </a:solidFill>
                <a:latin typeface="Segoe UI"/>
              </a:rPr>
              <a:t>WORKFLOW:  Human → Prompt with Context → AI Writes Code → AI Writes Tests → Human Reviews Diff → Commit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500"/>
                                  <p:tgtEl>
                                    <p:spTgt spid="6"/>
                                  </p:tgtEl>
                                </p:cBhvr>
                              </p:animEffect>
                            </p:childTnLst>
                          </p:cTn>
                        </p:par>
                      </p:childTnLst>
                    </p:cTn>
                  </p:par>
                  <p:par>
                    <p:cTn id="6" fill="hold">
                      <p:stCondLst>
                        <p:cond delay="0"/>
                      </p:stCondLst>
                      <p:childTnLst>
                        <p:par>
                          <p:cTn id="7" presetID="10" presetClass="entr" presetSubtype="0" fill="hold" nodeType="withEffect">
                            <p:stCondLst>
                              <p:cond delay="300"/>
                            </p:stCondLst>
                            <p:childTnLst>
                              <p:animEffect transition="in" filter="fade">
                                <p:cBhvr>
                                  <p:cTn id="8" dur="500"/>
                                  <p:tgtEl>
                                    <p:spTgt spid="10"/>
                                  </p:tgtEl>
                                </p:cBhvr>
                              </p:animEffect>
                            </p:childTnLst>
                          </p:cTn>
                        </p:par>
                      </p:childTnLst>
                    </p:cTn>
                  </p:par>
                </p:childTn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ENGINEERING COMMANDMENTS</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6 rules that keep AI-assisted development safe.</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11</a:t>
            </a:r>
          </a:p>
        </p:txBody>
      </p:sp>
      <p:sp>
        <p:nvSpPr>
          <p:cNvPr id="6" name="Rounded Rectangle 5"/>
          <p:cNvSpPr/>
          <p:nvPr/>
        </p:nvSpPr>
        <p:spPr>
          <a:xfrm>
            <a:off x="777240" y="1417320"/>
            <a:ext cx="1664208"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1664208"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600200"/>
            <a:ext cx="594360" cy="59436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01</a:t>
            </a:r>
          </a:p>
        </p:txBody>
      </p:sp>
      <p:sp>
        <p:nvSpPr>
          <p:cNvPr id="9" name="TextBox 8"/>
          <p:cNvSpPr txBox="1"/>
          <p:nvPr/>
        </p:nvSpPr>
        <p:spPr>
          <a:xfrm>
            <a:off x="832104" y="2331720"/>
            <a:ext cx="1554480" cy="548640"/>
          </a:xfrm>
          <a:prstGeom prst="rect">
            <a:avLst/>
          </a:prstGeom>
          <a:noFill/>
        </p:spPr>
        <p:txBody>
          <a:bodyPr wrap="square">
            <a:spAutoFit/>
          </a:bodyPr>
          <a:lstStyle/>
          <a:p>
            <a:pPr algn="ctr">
              <a:defRPr sz="1150" b="1">
                <a:solidFill>
                  <a:srgbClr val="FFFFFF"/>
                </a:solidFill>
                <a:latin typeface="Segoe UI"/>
              </a:defRPr>
            </a:pPr>
            <a:r>
              <a:t>Never let AI invent schemas</a:t>
            </a:r>
          </a:p>
        </p:txBody>
      </p:sp>
      <p:sp>
        <p:nvSpPr>
          <p:cNvPr id="10" name="TextBox 9"/>
          <p:cNvSpPr txBox="1"/>
          <p:nvPr/>
        </p:nvSpPr>
        <p:spPr>
          <a:xfrm>
            <a:off x="850392" y="2926080"/>
            <a:ext cx="1517904" cy="2286000"/>
          </a:xfrm>
          <a:prstGeom prst="rect">
            <a:avLst/>
          </a:prstGeom>
          <a:noFill/>
        </p:spPr>
        <p:txBody>
          <a:bodyPr wrap="square">
            <a:spAutoFit/>
          </a:bodyPr>
          <a:lstStyle/>
          <a:p>
            <a:pPr algn="ctr">
              <a:spcAft>
                <a:spcPts val="300"/>
              </a:spcAft>
              <a:defRPr sz="1000">
                <a:solidFill>
                  <a:srgbClr val="CBD5E1"/>
                </a:solidFill>
                <a:latin typeface="Segoe UI"/>
              </a:defRPr>
            </a:pPr>
            <a:r>
              <a:t>All data models must follow</a:t>
            </a:r>
          </a:p>
          <a:p>
            <a:pPr algn="ctr">
              <a:spcAft>
                <a:spcPts val="300"/>
              </a:spcAft>
              <a:defRPr sz="1000">
                <a:solidFill>
                  <a:srgbClr val="CBD5E1"/>
                </a:solidFill>
                <a:latin typeface="Segoe UI"/>
              </a:defRPr>
            </a:pPr>
            <a:r>
              <a:t>docs/CASE_SCHEMA.md &amp;</a:t>
            </a:r>
          </a:p>
          <a:p>
            <a:pPr algn="ctr">
              <a:spcAft>
                <a:spcPts val="300"/>
              </a:spcAft>
              <a:defRPr sz="1000">
                <a:solidFill>
                  <a:srgbClr val="CBD5E1"/>
                </a:solidFill>
                <a:latin typeface="Segoe UI"/>
              </a:defRPr>
            </a:pPr>
            <a:r>
              <a:t>docs/API_CONTRACT.md</a:t>
            </a:r>
          </a:p>
        </p:txBody>
      </p:sp>
      <p:sp>
        <p:nvSpPr>
          <p:cNvPr id="11" name="Rounded Rectangle 10"/>
          <p:cNvSpPr/>
          <p:nvPr/>
        </p:nvSpPr>
        <p:spPr>
          <a:xfrm>
            <a:off x="2578608" y="1417320"/>
            <a:ext cx="1664208"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78608" y="1417320"/>
            <a:ext cx="1664208"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81528" y="1600200"/>
            <a:ext cx="594360" cy="5943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02</a:t>
            </a:r>
          </a:p>
        </p:txBody>
      </p:sp>
      <p:sp>
        <p:nvSpPr>
          <p:cNvPr id="14" name="TextBox 13"/>
          <p:cNvSpPr txBox="1"/>
          <p:nvPr/>
        </p:nvSpPr>
        <p:spPr>
          <a:xfrm>
            <a:off x="2633472" y="2331720"/>
            <a:ext cx="1554480" cy="548640"/>
          </a:xfrm>
          <a:prstGeom prst="rect">
            <a:avLst/>
          </a:prstGeom>
          <a:noFill/>
        </p:spPr>
        <p:txBody>
          <a:bodyPr wrap="square">
            <a:spAutoFit/>
          </a:bodyPr>
          <a:lstStyle/>
          <a:p>
            <a:pPr algn="ctr">
              <a:defRPr sz="1150" b="1">
                <a:solidFill>
                  <a:srgbClr val="FFFFFF"/>
                </a:solidFill>
                <a:latin typeface="Segoe UI"/>
              </a:defRPr>
            </a:pPr>
            <a:r>
              <a:t>One Task ID per session</a:t>
            </a:r>
          </a:p>
        </p:txBody>
      </p:sp>
      <p:sp>
        <p:nvSpPr>
          <p:cNvPr id="15" name="TextBox 14"/>
          <p:cNvSpPr txBox="1"/>
          <p:nvPr/>
        </p:nvSpPr>
        <p:spPr>
          <a:xfrm>
            <a:off x="2651760" y="2926080"/>
            <a:ext cx="1517904" cy="2286000"/>
          </a:xfrm>
          <a:prstGeom prst="rect">
            <a:avLst/>
          </a:prstGeom>
          <a:noFill/>
        </p:spPr>
        <p:txBody>
          <a:bodyPr wrap="square">
            <a:spAutoFit/>
          </a:bodyPr>
          <a:lstStyle/>
          <a:p>
            <a:pPr algn="ctr">
              <a:spcAft>
                <a:spcPts val="300"/>
              </a:spcAft>
              <a:defRPr sz="1000">
                <a:solidFill>
                  <a:srgbClr val="CBD5E1"/>
                </a:solidFill>
                <a:latin typeface="Segoe UI"/>
              </a:defRPr>
            </a:pPr>
            <a:r>
              <a:t>Prompt for CORE-009, not</a:t>
            </a:r>
          </a:p>
          <a:p>
            <a:pPr algn="ctr">
              <a:spcAft>
                <a:spcPts val="300"/>
              </a:spcAft>
              <a:defRPr sz="1000">
                <a:solidFill>
                  <a:srgbClr val="CBD5E1"/>
                </a:solidFill>
                <a:latin typeface="Segoe UI"/>
              </a:defRPr>
            </a:pPr>
            <a:r>
              <a:t>'build the backend'.</a:t>
            </a:r>
          </a:p>
          <a:p>
            <a:pPr algn="ctr">
              <a:spcAft>
                <a:spcPts val="300"/>
              </a:spcAft>
              <a:defRPr sz="1000">
                <a:solidFill>
                  <a:srgbClr val="CBD5E1"/>
                </a:solidFill>
                <a:latin typeface="Segoe UI"/>
              </a:defRPr>
            </a:pPr>
            <a:r>
              <a:t>Keep context atomic.</a:t>
            </a:r>
          </a:p>
        </p:txBody>
      </p:sp>
      <p:sp>
        <p:nvSpPr>
          <p:cNvPr id="16" name="Rounded Rectangle 15"/>
          <p:cNvSpPr/>
          <p:nvPr/>
        </p:nvSpPr>
        <p:spPr>
          <a:xfrm>
            <a:off x="4379976" y="1417320"/>
            <a:ext cx="1664208"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79976" y="1417320"/>
            <a:ext cx="1664208"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82896" y="1600200"/>
            <a:ext cx="594360" cy="5943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03</a:t>
            </a:r>
          </a:p>
        </p:txBody>
      </p:sp>
      <p:sp>
        <p:nvSpPr>
          <p:cNvPr id="19" name="TextBox 18"/>
          <p:cNvSpPr txBox="1"/>
          <p:nvPr/>
        </p:nvSpPr>
        <p:spPr>
          <a:xfrm>
            <a:off x="4434840" y="2331720"/>
            <a:ext cx="1554480" cy="548640"/>
          </a:xfrm>
          <a:prstGeom prst="rect">
            <a:avLst/>
          </a:prstGeom>
          <a:noFill/>
        </p:spPr>
        <p:txBody>
          <a:bodyPr wrap="square">
            <a:spAutoFit/>
          </a:bodyPr>
          <a:lstStyle/>
          <a:p>
            <a:pPr algn="ctr">
              <a:defRPr sz="1150" b="1">
                <a:solidFill>
                  <a:srgbClr val="FFFFFF"/>
                </a:solidFill>
                <a:latin typeface="Segoe UI"/>
              </a:defRPr>
            </a:pPr>
            <a:r>
              <a:t>Always provide context files</a:t>
            </a:r>
          </a:p>
        </p:txBody>
      </p:sp>
      <p:sp>
        <p:nvSpPr>
          <p:cNvPr id="20" name="TextBox 19"/>
          <p:cNvSpPr txBox="1"/>
          <p:nvPr/>
        </p:nvSpPr>
        <p:spPr>
          <a:xfrm>
            <a:off x="4453128" y="2926080"/>
            <a:ext cx="1517904" cy="2286000"/>
          </a:xfrm>
          <a:prstGeom prst="rect">
            <a:avLst/>
          </a:prstGeom>
          <a:noFill/>
        </p:spPr>
        <p:txBody>
          <a:bodyPr wrap="square">
            <a:spAutoFit/>
          </a:bodyPr>
          <a:lstStyle/>
          <a:p>
            <a:pPr algn="ctr">
              <a:spcAft>
                <a:spcPts val="300"/>
              </a:spcAft>
              <a:defRPr sz="1000">
                <a:solidFill>
                  <a:srgbClr val="CBD5E1"/>
                </a:solidFill>
                <a:latin typeface="Segoe UI"/>
              </a:defRPr>
            </a:pPr>
            <a:r>
              <a:t>Give AI your Master Prompt +</a:t>
            </a:r>
          </a:p>
          <a:p>
            <a:pPr algn="ctr">
              <a:spcAft>
                <a:spcPts val="300"/>
              </a:spcAft>
              <a:defRPr sz="1000">
                <a:solidFill>
                  <a:srgbClr val="CBD5E1"/>
                </a:solidFill>
                <a:latin typeface="Segoe UI"/>
              </a:defRPr>
            </a:pPr>
            <a:r>
              <a:t>blueprint + task definition</a:t>
            </a:r>
          </a:p>
          <a:p>
            <a:pPr algn="ctr">
              <a:spcAft>
                <a:spcPts val="300"/>
              </a:spcAft>
              <a:defRPr sz="1000">
                <a:solidFill>
                  <a:srgbClr val="CBD5E1"/>
                </a:solidFill>
                <a:latin typeface="Segoe UI"/>
              </a:defRPr>
            </a:pPr>
            <a:r>
              <a:t>at session start.</a:t>
            </a:r>
          </a:p>
        </p:txBody>
      </p:sp>
      <p:sp>
        <p:nvSpPr>
          <p:cNvPr id="21" name="Rounded Rectangle 20"/>
          <p:cNvSpPr/>
          <p:nvPr/>
        </p:nvSpPr>
        <p:spPr>
          <a:xfrm>
            <a:off x="6181344" y="1417320"/>
            <a:ext cx="1664208"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417320"/>
            <a:ext cx="1664208"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84264" y="1600200"/>
            <a:ext cx="594360" cy="59436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04</a:t>
            </a:r>
          </a:p>
        </p:txBody>
      </p:sp>
      <p:sp>
        <p:nvSpPr>
          <p:cNvPr id="24" name="TextBox 23"/>
          <p:cNvSpPr txBox="1"/>
          <p:nvPr/>
        </p:nvSpPr>
        <p:spPr>
          <a:xfrm>
            <a:off x="6236208" y="2331720"/>
            <a:ext cx="1554480" cy="548640"/>
          </a:xfrm>
          <a:prstGeom prst="rect">
            <a:avLst/>
          </a:prstGeom>
          <a:noFill/>
        </p:spPr>
        <p:txBody>
          <a:bodyPr wrap="square">
            <a:spAutoFit/>
          </a:bodyPr>
          <a:lstStyle/>
          <a:p>
            <a:pPr algn="ctr">
              <a:defRPr sz="1150" b="1">
                <a:solidFill>
                  <a:srgbClr val="FFFFFF"/>
                </a:solidFill>
                <a:latin typeface="Segoe UI"/>
              </a:defRPr>
            </a:pPr>
            <a:r>
              <a:t>Never touch teammate's files</a:t>
            </a:r>
          </a:p>
        </p:txBody>
      </p:sp>
      <p:sp>
        <p:nvSpPr>
          <p:cNvPr id="25" name="TextBox 24"/>
          <p:cNvSpPr txBox="1"/>
          <p:nvPr/>
        </p:nvSpPr>
        <p:spPr>
          <a:xfrm>
            <a:off x="6254496" y="2926080"/>
            <a:ext cx="1517904" cy="2286000"/>
          </a:xfrm>
          <a:prstGeom prst="rect">
            <a:avLst/>
          </a:prstGeom>
          <a:noFill/>
        </p:spPr>
        <p:txBody>
          <a:bodyPr wrap="square">
            <a:spAutoFit/>
          </a:bodyPr>
          <a:lstStyle/>
          <a:p>
            <a:pPr algn="ctr">
              <a:spcAft>
                <a:spcPts val="300"/>
              </a:spcAft>
              <a:defRPr sz="1000">
                <a:solidFill>
                  <a:srgbClr val="CBD5E1"/>
                </a:solidFill>
                <a:latin typeface="Segoe UI"/>
              </a:defRPr>
            </a:pPr>
            <a:r>
              <a:t>T1 doesn't edit backend/.</a:t>
            </a:r>
          </a:p>
          <a:p>
            <a:pPr algn="ctr">
              <a:spcAft>
                <a:spcPts val="300"/>
              </a:spcAft>
              <a:defRPr sz="1000">
                <a:solidFill>
                  <a:srgbClr val="CBD5E1"/>
                </a:solidFill>
                <a:latin typeface="Segoe UI"/>
              </a:defRPr>
            </a:pPr>
            <a:r>
              <a:t>T2 doesn't edit scripts/.</a:t>
            </a:r>
          </a:p>
          <a:p>
            <a:pPr algn="ctr">
              <a:spcAft>
                <a:spcPts val="300"/>
              </a:spcAft>
              <a:defRPr sz="1000">
                <a:solidFill>
                  <a:srgbClr val="CBD5E1"/>
                </a:solidFill>
                <a:latin typeface="Segoe UI"/>
              </a:defRPr>
            </a:pPr>
            <a:r>
              <a:t>AI inspects first.</a:t>
            </a:r>
          </a:p>
        </p:txBody>
      </p:sp>
      <p:sp>
        <p:nvSpPr>
          <p:cNvPr id="26" name="Rounded Rectangle 25"/>
          <p:cNvSpPr/>
          <p:nvPr/>
        </p:nvSpPr>
        <p:spPr>
          <a:xfrm>
            <a:off x="7982712" y="1417320"/>
            <a:ext cx="1664208"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82712" y="1417320"/>
            <a:ext cx="1664208"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85632" y="160020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05</a:t>
            </a:r>
          </a:p>
        </p:txBody>
      </p:sp>
      <p:sp>
        <p:nvSpPr>
          <p:cNvPr id="29" name="TextBox 28"/>
          <p:cNvSpPr txBox="1"/>
          <p:nvPr/>
        </p:nvSpPr>
        <p:spPr>
          <a:xfrm>
            <a:off x="8037576" y="2331720"/>
            <a:ext cx="1554480" cy="548640"/>
          </a:xfrm>
          <a:prstGeom prst="rect">
            <a:avLst/>
          </a:prstGeom>
          <a:noFill/>
        </p:spPr>
        <p:txBody>
          <a:bodyPr wrap="square">
            <a:spAutoFit/>
          </a:bodyPr>
          <a:lstStyle/>
          <a:p>
            <a:pPr algn="ctr">
              <a:defRPr sz="1150" b="1">
                <a:solidFill>
                  <a:srgbClr val="FFFFFF"/>
                </a:solidFill>
                <a:latin typeface="Segoe UI"/>
              </a:defRPr>
            </a:pPr>
            <a:r>
              <a:t>Tests + build before done</a:t>
            </a:r>
          </a:p>
        </p:txBody>
      </p:sp>
      <p:sp>
        <p:nvSpPr>
          <p:cNvPr id="30" name="TextBox 29"/>
          <p:cNvSpPr txBox="1"/>
          <p:nvPr/>
        </p:nvSpPr>
        <p:spPr>
          <a:xfrm>
            <a:off x="8055864" y="2926080"/>
            <a:ext cx="1517904" cy="2286000"/>
          </a:xfrm>
          <a:prstGeom prst="rect">
            <a:avLst/>
          </a:prstGeom>
          <a:noFill/>
        </p:spPr>
        <p:txBody>
          <a:bodyPr wrap="square">
            <a:spAutoFit/>
          </a:bodyPr>
          <a:lstStyle/>
          <a:p>
            <a:pPr algn="ctr">
              <a:spcAft>
                <a:spcPts val="300"/>
              </a:spcAft>
              <a:defRPr sz="1000">
                <a:solidFill>
                  <a:srgbClr val="CBD5E1"/>
                </a:solidFill>
                <a:latin typeface="Segoe UI"/>
              </a:defRPr>
            </a:pPr>
            <a:r>
              <a:t>AI writes unit tests.</a:t>
            </a:r>
          </a:p>
          <a:p>
            <a:pPr algn="ctr">
              <a:spcAft>
                <a:spcPts val="300"/>
              </a:spcAft>
              <a:defRPr sz="1000">
                <a:solidFill>
                  <a:srgbClr val="CBD5E1"/>
                </a:solidFill>
                <a:latin typeface="Segoe UI"/>
              </a:defRPr>
            </a:pPr>
            <a:r>
              <a:t>Not done until pytest /</a:t>
            </a:r>
          </a:p>
          <a:p>
            <a:pPr algn="ctr">
              <a:spcAft>
                <a:spcPts val="300"/>
              </a:spcAft>
              <a:defRPr sz="1000">
                <a:solidFill>
                  <a:srgbClr val="CBD5E1"/>
                </a:solidFill>
                <a:latin typeface="Segoe UI"/>
              </a:defRPr>
            </a:pPr>
            <a:r>
              <a:t>npm run build passes.</a:t>
            </a:r>
          </a:p>
        </p:txBody>
      </p:sp>
      <p:sp>
        <p:nvSpPr>
          <p:cNvPr id="31" name="Rounded Rectangle 30"/>
          <p:cNvSpPr/>
          <p:nvPr/>
        </p:nvSpPr>
        <p:spPr>
          <a:xfrm>
            <a:off x="9784080" y="1417320"/>
            <a:ext cx="1664208" cy="416052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84080" y="1417320"/>
            <a:ext cx="1664208" cy="381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87000" y="1600200"/>
            <a:ext cx="594360" cy="594360"/>
          </a:xfrm>
          <a:prstGeom prst="ellipse">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06</a:t>
            </a:r>
          </a:p>
        </p:txBody>
      </p:sp>
      <p:sp>
        <p:nvSpPr>
          <p:cNvPr id="34" name="TextBox 33"/>
          <p:cNvSpPr txBox="1"/>
          <p:nvPr/>
        </p:nvSpPr>
        <p:spPr>
          <a:xfrm>
            <a:off x="9838944" y="2331720"/>
            <a:ext cx="1554480" cy="548640"/>
          </a:xfrm>
          <a:prstGeom prst="rect">
            <a:avLst/>
          </a:prstGeom>
          <a:noFill/>
        </p:spPr>
        <p:txBody>
          <a:bodyPr wrap="square">
            <a:spAutoFit/>
          </a:bodyPr>
          <a:lstStyle/>
          <a:p>
            <a:pPr algn="ctr">
              <a:defRPr sz="1150" b="1">
                <a:solidFill>
                  <a:srgbClr val="FFFFFF"/>
                </a:solidFill>
                <a:latin typeface="Segoe UI"/>
              </a:defRPr>
            </a:pPr>
            <a:r>
              <a:t>Contracts need live sync</a:t>
            </a:r>
          </a:p>
        </p:txBody>
      </p:sp>
      <p:sp>
        <p:nvSpPr>
          <p:cNvPr id="35" name="TextBox 34"/>
          <p:cNvSpPr txBox="1"/>
          <p:nvPr/>
        </p:nvSpPr>
        <p:spPr>
          <a:xfrm>
            <a:off x="9857232" y="2926080"/>
            <a:ext cx="1517904" cy="2286000"/>
          </a:xfrm>
          <a:prstGeom prst="rect">
            <a:avLst/>
          </a:prstGeom>
          <a:noFill/>
        </p:spPr>
        <p:txBody>
          <a:bodyPr wrap="square">
            <a:spAutoFit/>
          </a:bodyPr>
          <a:lstStyle/>
          <a:p>
            <a:pPr algn="ctr">
              <a:spcAft>
                <a:spcPts val="300"/>
              </a:spcAft>
              <a:defRPr sz="1000">
                <a:solidFill>
                  <a:srgbClr val="CBD5E1"/>
                </a:solidFill>
                <a:latin typeface="Segoe UI"/>
              </a:defRPr>
            </a:pPr>
            <a:r>
              <a:t>Zero tolerance for silent</a:t>
            </a:r>
          </a:p>
          <a:p>
            <a:pPr algn="ctr">
              <a:spcAft>
                <a:spcPts val="300"/>
              </a:spcAft>
              <a:defRPr sz="1000">
                <a:solidFill>
                  <a:srgbClr val="CBD5E1"/>
                </a:solidFill>
                <a:latin typeface="Segoe UI"/>
              </a:defRPr>
            </a:pPr>
            <a:r>
              <a:t>schema changes. Sync with</a:t>
            </a:r>
          </a:p>
          <a:p>
            <a:pPr algn="ctr">
              <a:spcAft>
                <a:spcPts val="300"/>
              </a:spcAft>
              <a:defRPr sz="1000">
                <a:solidFill>
                  <a:srgbClr val="CBD5E1"/>
                </a:solidFill>
                <a:latin typeface="Segoe UI"/>
              </a:defRPr>
            </a:pPr>
            <a:r>
              <a:t>all 4 devs first.</a:t>
            </a:r>
          </a:p>
        </p:txBody>
      </p:sp>
      <p:sp>
        <p:nvSpPr>
          <p:cNvPr id="36" name="Rounded Rectangle 35"/>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59E0B"/>
                </a:solidFill>
                <a:latin typeface="Segoe UI"/>
              </a:rPr>
              <a:t>These laws are non-negotiable. Violating any one of them will cause integration failures and wasted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400"/>
                                  <p:tgtEl>
                                    <p:spTgt spid="6"/>
                                  </p:tgtEl>
                                </p:cBhvr>
                              </p:animEffect>
                            </p:childTnLst>
                          </p:cTn>
                        </p:par>
                      </p:childTnLst>
                    </p:cTn>
                  </p:par>
                  <p:par>
                    <p:cTn id="6" fill="hold">
                      <p:stCondLst>
                        <p:cond delay="0"/>
                      </p:stCondLst>
                      <p:childTnLst>
                        <p:par>
                          <p:cTn id="7" presetID="10" presetClass="entr" presetSubtype="0" fill="hold" nodeType="withEffect">
                            <p:stCondLst>
                              <p:cond delay="150"/>
                            </p:stCondLst>
                            <p:childTnLst>
                              <p:animEffect transition="in" filter="fade">
                                <p:cBhvr>
                                  <p:cTn id="8" dur="400"/>
                                  <p:tgtEl>
                                    <p:spTgt spid="11"/>
                                  </p:tgtEl>
                                </p:cBhvr>
                              </p:animEffect>
                            </p:childTnLst>
                          </p:cTn>
                        </p:par>
                      </p:childTnLst>
                    </p:cTn>
                  </p:par>
                  <p:par>
                    <p:cTn id="9" fill="hold">
                      <p:stCondLst>
                        <p:cond delay="0"/>
                      </p:stCondLst>
                      <p:childTnLst>
                        <p:par>
                          <p:cTn id="10" presetID="10" presetClass="entr" presetSubtype="0" fill="hold" nodeType="withEffect">
                            <p:stCondLst>
                              <p:cond delay="300"/>
                            </p:stCondLst>
                            <p:childTnLst>
                              <p:animEffect transition="in" filter="fade">
                                <p:cBhvr>
                                  <p:cTn id="11" dur="400"/>
                                  <p:tgtEl>
                                    <p:spTgt spid="16"/>
                                  </p:tgtEl>
                                </p:cBhvr>
                              </p:animEffect>
                            </p:childTnLst>
                          </p:cTn>
                        </p:par>
                      </p:childTnLst>
                    </p:cTn>
                  </p:par>
                  <p:par>
                    <p:cTn id="12" fill="hold">
                      <p:stCondLst>
                        <p:cond delay="0"/>
                      </p:stCondLst>
                      <p:childTnLst>
                        <p:par>
                          <p:cTn id="13" presetID="10" presetClass="entr" presetSubtype="0" fill="hold" nodeType="withEffect">
                            <p:stCondLst>
                              <p:cond delay="450"/>
                            </p:stCondLst>
                            <p:childTnLst>
                              <p:animEffect transition="in" filter="fade">
                                <p:cBhvr>
                                  <p:cTn id="14" dur="400"/>
                                  <p:tgtEl>
                                    <p:spTgt spid="21"/>
                                  </p:tgtEl>
                                </p:cBhvr>
                              </p:animEffect>
                            </p:childTnLst>
                          </p:cTn>
                        </p:par>
                      </p:childTnLst>
                    </p:cTn>
                  </p:par>
                  <p:par>
                    <p:cTn id="15" fill="hold">
                      <p:stCondLst>
                        <p:cond delay="0"/>
                      </p:stCondLst>
                      <p:childTnLst>
                        <p:par>
                          <p:cTn id="16" presetID="10" presetClass="entr" presetSubtype="0" fill="hold" nodeType="withEffect">
                            <p:stCondLst>
                              <p:cond delay="600"/>
                            </p:stCondLst>
                            <p:childTnLst>
                              <p:animEffect transition="in" filter="fade">
                                <p:cBhvr>
                                  <p:cTn id="17" dur="400"/>
                                  <p:tgtEl>
                                    <p:spTgt spid="26"/>
                                  </p:tgtEl>
                                </p:cBhvr>
                              </p:animEffect>
                            </p:childTnLst>
                          </p:cTn>
                        </p:par>
                      </p:childTnLst>
                    </p:cTn>
                  </p:par>
                  <p:par>
                    <p:cTn id="18" fill="hold">
                      <p:stCondLst>
                        <p:cond delay="0"/>
                      </p:stCondLst>
                      <p:childTnLst>
                        <p:par>
                          <p:cTn id="19" presetID="10" presetClass="entr" presetSubtype="0" fill="hold" nodeType="withEffect">
                            <p:stCondLst>
                              <p:cond delay="750"/>
                            </p:stCondLst>
                            <p:childTnLst>
                              <p:animEffect transition="in" filter="fade">
                                <p:cBhvr>
                                  <p:cTn id="20" dur="400"/>
                                  <p:tgtEl>
                                    <p:spTgt spid="31"/>
                                  </p:tgtEl>
                                </p:cBhvr>
                              </p:animEffect>
                            </p:childTnLst>
                          </p:cTn>
                        </p:par>
                      </p:childTnLst>
                    </p:cTn>
                  </p:par>
                </p:childTnLst>
              </p:cTn>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DAILY WORKFLOW</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Every developer follows the same loop — every task, every day.</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12</a:t>
            </a:r>
          </a:p>
        </p:txBody>
      </p:sp>
      <p:sp>
        <p:nvSpPr>
          <p:cNvPr id="6" name="Rounded Rectangle 5"/>
          <p:cNvSpPr/>
          <p:nvPr/>
        </p:nvSpPr>
        <p:spPr>
          <a:xfrm>
            <a:off x="777240" y="1417320"/>
            <a:ext cx="2880360" cy="19659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288036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86968" y="1581912"/>
            <a:ext cx="502920" cy="50292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1</a:t>
            </a:r>
          </a:p>
        </p:txBody>
      </p:sp>
      <p:sp>
        <p:nvSpPr>
          <p:cNvPr id="9" name="TextBox 8"/>
          <p:cNvSpPr txBox="1"/>
          <p:nvPr/>
        </p:nvSpPr>
        <p:spPr>
          <a:xfrm>
            <a:off x="1508760" y="1600200"/>
            <a:ext cx="2011680" cy="320040"/>
          </a:xfrm>
          <a:prstGeom prst="rect">
            <a:avLst/>
          </a:prstGeom>
          <a:noFill/>
        </p:spPr>
        <p:txBody>
          <a:bodyPr wrap="none">
            <a:spAutoFit/>
          </a:bodyPr>
          <a:lstStyle/>
          <a:p>
            <a:pPr>
              <a:defRPr sz="1300" b="1">
                <a:solidFill>
                  <a:srgbClr val="FFFFFF"/>
                </a:solidFill>
                <a:latin typeface="Segoe UI"/>
              </a:defRPr>
            </a:pPr>
            <a:r>
              <a:t>Pull develop</a:t>
            </a:r>
          </a:p>
        </p:txBody>
      </p:sp>
      <p:sp>
        <p:nvSpPr>
          <p:cNvPr id="10" name="TextBox 9"/>
          <p:cNvSpPr txBox="1"/>
          <p:nvPr/>
        </p:nvSpPr>
        <p:spPr>
          <a:xfrm>
            <a:off x="1508760" y="1920240"/>
            <a:ext cx="2011680" cy="274320"/>
          </a:xfrm>
          <a:prstGeom prst="rect">
            <a:avLst/>
          </a:prstGeom>
          <a:noFill/>
        </p:spPr>
        <p:txBody>
          <a:bodyPr wrap="none">
            <a:spAutoFit/>
          </a:bodyPr>
          <a:lstStyle/>
          <a:p>
            <a:pPr>
              <a:defRPr sz="1000">
                <a:solidFill>
                  <a:srgbClr val="3B82F6"/>
                </a:solidFill>
                <a:latin typeface="Consolas"/>
              </a:defRPr>
            </a:pPr>
            <a:r>
              <a:t>git pull develop</a:t>
            </a:r>
          </a:p>
        </p:txBody>
      </p:sp>
      <p:sp>
        <p:nvSpPr>
          <p:cNvPr id="11" name="TextBox 10"/>
          <p:cNvSpPr txBox="1"/>
          <p:nvPr/>
        </p:nvSpPr>
        <p:spPr>
          <a:xfrm>
            <a:off x="3657600" y="1691640"/>
            <a:ext cx="182880" cy="274320"/>
          </a:xfrm>
          <a:prstGeom prst="rect">
            <a:avLst/>
          </a:prstGeom>
          <a:noFill/>
        </p:spPr>
        <p:txBody>
          <a:bodyPr wrap="none">
            <a:spAutoFit/>
          </a:bodyPr>
          <a:lstStyle/>
          <a:p>
            <a:pPr algn="ctr">
              <a:defRPr sz="1400">
                <a:solidFill>
                  <a:srgbClr val="64748B"/>
                </a:solidFill>
              </a:defRPr>
            </a:pPr>
            <a:r>
              <a:t>→</a:t>
            </a:r>
          </a:p>
        </p:txBody>
      </p:sp>
      <p:sp>
        <p:nvSpPr>
          <p:cNvPr id="12" name="Rounded Rectangle 11"/>
          <p:cNvSpPr/>
          <p:nvPr/>
        </p:nvSpPr>
        <p:spPr>
          <a:xfrm>
            <a:off x="3840480" y="1417320"/>
            <a:ext cx="2880360" cy="19659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0" y="1417320"/>
            <a:ext cx="288036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950208" y="1581912"/>
            <a:ext cx="502920" cy="50292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2</a:t>
            </a:r>
          </a:p>
        </p:txBody>
      </p:sp>
      <p:sp>
        <p:nvSpPr>
          <p:cNvPr id="15" name="TextBox 14"/>
          <p:cNvSpPr txBox="1"/>
          <p:nvPr/>
        </p:nvSpPr>
        <p:spPr>
          <a:xfrm>
            <a:off x="4572000" y="1600200"/>
            <a:ext cx="2011680" cy="320040"/>
          </a:xfrm>
          <a:prstGeom prst="rect">
            <a:avLst/>
          </a:prstGeom>
          <a:noFill/>
        </p:spPr>
        <p:txBody>
          <a:bodyPr wrap="none">
            <a:spAutoFit/>
          </a:bodyPr>
          <a:lstStyle/>
          <a:p>
            <a:pPr>
              <a:defRPr sz="1300" b="1">
                <a:solidFill>
                  <a:srgbClr val="FFFFFF"/>
                </a:solidFill>
                <a:latin typeface="Segoe UI"/>
              </a:defRPr>
            </a:pPr>
            <a:r>
              <a:t>Branch</a:t>
            </a:r>
          </a:p>
        </p:txBody>
      </p:sp>
      <p:sp>
        <p:nvSpPr>
          <p:cNvPr id="16" name="TextBox 15"/>
          <p:cNvSpPr txBox="1"/>
          <p:nvPr/>
        </p:nvSpPr>
        <p:spPr>
          <a:xfrm>
            <a:off x="4572000" y="1920240"/>
            <a:ext cx="2011680" cy="274320"/>
          </a:xfrm>
          <a:prstGeom prst="rect">
            <a:avLst/>
          </a:prstGeom>
          <a:noFill/>
        </p:spPr>
        <p:txBody>
          <a:bodyPr wrap="none">
            <a:spAutoFit/>
          </a:bodyPr>
          <a:lstStyle/>
          <a:p>
            <a:pPr>
              <a:defRPr sz="1000">
                <a:solidFill>
                  <a:srgbClr val="22D3EE"/>
                </a:solidFill>
                <a:latin typeface="Consolas"/>
              </a:defRPr>
            </a:pPr>
            <a:r>
              <a:t>feature/TASK-ID-name</a:t>
            </a:r>
          </a:p>
        </p:txBody>
      </p:sp>
      <p:sp>
        <p:nvSpPr>
          <p:cNvPr id="17" name="TextBox 16"/>
          <p:cNvSpPr txBox="1"/>
          <p:nvPr/>
        </p:nvSpPr>
        <p:spPr>
          <a:xfrm>
            <a:off x="6720840" y="1691640"/>
            <a:ext cx="182880" cy="274320"/>
          </a:xfrm>
          <a:prstGeom prst="rect">
            <a:avLst/>
          </a:prstGeom>
          <a:noFill/>
        </p:spPr>
        <p:txBody>
          <a:bodyPr wrap="none">
            <a:spAutoFit/>
          </a:bodyPr>
          <a:lstStyle/>
          <a:p>
            <a:pPr algn="ctr">
              <a:defRPr sz="1400">
                <a:solidFill>
                  <a:srgbClr val="64748B"/>
                </a:solidFill>
              </a:defRPr>
            </a:pPr>
            <a:r>
              <a:t>→</a:t>
            </a:r>
          </a:p>
        </p:txBody>
      </p:sp>
      <p:sp>
        <p:nvSpPr>
          <p:cNvPr id="18" name="Rounded Rectangle 17"/>
          <p:cNvSpPr/>
          <p:nvPr/>
        </p:nvSpPr>
        <p:spPr>
          <a:xfrm>
            <a:off x="6903720" y="1417320"/>
            <a:ext cx="2880360" cy="19659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03720" y="1417320"/>
            <a:ext cx="288036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13448" y="1581912"/>
            <a:ext cx="502920" cy="502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3</a:t>
            </a:r>
          </a:p>
        </p:txBody>
      </p:sp>
      <p:sp>
        <p:nvSpPr>
          <p:cNvPr id="21" name="TextBox 20"/>
          <p:cNvSpPr txBox="1"/>
          <p:nvPr/>
        </p:nvSpPr>
        <p:spPr>
          <a:xfrm>
            <a:off x="7635240" y="1600200"/>
            <a:ext cx="2011680" cy="320040"/>
          </a:xfrm>
          <a:prstGeom prst="rect">
            <a:avLst/>
          </a:prstGeom>
          <a:noFill/>
        </p:spPr>
        <p:txBody>
          <a:bodyPr wrap="none">
            <a:spAutoFit/>
          </a:bodyPr>
          <a:lstStyle/>
          <a:p>
            <a:pPr>
              <a:defRPr sz="1300" b="1">
                <a:solidFill>
                  <a:srgbClr val="FFFFFF"/>
                </a:solidFill>
                <a:latin typeface="Segoe UI"/>
              </a:defRPr>
            </a:pPr>
            <a:r>
              <a:t>Feed AI context</a:t>
            </a:r>
          </a:p>
        </p:txBody>
      </p:sp>
      <p:sp>
        <p:nvSpPr>
          <p:cNvPr id="22" name="TextBox 21"/>
          <p:cNvSpPr txBox="1"/>
          <p:nvPr/>
        </p:nvSpPr>
        <p:spPr>
          <a:xfrm>
            <a:off x="7635240" y="1920240"/>
            <a:ext cx="2011680" cy="274320"/>
          </a:xfrm>
          <a:prstGeom prst="rect">
            <a:avLst/>
          </a:prstGeom>
          <a:noFill/>
        </p:spPr>
        <p:txBody>
          <a:bodyPr wrap="none">
            <a:spAutoFit/>
          </a:bodyPr>
          <a:lstStyle/>
          <a:p>
            <a:pPr>
              <a:defRPr sz="1000">
                <a:solidFill>
                  <a:srgbClr val="8B5CF6"/>
                </a:solidFill>
                <a:latin typeface="Consolas"/>
              </a:defRPr>
            </a:pPr>
            <a:r>
              <a:t>Master Prompt + docs + task</a:t>
            </a:r>
          </a:p>
        </p:txBody>
      </p:sp>
      <p:sp>
        <p:nvSpPr>
          <p:cNvPr id="23" name="TextBox 22"/>
          <p:cNvSpPr txBox="1"/>
          <p:nvPr/>
        </p:nvSpPr>
        <p:spPr>
          <a:xfrm>
            <a:off x="8092440" y="3383280"/>
            <a:ext cx="457200" cy="274320"/>
          </a:xfrm>
          <a:prstGeom prst="rect">
            <a:avLst/>
          </a:prstGeom>
          <a:noFill/>
        </p:spPr>
        <p:txBody>
          <a:bodyPr wrap="none">
            <a:spAutoFit/>
          </a:bodyPr>
          <a:lstStyle/>
          <a:p>
            <a:pPr algn="ctr">
              <a:defRPr sz="1400">
                <a:solidFill>
                  <a:srgbClr val="64748B"/>
                </a:solidFill>
              </a:defRPr>
            </a:pPr>
            <a:r>
              <a:t>↓</a:t>
            </a:r>
          </a:p>
        </p:txBody>
      </p:sp>
      <p:sp>
        <p:nvSpPr>
          <p:cNvPr id="24" name="Rounded Rectangle 23"/>
          <p:cNvSpPr/>
          <p:nvPr/>
        </p:nvSpPr>
        <p:spPr>
          <a:xfrm>
            <a:off x="6903720" y="3611880"/>
            <a:ext cx="2880360" cy="19659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03720" y="3611880"/>
            <a:ext cx="288036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13448" y="3776472"/>
            <a:ext cx="502920" cy="502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4</a:t>
            </a:r>
          </a:p>
        </p:txBody>
      </p:sp>
      <p:sp>
        <p:nvSpPr>
          <p:cNvPr id="27" name="TextBox 26"/>
          <p:cNvSpPr txBox="1"/>
          <p:nvPr/>
        </p:nvSpPr>
        <p:spPr>
          <a:xfrm>
            <a:off x="7635240" y="3794760"/>
            <a:ext cx="2011680" cy="320040"/>
          </a:xfrm>
          <a:prstGeom prst="rect">
            <a:avLst/>
          </a:prstGeom>
          <a:noFill/>
        </p:spPr>
        <p:txBody>
          <a:bodyPr wrap="none">
            <a:spAutoFit/>
          </a:bodyPr>
          <a:lstStyle/>
          <a:p>
            <a:pPr>
              <a:defRPr sz="1300" b="1">
                <a:solidFill>
                  <a:srgbClr val="FFFFFF"/>
                </a:solidFill>
                <a:latin typeface="Segoe UI"/>
              </a:defRPr>
            </a:pPr>
            <a:r>
              <a:t>AI implements</a:t>
            </a:r>
          </a:p>
        </p:txBody>
      </p:sp>
      <p:sp>
        <p:nvSpPr>
          <p:cNvPr id="28" name="TextBox 27"/>
          <p:cNvSpPr txBox="1"/>
          <p:nvPr/>
        </p:nvSpPr>
        <p:spPr>
          <a:xfrm>
            <a:off x="7635240" y="4114800"/>
            <a:ext cx="2011680" cy="274320"/>
          </a:xfrm>
          <a:prstGeom prst="rect">
            <a:avLst/>
          </a:prstGeom>
          <a:noFill/>
        </p:spPr>
        <p:txBody>
          <a:bodyPr wrap="none">
            <a:spAutoFit/>
          </a:bodyPr>
          <a:lstStyle/>
          <a:p>
            <a:pPr>
              <a:defRPr sz="1000">
                <a:solidFill>
                  <a:srgbClr val="8B5CF6"/>
                </a:solidFill>
                <a:latin typeface="Consolas"/>
              </a:defRPr>
            </a:pPr>
            <a:r>
              <a:t>Code + unit tests</a:t>
            </a:r>
          </a:p>
        </p:txBody>
      </p:sp>
      <p:sp>
        <p:nvSpPr>
          <p:cNvPr id="29" name="Rounded Rectangle 28"/>
          <p:cNvSpPr/>
          <p:nvPr/>
        </p:nvSpPr>
        <p:spPr>
          <a:xfrm>
            <a:off x="3840480" y="3611880"/>
            <a:ext cx="2880360" cy="19659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40480" y="3611880"/>
            <a:ext cx="28803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50208" y="3776472"/>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5</a:t>
            </a:r>
          </a:p>
        </p:txBody>
      </p:sp>
      <p:sp>
        <p:nvSpPr>
          <p:cNvPr id="32" name="TextBox 31"/>
          <p:cNvSpPr txBox="1"/>
          <p:nvPr/>
        </p:nvSpPr>
        <p:spPr>
          <a:xfrm>
            <a:off x="4572000" y="3794760"/>
            <a:ext cx="2011680" cy="320040"/>
          </a:xfrm>
          <a:prstGeom prst="rect">
            <a:avLst/>
          </a:prstGeom>
          <a:noFill/>
        </p:spPr>
        <p:txBody>
          <a:bodyPr wrap="none">
            <a:spAutoFit/>
          </a:bodyPr>
          <a:lstStyle/>
          <a:p>
            <a:pPr>
              <a:defRPr sz="1300" b="1">
                <a:solidFill>
                  <a:srgbClr val="FFFFFF"/>
                </a:solidFill>
                <a:latin typeface="Segoe UI"/>
              </a:defRPr>
            </a:pPr>
            <a:r>
              <a:t>Run tests/build</a:t>
            </a:r>
          </a:p>
        </p:txBody>
      </p:sp>
      <p:sp>
        <p:nvSpPr>
          <p:cNvPr id="33" name="TextBox 32"/>
          <p:cNvSpPr txBox="1"/>
          <p:nvPr/>
        </p:nvSpPr>
        <p:spPr>
          <a:xfrm>
            <a:off x="4572000" y="4114800"/>
            <a:ext cx="2011680" cy="274320"/>
          </a:xfrm>
          <a:prstGeom prst="rect">
            <a:avLst/>
          </a:prstGeom>
          <a:noFill/>
        </p:spPr>
        <p:txBody>
          <a:bodyPr wrap="none">
            <a:spAutoFit/>
          </a:bodyPr>
          <a:lstStyle/>
          <a:p>
            <a:pPr>
              <a:defRPr sz="1000">
                <a:solidFill>
                  <a:srgbClr val="10B981"/>
                </a:solidFill>
                <a:latin typeface="Consolas"/>
              </a:defRPr>
            </a:pPr>
            <a:r>
              <a:t>pytest / npm run build</a:t>
            </a:r>
          </a:p>
        </p:txBody>
      </p:sp>
      <p:sp>
        <p:nvSpPr>
          <p:cNvPr id="34" name="TextBox 33"/>
          <p:cNvSpPr txBox="1"/>
          <p:nvPr/>
        </p:nvSpPr>
        <p:spPr>
          <a:xfrm>
            <a:off x="3657600" y="3886200"/>
            <a:ext cx="182880" cy="274320"/>
          </a:xfrm>
          <a:prstGeom prst="rect">
            <a:avLst/>
          </a:prstGeom>
          <a:noFill/>
        </p:spPr>
        <p:txBody>
          <a:bodyPr wrap="none">
            <a:spAutoFit/>
          </a:bodyPr>
          <a:lstStyle/>
          <a:p>
            <a:pPr algn="ctr">
              <a:defRPr sz="1400">
                <a:solidFill>
                  <a:srgbClr val="64748B"/>
                </a:solidFill>
              </a:defRPr>
            </a:pPr>
            <a:r>
              <a:t>←</a:t>
            </a:r>
          </a:p>
        </p:txBody>
      </p:sp>
      <p:sp>
        <p:nvSpPr>
          <p:cNvPr id="35" name="Rounded Rectangle 34"/>
          <p:cNvSpPr/>
          <p:nvPr/>
        </p:nvSpPr>
        <p:spPr>
          <a:xfrm>
            <a:off x="777240" y="3611880"/>
            <a:ext cx="2880360" cy="196596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3611880"/>
            <a:ext cx="28803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86968" y="3776472"/>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8091A"/>
                </a:solidFill>
                <a:latin typeface="Segoe UI"/>
              </a:defRPr>
            </a:pPr>
            <a:r>
              <a:t>6</a:t>
            </a:r>
          </a:p>
        </p:txBody>
      </p:sp>
      <p:sp>
        <p:nvSpPr>
          <p:cNvPr id="38" name="TextBox 37"/>
          <p:cNvSpPr txBox="1"/>
          <p:nvPr/>
        </p:nvSpPr>
        <p:spPr>
          <a:xfrm>
            <a:off x="1508760" y="3794760"/>
            <a:ext cx="2011680" cy="320040"/>
          </a:xfrm>
          <a:prstGeom prst="rect">
            <a:avLst/>
          </a:prstGeom>
          <a:noFill/>
        </p:spPr>
        <p:txBody>
          <a:bodyPr wrap="none">
            <a:spAutoFit/>
          </a:bodyPr>
          <a:lstStyle/>
          <a:p>
            <a:pPr>
              <a:defRPr sz="1300" b="1">
                <a:solidFill>
                  <a:srgbClr val="FFFFFF"/>
                </a:solidFill>
                <a:latin typeface="Segoe UI"/>
              </a:defRPr>
            </a:pPr>
            <a:r>
              <a:t>Review + PR</a:t>
            </a:r>
          </a:p>
        </p:txBody>
      </p:sp>
      <p:sp>
        <p:nvSpPr>
          <p:cNvPr id="39" name="TextBox 38"/>
          <p:cNvSpPr txBox="1"/>
          <p:nvPr/>
        </p:nvSpPr>
        <p:spPr>
          <a:xfrm>
            <a:off x="1508760" y="4114800"/>
            <a:ext cx="2011680" cy="274320"/>
          </a:xfrm>
          <a:prstGeom prst="rect">
            <a:avLst/>
          </a:prstGeom>
          <a:noFill/>
        </p:spPr>
        <p:txBody>
          <a:bodyPr wrap="none">
            <a:spAutoFit/>
          </a:bodyPr>
          <a:lstStyle/>
          <a:p>
            <a:pPr>
              <a:defRPr sz="1000">
                <a:solidFill>
                  <a:srgbClr val="10B981"/>
                </a:solidFill>
                <a:latin typeface="Consolas"/>
              </a:defRPr>
            </a:pPr>
            <a:r>
              <a:t>git diff → commit → PR</a:t>
            </a:r>
          </a:p>
        </p:txBody>
      </p:sp>
      <p:sp>
        <p:nvSpPr>
          <p:cNvPr id="40" name="TextBox 39"/>
          <p:cNvSpPr txBox="1"/>
          <p:nvPr/>
        </p:nvSpPr>
        <p:spPr>
          <a:xfrm>
            <a:off x="594360" y="3886200"/>
            <a:ext cx="182880" cy="274320"/>
          </a:xfrm>
          <a:prstGeom prst="rect">
            <a:avLst/>
          </a:prstGeom>
          <a:noFill/>
        </p:spPr>
        <p:txBody>
          <a:bodyPr wrap="none">
            <a:spAutoFit/>
          </a:bodyPr>
          <a:lstStyle/>
          <a:p>
            <a:pPr algn="ctr">
              <a:defRPr sz="1400">
                <a:solidFill>
                  <a:srgbClr val="64748B"/>
                </a:solidFill>
              </a:defRPr>
            </a:pPr>
            <a:r>
              <a:t>←</a:t>
            </a:r>
          </a:p>
        </p:txBody>
      </p:sp>
      <p:sp>
        <p:nvSpPr>
          <p:cNvPr id="41" name="Rounded Rectangle 40"/>
          <p:cNvSpPr/>
          <p:nvPr/>
        </p:nvSpPr>
        <p:spPr>
          <a:xfrm>
            <a:off x="1371600" y="5623560"/>
            <a:ext cx="9418320" cy="8229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645920" y="5715000"/>
            <a:ext cx="8869680" cy="640080"/>
          </a:xfrm>
          <a:prstGeom prst="rect">
            <a:avLst/>
          </a:prstGeom>
          <a:noFill/>
        </p:spPr>
        <p:txBody>
          <a:bodyPr wrap="square" anchor="ctr">
            <a:spAutoFit/>
          </a:bodyPr>
          <a:lstStyle/>
          <a:p>
            <a:pPr algn="ctr"/>
            <a:r>
              <a:rPr sz="1100">
                <a:solidFill>
                  <a:srgbClr val="94A3B8"/>
                </a:solidFill>
                <a:latin typeface="Consolas"/>
              </a:rPr>
              <a:t>git checkout -b </a:t>
            </a:r>
            <a:r>
              <a:rPr sz="1100" b="1">
                <a:solidFill>
                  <a:srgbClr val="22D3EE"/>
                </a:solidFill>
                <a:latin typeface="Consolas"/>
              </a:rPr>
              <a:t>feature/core-009-pipeline-orchestration</a:t>
            </a:r>
          </a:p>
          <a:p>
            <a:pPr algn="ctr">
              <a:spcBef>
                <a:spcPts val="400"/>
              </a:spcBef>
            </a:pPr>
            <a:r>
              <a:rPr sz="1100" b="1">
                <a:solidFill>
                  <a:srgbClr val="F59E0B"/>
                </a:solidFill>
                <a:latin typeface="Consolas"/>
              </a:rPr>
              <a:t>[CORE-009] </a:t>
            </a:r>
            <a:r>
              <a:rPr sz="1100">
                <a:solidFill>
                  <a:srgbClr val="CBD5E1"/>
                </a:solidFill>
                <a:latin typeface="Consolas"/>
              </a:rPr>
              <a:t>Implement pipeline orchestration with LLM fallback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400"/>
                                  <p:tgtEl>
                                    <p:spTgt spid="6"/>
                                  </p:tgtEl>
                                </p:cBhvr>
                              </p:animEffect>
                            </p:childTnLst>
                          </p:cTn>
                        </p:par>
                      </p:childTnLst>
                    </p:cTn>
                  </p:par>
                  <p:par>
                    <p:cTn id="6" fill="hold">
                      <p:stCondLst>
                        <p:cond delay="0"/>
                      </p:stCondLst>
                      <p:childTnLst>
                        <p:par>
                          <p:cTn id="7" presetID="10" presetClass="entr" presetSubtype="0" fill="hold" nodeType="withEffect">
                            <p:stCondLst>
                              <p:cond delay="150"/>
                            </p:stCondLst>
                            <p:childTnLst>
                              <p:animEffect transition="in" filter="fade">
                                <p:cBhvr>
                                  <p:cTn id="8" dur="400"/>
                                  <p:tgtEl>
                                    <p:spTgt spid="12"/>
                                  </p:tgtEl>
                                </p:cBhvr>
                              </p:animEffect>
                            </p:childTnLst>
                          </p:cTn>
                        </p:par>
                      </p:childTnLst>
                    </p:cTn>
                  </p:par>
                  <p:par>
                    <p:cTn id="9" fill="hold">
                      <p:stCondLst>
                        <p:cond delay="0"/>
                      </p:stCondLst>
                      <p:childTnLst>
                        <p:par>
                          <p:cTn id="10" presetID="10" presetClass="entr" presetSubtype="0" fill="hold" nodeType="withEffect">
                            <p:stCondLst>
                              <p:cond delay="300"/>
                            </p:stCondLst>
                            <p:childTnLst>
                              <p:animEffect transition="in" filter="fade">
                                <p:cBhvr>
                                  <p:cTn id="11" dur="400"/>
                                  <p:tgtEl>
                                    <p:spTgt spid="18"/>
                                  </p:tgtEl>
                                </p:cBhvr>
                              </p:animEffect>
                            </p:childTnLst>
                          </p:cTn>
                        </p:par>
                      </p:childTnLst>
                    </p:cTn>
                  </p:par>
                  <p:par>
                    <p:cTn id="12" fill="hold">
                      <p:stCondLst>
                        <p:cond delay="0"/>
                      </p:stCondLst>
                      <p:childTnLst>
                        <p:par>
                          <p:cTn id="13" presetID="10" presetClass="entr" presetSubtype="0" fill="hold" nodeType="withEffect">
                            <p:stCondLst>
                              <p:cond delay="450"/>
                            </p:stCondLst>
                            <p:childTnLst>
                              <p:animEffect transition="in" filter="fade">
                                <p:cBhvr>
                                  <p:cTn id="14" dur="400"/>
                                  <p:tgtEl>
                                    <p:spTgt spid="24"/>
                                  </p:tgtEl>
                                </p:cBhvr>
                              </p:animEffect>
                            </p:childTnLst>
                          </p:cTn>
                        </p:par>
                      </p:childTnLst>
                    </p:cTn>
                  </p:par>
                  <p:par>
                    <p:cTn id="15" fill="hold">
                      <p:stCondLst>
                        <p:cond delay="0"/>
                      </p:stCondLst>
                      <p:childTnLst>
                        <p:par>
                          <p:cTn id="16" presetID="10" presetClass="entr" presetSubtype="0" fill="hold" nodeType="withEffect">
                            <p:stCondLst>
                              <p:cond delay="600"/>
                            </p:stCondLst>
                            <p:childTnLst>
                              <p:animEffect transition="in" filter="fade">
                                <p:cBhvr>
                                  <p:cTn id="17" dur="400"/>
                                  <p:tgtEl>
                                    <p:spTgt spid="29"/>
                                  </p:tgtEl>
                                </p:cBhvr>
                              </p:animEffect>
                            </p:childTnLst>
                          </p:cTn>
                        </p:par>
                      </p:childTnLst>
                    </p:cTn>
                  </p:par>
                  <p:par>
                    <p:cTn id="18" fill="hold">
                      <p:stCondLst>
                        <p:cond delay="0"/>
                      </p:stCondLst>
                      <p:childTnLst>
                        <p:par>
                          <p:cTn id="19" presetID="10" presetClass="entr" presetSubtype="0" fill="hold" nodeType="withEffect">
                            <p:stCondLst>
                              <p:cond delay="750"/>
                            </p:stCondLst>
                            <p:childTnLst>
                              <p:animEffect transition="in" filter="fade">
                                <p:cBhvr>
                                  <p:cTn id="20" dur="400"/>
                                  <p:tgtEl>
                                    <p:spTgt spid="35"/>
                                  </p:tgtEl>
                                </p:cBhvr>
                              </p:animEffect>
                            </p:childTnLst>
                          </p:cTn>
                        </p:par>
                      </p:childTnLst>
                    </p:cTn>
                  </p:par>
                </p:childTnLst>
              </p:cTn>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EXECUTION TIMELINE</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From repository audit to working demo — Phase 0 through 10.</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13</a:t>
            </a:r>
          </a:p>
        </p:txBody>
      </p:sp>
      <p:sp>
        <p:nvSpPr>
          <p:cNvPr id="6" name="Rectangle 5"/>
          <p:cNvSpPr/>
          <p:nvPr/>
        </p:nvSpPr>
        <p:spPr>
          <a:xfrm>
            <a:off x="777240" y="3246120"/>
            <a:ext cx="10607040" cy="381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306324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0</a:t>
            </a:r>
          </a:p>
        </p:txBody>
      </p:sp>
      <p:sp>
        <p:nvSpPr>
          <p:cNvPr id="9" name="TextBox 8"/>
          <p:cNvSpPr txBox="1"/>
          <p:nvPr/>
        </p:nvSpPr>
        <p:spPr>
          <a:xfrm>
            <a:off x="795528" y="1554480"/>
            <a:ext cx="786384" cy="640080"/>
          </a:xfrm>
          <a:prstGeom prst="rect">
            <a:avLst/>
          </a:prstGeom>
          <a:noFill/>
        </p:spPr>
        <p:txBody>
          <a:bodyPr wrap="square">
            <a:spAutoFit/>
          </a:bodyPr>
          <a:lstStyle/>
          <a:p>
            <a:pPr algn="ctr">
              <a:defRPr sz="950" b="1">
                <a:solidFill>
                  <a:srgbClr val="3B82F6"/>
                </a:solidFill>
                <a:latin typeface="Segoe UI"/>
              </a:defRPr>
            </a:pPr>
            <a:r>
              <a:t>Audit</a:t>
            </a:r>
          </a:p>
          <a:p>
            <a:pPr algn="ctr">
              <a:spcBef>
                <a:spcPts val="200"/>
              </a:spcBef>
              <a:defRPr sz="800">
                <a:solidFill>
                  <a:srgbClr val="64748B"/>
                </a:solidFill>
                <a:latin typeface="Segoe UI"/>
              </a:defRPr>
            </a:pPr>
            <a:r>
              <a:t>All</a:t>
            </a:r>
          </a:p>
        </p:txBody>
      </p:sp>
      <p:sp>
        <p:nvSpPr>
          <p:cNvPr id="10" name="TextBox 9"/>
          <p:cNvSpPr txBox="1"/>
          <p:nvPr/>
        </p:nvSpPr>
        <p:spPr>
          <a:xfrm>
            <a:off x="777240" y="3566160"/>
            <a:ext cx="822960" cy="548640"/>
          </a:xfrm>
          <a:prstGeom prst="rect">
            <a:avLst/>
          </a:prstGeom>
          <a:noFill/>
        </p:spPr>
        <p:txBody>
          <a:bodyPr wrap="square">
            <a:spAutoFit/>
          </a:bodyPr>
          <a:lstStyle/>
          <a:p>
            <a:pPr algn="ctr">
              <a:defRPr sz="800">
                <a:solidFill>
                  <a:srgbClr val="64748B"/>
                </a:solidFill>
                <a:latin typeface="Segoe UI"/>
              </a:defRPr>
            </a:pPr>
            <a:r>
              <a:t>Phase 0</a:t>
            </a:r>
          </a:p>
        </p:txBody>
      </p:sp>
      <p:sp>
        <p:nvSpPr>
          <p:cNvPr id="11" name="Rounded Rectangle 10"/>
          <p:cNvSpPr/>
          <p:nvPr/>
        </p:nvSpPr>
        <p:spPr>
          <a:xfrm>
            <a:off x="173736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920240" y="306324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1</a:t>
            </a:r>
          </a:p>
        </p:txBody>
      </p:sp>
      <p:sp>
        <p:nvSpPr>
          <p:cNvPr id="13" name="TextBox 12"/>
          <p:cNvSpPr txBox="1"/>
          <p:nvPr/>
        </p:nvSpPr>
        <p:spPr>
          <a:xfrm>
            <a:off x="1755648" y="1554480"/>
            <a:ext cx="786384" cy="640080"/>
          </a:xfrm>
          <a:prstGeom prst="rect">
            <a:avLst/>
          </a:prstGeom>
          <a:noFill/>
        </p:spPr>
        <p:txBody>
          <a:bodyPr wrap="square">
            <a:spAutoFit/>
          </a:bodyPr>
          <a:lstStyle/>
          <a:p>
            <a:pPr algn="ctr">
              <a:defRPr sz="950" b="1">
                <a:solidFill>
                  <a:srgbClr val="3B82F6"/>
                </a:solidFill>
                <a:latin typeface="Segoe UI"/>
              </a:defRPr>
            </a:pPr>
            <a:r>
              <a:t>Freeze</a:t>
            </a:r>
          </a:p>
          <a:p>
            <a:pPr algn="ctr">
              <a:spcBef>
                <a:spcPts val="200"/>
              </a:spcBef>
              <a:defRPr sz="800">
                <a:solidFill>
                  <a:srgbClr val="64748B"/>
                </a:solidFill>
                <a:latin typeface="Segoe UI"/>
              </a:defRPr>
            </a:pPr>
            <a:r>
              <a:t>All</a:t>
            </a:r>
          </a:p>
        </p:txBody>
      </p:sp>
      <p:sp>
        <p:nvSpPr>
          <p:cNvPr id="14" name="TextBox 13"/>
          <p:cNvSpPr txBox="1"/>
          <p:nvPr/>
        </p:nvSpPr>
        <p:spPr>
          <a:xfrm>
            <a:off x="1737360" y="3566160"/>
            <a:ext cx="822960" cy="548640"/>
          </a:xfrm>
          <a:prstGeom prst="rect">
            <a:avLst/>
          </a:prstGeom>
          <a:noFill/>
        </p:spPr>
        <p:txBody>
          <a:bodyPr wrap="square">
            <a:spAutoFit/>
          </a:bodyPr>
          <a:lstStyle/>
          <a:p>
            <a:pPr algn="ctr">
              <a:defRPr sz="800">
                <a:solidFill>
                  <a:srgbClr val="64748B"/>
                </a:solidFill>
                <a:latin typeface="Segoe UI"/>
              </a:defRPr>
            </a:pPr>
            <a:r>
              <a:t>Phase 1</a:t>
            </a:r>
          </a:p>
        </p:txBody>
      </p:sp>
      <p:sp>
        <p:nvSpPr>
          <p:cNvPr id="15" name="Rounded Rectangle 14"/>
          <p:cNvSpPr/>
          <p:nvPr/>
        </p:nvSpPr>
        <p:spPr>
          <a:xfrm>
            <a:off x="269748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80360" y="3063240"/>
            <a:ext cx="411480" cy="41148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2</a:t>
            </a:r>
          </a:p>
        </p:txBody>
      </p:sp>
      <p:sp>
        <p:nvSpPr>
          <p:cNvPr id="17" name="TextBox 16"/>
          <p:cNvSpPr txBox="1"/>
          <p:nvPr/>
        </p:nvSpPr>
        <p:spPr>
          <a:xfrm>
            <a:off x="2715768" y="1554480"/>
            <a:ext cx="786384" cy="640080"/>
          </a:xfrm>
          <a:prstGeom prst="rect">
            <a:avLst/>
          </a:prstGeom>
          <a:noFill/>
        </p:spPr>
        <p:txBody>
          <a:bodyPr wrap="square">
            <a:spAutoFit/>
          </a:bodyPr>
          <a:lstStyle/>
          <a:p>
            <a:pPr algn="ctr">
              <a:defRPr sz="950" b="1">
                <a:solidFill>
                  <a:srgbClr val="22D3EE"/>
                </a:solidFill>
                <a:latin typeface="Segoe UI"/>
              </a:defRPr>
            </a:pPr>
            <a:r>
              <a:t>Skeletons</a:t>
            </a:r>
          </a:p>
          <a:p>
            <a:pPr algn="ctr">
              <a:spcBef>
                <a:spcPts val="200"/>
              </a:spcBef>
              <a:defRPr sz="800">
                <a:solidFill>
                  <a:srgbClr val="64748B"/>
                </a:solidFill>
                <a:latin typeface="Segoe UI"/>
              </a:defRPr>
            </a:pPr>
            <a:r>
              <a:t>Parallel</a:t>
            </a:r>
          </a:p>
        </p:txBody>
      </p:sp>
      <p:sp>
        <p:nvSpPr>
          <p:cNvPr id="18" name="TextBox 17"/>
          <p:cNvSpPr txBox="1"/>
          <p:nvPr/>
        </p:nvSpPr>
        <p:spPr>
          <a:xfrm>
            <a:off x="2697480" y="3566160"/>
            <a:ext cx="822960" cy="548640"/>
          </a:xfrm>
          <a:prstGeom prst="rect">
            <a:avLst/>
          </a:prstGeom>
          <a:noFill/>
        </p:spPr>
        <p:txBody>
          <a:bodyPr wrap="square">
            <a:spAutoFit/>
          </a:bodyPr>
          <a:lstStyle/>
          <a:p>
            <a:pPr algn="ctr">
              <a:defRPr sz="800">
                <a:solidFill>
                  <a:srgbClr val="64748B"/>
                </a:solidFill>
                <a:latin typeface="Segoe UI"/>
              </a:defRPr>
            </a:pPr>
            <a:r>
              <a:t>Phase 2</a:t>
            </a:r>
          </a:p>
        </p:txBody>
      </p:sp>
      <p:sp>
        <p:nvSpPr>
          <p:cNvPr id="19" name="Rounded Rectangle 18"/>
          <p:cNvSpPr/>
          <p:nvPr/>
        </p:nvSpPr>
        <p:spPr>
          <a:xfrm>
            <a:off x="365760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40480" y="3063240"/>
            <a:ext cx="411480" cy="41148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3</a:t>
            </a:r>
          </a:p>
        </p:txBody>
      </p:sp>
      <p:sp>
        <p:nvSpPr>
          <p:cNvPr id="21" name="TextBox 20"/>
          <p:cNvSpPr txBox="1"/>
          <p:nvPr/>
        </p:nvSpPr>
        <p:spPr>
          <a:xfrm>
            <a:off x="3675888" y="1554480"/>
            <a:ext cx="786384" cy="640080"/>
          </a:xfrm>
          <a:prstGeom prst="rect">
            <a:avLst/>
          </a:prstGeom>
          <a:noFill/>
        </p:spPr>
        <p:txBody>
          <a:bodyPr wrap="square">
            <a:spAutoFit/>
          </a:bodyPr>
          <a:lstStyle/>
          <a:p>
            <a:pPr algn="ctr">
              <a:defRPr sz="950" b="1">
                <a:solidFill>
                  <a:srgbClr val="22D3EE"/>
                </a:solidFill>
                <a:latin typeface="Segoe UI"/>
              </a:defRPr>
            </a:pPr>
            <a:r>
              <a:t>Case+Corpus</a:t>
            </a:r>
          </a:p>
          <a:p>
            <a:pPr algn="ctr">
              <a:spcBef>
                <a:spcPts val="200"/>
              </a:spcBef>
              <a:defRPr sz="800">
                <a:solidFill>
                  <a:srgbClr val="64748B"/>
                </a:solidFill>
                <a:latin typeface="Segoe UI"/>
              </a:defRPr>
            </a:pPr>
            <a:r>
              <a:t>T2+T3</a:t>
            </a:r>
          </a:p>
        </p:txBody>
      </p:sp>
      <p:sp>
        <p:nvSpPr>
          <p:cNvPr id="22" name="TextBox 21"/>
          <p:cNvSpPr txBox="1"/>
          <p:nvPr/>
        </p:nvSpPr>
        <p:spPr>
          <a:xfrm>
            <a:off x="3657600" y="3566160"/>
            <a:ext cx="822960" cy="548640"/>
          </a:xfrm>
          <a:prstGeom prst="rect">
            <a:avLst/>
          </a:prstGeom>
          <a:noFill/>
        </p:spPr>
        <p:txBody>
          <a:bodyPr wrap="square">
            <a:spAutoFit/>
          </a:bodyPr>
          <a:lstStyle/>
          <a:p>
            <a:pPr algn="ctr">
              <a:defRPr sz="800">
                <a:solidFill>
                  <a:srgbClr val="64748B"/>
                </a:solidFill>
                <a:latin typeface="Segoe UI"/>
              </a:defRPr>
            </a:pPr>
            <a:r>
              <a:t>Phase 3</a:t>
            </a:r>
          </a:p>
        </p:txBody>
      </p:sp>
      <p:sp>
        <p:nvSpPr>
          <p:cNvPr id="23" name="Rounded Rectangle 22"/>
          <p:cNvSpPr/>
          <p:nvPr/>
        </p:nvSpPr>
        <p:spPr>
          <a:xfrm>
            <a:off x="4617720" y="1234440"/>
            <a:ext cx="822960" cy="2011680"/>
          </a:xfrm>
          <a:prstGeom prst="roundRect">
            <a:avLst/>
          </a:prstGeom>
          <a:solidFill>
            <a:srgbClr val="1A1E4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17720" y="1234440"/>
            <a:ext cx="82296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00600" y="3063240"/>
            <a:ext cx="411480" cy="4114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4</a:t>
            </a:r>
          </a:p>
        </p:txBody>
      </p:sp>
      <p:sp>
        <p:nvSpPr>
          <p:cNvPr id="26" name="TextBox 25"/>
          <p:cNvSpPr txBox="1"/>
          <p:nvPr/>
        </p:nvSpPr>
        <p:spPr>
          <a:xfrm>
            <a:off x="4636008" y="1371600"/>
            <a:ext cx="786384" cy="640080"/>
          </a:xfrm>
          <a:prstGeom prst="rect">
            <a:avLst/>
          </a:prstGeom>
          <a:noFill/>
        </p:spPr>
        <p:txBody>
          <a:bodyPr wrap="square">
            <a:spAutoFit/>
          </a:bodyPr>
          <a:lstStyle/>
          <a:p>
            <a:pPr algn="ctr">
              <a:defRPr sz="950" b="1">
                <a:solidFill>
                  <a:srgbClr val="F59E0B"/>
                </a:solidFill>
                <a:latin typeface="Segoe UI"/>
              </a:defRPr>
            </a:pPr>
            <a:r>
              <a:t>Grounded MVP</a:t>
            </a:r>
          </a:p>
          <a:p>
            <a:pPr algn="ctr">
              <a:spcBef>
                <a:spcPts val="200"/>
              </a:spcBef>
              <a:defRPr sz="800">
                <a:solidFill>
                  <a:srgbClr val="64748B"/>
                </a:solidFill>
                <a:latin typeface="Segoe UI"/>
              </a:defRPr>
            </a:pPr>
            <a:r>
              <a:t>T2+T3</a:t>
            </a:r>
          </a:p>
          <a:p>
            <a:pPr algn="ctr">
              <a:spcBef>
                <a:spcPts val="400"/>
              </a:spcBef>
              <a:defRPr sz="800" b="1">
                <a:solidFill>
                  <a:srgbClr val="F59E0B"/>
                </a:solidFill>
              </a:defRPr>
            </a:pPr>
            <a:r>
              <a:t>CRITICAL</a:t>
            </a:r>
          </a:p>
        </p:txBody>
      </p:sp>
      <p:sp>
        <p:nvSpPr>
          <p:cNvPr id="27" name="TextBox 26"/>
          <p:cNvSpPr txBox="1"/>
          <p:nvPr/>
        </p:nvSpPr>
        <p:spPr>
          <a:xfrm>
            <a:off x="4617720" y="3566160"/>
            <a:ext cx="822960" cy="548640"/>
          </a:xfrm>
          <a:prstGeom prst="rect">
            <a:avLst/>
          </a:prstGeom>
          <a:noFill/>
        </p:spPr>
        <p:txBody>
          <a:bodyPr wrap="square">
            <a:spAutoFit/>
          </a:bodyPr>
          <a:lstStyle/>
          <a:p>
            <a:pPr algn="ctr">
              <a:defRPr sz="800">
                <a:solidFill>
                  <a:srgbClr val="64748B"/>
                </a:solidFill>
                <a:latin typeface="Segoe UI"/>
              </a:defRPr>
            </a:pPr>
            <a:r>
              <a:t>Phase 4</a:t>
            </a:r>
          </a:p>
        </p:txBody>
      </p:sp>
      <p:sp>
        <p:nvSpPr>
          <p:cNvPr id="28" name="Rounded Rectangle 27"/>
          <p:cNvSpPr/>
          <p:nvPr/>
        </p:nvSpPr>
        <p:spPr>
          <a:xfrm>
            <a:off x="557784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760720" y="306324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5</a:t>
            </a:r>
          </a:p>
        </p:txBody>
      </p:sp>
      <p:sp>
        <p:nvSpPr>
          <p:cNvPr id="30" name="TextBox 29"/>
          <p:cNvSpPr txBox="1"/>
          <p:nvPr/>
        </p:nvSpPr>
        <p:spPr>
          <a:xfrm>
            <a:off x="5596128" y="1554480"/>
            <a:ext cx="786384" cy="640080"/>
          </a:xfrm>
          <a:prstGeom prst="rect">
            <a:avLst/>
          </a:prstGeom>
          <a:noFill/>
        </p:spPr>
        <p:txBody>
          <a:bodyPr wrap="square">
            <a:spAutoFit/>
          </a:bodyPr>
          <a:lstStyle/>
          <a:p>
            <a:pPr algn="ctr">
              <a:defRPr sz="950" b="1">
                <a:solidFill>
                  <a:srgbClr val="10B981"/>
                </a:solidFill>
                <a:latin typeface="Segoe UI"/>
              </a:defRPr>
            </a:pPr>
            <a:r>
              <a:t>Workspace</a:t>
            </a:r>
          </a:p>
          <a:p>
            <a:pPr algn="ctr">
              <a:spcBef>
                <a:spcPts val="200"/>
              </a:spcBef>
              <a:defRPr sz="800">
                <a:solidFill>
                  <a:srgbClr val="64748B"/>
                </a:solidFill>
                <a:latin typeface="Segoe UI"/>
              </a:defRPr>
            </a:pPr>
            <a:r>
              <a:t>T1+T4</a:t>
            </a:r>
          </a:p>
        </p:txBody>
      </p:sp>
      <p:sp>
        <p:nvSpPr>
          <p:cNvPr id="31" name="TextBox 30"/>
          <p:cNvSpPr txBox="1"/>
          <p:nvPr/>
        </p:nvSpPr>
        <p:spPr>
          <a:xfrm>
            <a:off x="5577840" y="3566160"/>
            <a:ext cx="822960" cy="548640"/>
          </a:xfrm>
          <a:prstGeom prst="rect">
            <a:avLst/>
          </a:prstGeom>
          <a:noFill/>
        </p:spPr>
        <p:txBody>
          <a:bodyPr wrap="square">
            <a:spAutoFit/>
          </a:bodyPr>
          <a:lstStyle/>
          <a:p>
            <a:pPr algn="ctr">
              <a:defRPr sz="800">
                <a:solidFill>
                  <a:srgbClr val="64748B"/>
                </a:solidFill>
                <a:latin typeface="Segoe UI"/>
              </a:defRPr>
            </a:pPr>
            <a:r>
              <a:t>Phase 5</a:t>
            </a:r>
          </a:p>
        </p:txBody>
      </p:sp>
      <p:sp>
        <p:nvSpPr>
          <p:cNvPr id="32" name="Rounded Rectangle 31"/>
          <p:cNvSpPr/>
          <p:nvPr/>
        </p:nvSpPr>
        <p:spPr>
          <a:xfrm>
            <a:off x="653796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20840" y="306324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6</a:t>
            </a:r>
          </a:p>
        </p:txBody>
      </p:sp>
      <p:sp>
        <p:nvSpPr>
          <p:cNvPr id="34" name="TextBox 33"/>
          <p:cNvSpPr txBox="1"/>
          <p:nvPr/>
        </p:nvSpPr>
        <p:spPr>
          <a:xfrm>
            <a:off x="6556248" y="1554480"/>
            <a:ext cx="786384" cy="640080"/>
          </a:xfrm>
          <a:prstGeom prst="rect">
            <a:avLst/>
          </a:prstGeom>
          <a:noFill/>
        </p:spPr>
        <p:txBody>
          <a:bodyPr wrap="square">
            <a:spAutoFit/>
          </a:bodyPr>
          <a:lstStyle/>
          <a:p>
            <a:pPr algn="ctr">
              <a:defRPr sz="950" b="1">
                <a:solidFill>
                  <a:srgbClr val="10B981"/>
                </a:solidFill>
                <a:latin typeface="Segoe UI"/>
              </a:defRPr>
            </a:pPr>
            <a:r>
              <a:t>Notice/RTI</a:t>
            </a:r>
          </a:p>
          <a:p>
            <a:pPr algn="ctr">
              <a:spcBef>
                <a:spcPts val="200"/>
              </a:spcBef>
              <a:defRPr sz="800">
                <a:solidFill>
                  <a:srgbClr val="64748B"/>
                </a:solidFill>
                <a:latin typeface="Segoe UI"/>
              </a:defRPr>
            </a:pPr>
            <a:r>
              <a:t>T4</a:t>
            </a:r>
          </a:p>
        </p:txBody>
      </p:sp>
      <p:sp>
        <p:nvSpPr>
          <p:cNvPr id="35" name="TextBox 34"/>
          <p:cNvSpPr txBox="1"/>
          <p:nvPr/>
        </p:nvSpPr>
        <p:spPr>
          <a:xfrm>
            <a:off x="6537960" y="3566160"/>
            <a:ext cx="822960" cy="548640"/>
          </a:xfrm>
          <a:prstGeom prst="rect">
            <a:avLst/>
          </a:prstGeom>
          <a:noFill/>
        </p:spPr>
        <p:txBody>
          <a:bodyPr wrap="square">
            <a:spAutoFit/>
          </a:bodyPr>
          <a:lstStyle/>
          <a:p>
            <a:pPr algn="ctr">
              <a:defRPr sz="800">
                <a:solidFill>
                  <a:srgbClr val="64748B"/>
                </a:solidFill>
                <a:latin typeface="Segoe UI"/>
              </a:defRPr>
            </a:pPr>
            <a:r>
              <a:t>Phase 6</a:t>
            </a:r>
          </a:p>
        </p:txBody>
      </p:sp>
      <p:sp>
        <p:nvSpPr>
          <p:cNvPr id="36" name="Rounded Rectangle 35"/>
          <p:cNvSpPr/>
          <p:nvPr/>
        </p:nvSpPr>
        <p:spPr>
          <a:xfrm>
            <a:off x="749808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680960" y="306324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7</a:t>
            </a:r>
          </a:p>
        </p:txBody>
      </p:sp>
      <p:sp>
        <p:nvSpPr>
          <p:cNvPr id="38" name="TextBox 37"/>
          <p:cNvSpPr txBox="1"/>
          <p:nvPr/>
        </p:nvSpPr>
        <p:spPr>
          <a:xfrm>
            <a:off x="7516368" y="1554480"/>
            <a:ext cx="786384" cy="640080"/>
          </a:xfrm>
          <a:prstGeom prst="rect">
            <a:avLst/>
          </a:prstGeom>
          <a:noFill/>
        </p:spPr>
        <p:txBody>
          <a:bodyPr wrap="square">
            <a:spAutoFit/>
          </a:bodyPr>
          <a:lstStyle/>
          <a:p>
            <a:pPr algn="ctr">
              <a:defRPr sz="950" b="1">
                <a:solidFill>
                  <a:srgbClr val="8B5CF6"/>
                </a:solidFill>
                <a:latin typeface="Segoe UI"/>
              </a:defRPr>
            </a:pPr>
            <a:r>
              <a:t>Voice+Engine</a:t>
            </a:r>
          </a:p>
          <a:p>
            <a:pPr algn="ctr">
              <a:spcBef>
                <a:spcPts val="200"/>
              </a:spcBef>
              <a:defRPr sz="800">
                <a:solidFill>
                  <a:srgbClr val="64748B"/>
                </a:solidFill>
                <a:latin typeface="Segoe UI"/>
              </a:defRPr>
            </a:pPr>
            <a:r>
              <a:t>T4+T3</a:t>
            </a:r>
          </a:p>
        </p:txBody>
      </p:sp>
      <p:sp>
        <p:nvSpPr>
          <p:cNvPr id="39" name="TextBox 38"/>
          <p:cNvSpPr txBox="1"/>
          <p:nvPr/>
        </p:nvSpPr>
        <p:spPr>
          <a:xfrm>
            <a:off x="7498080" y="3566160"/>
            <a:ext cx="822960" cy="548640"/>
          </a:xfrm>
          <a:prstGeom prst="rect">
            <a:avLst/>
          </a:prstGeom>
          <a:noFill/>
        </p:spPr>
        <p:txBody>
          <a:bodyPr wrap="square">
            <a:spAutoFit/>
          </a:bodyPr>
          <a:lstStyle/>
          <a:p>
            <a:pPr algn="ctr">
              <a:defRPr sz="800">
                <a:solidFill>
                  <a:srgbClr val="64748B"/>
                </a:solidFill>
                <a:latin typeface="Segoe UI"/>
              </a:defRPr>
            </a:pPr>
            <a:r>
              <a:t>Phase 7</a:t>
            </a:r>
          </a:p>
        </p:txBody>
      </p:sp>
      <p:sp>
        <p:nvSpPr>
          <p:cNvPr id="40" name="Rounded Rectangle 39"/>
          <p:cNvSpPr/>
          <p:nvPr/>
        </p:nvSpPr>
        <p:spPr>
          <a:xfrm>
            <a:off x="845820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641080" y="306324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8</a:t>
            </a:r>
          </a:p>
        </p:txBody>
      </p:sp>
      <p:sp>
        <p:nvSpPr>
          <p:cNvPr id="42" name="TextBox 41"/>
          <p:cNvSpPr txBox="1"/>
          <p:nvPr/>
        </p:nvSpPr>
        <p:spPr>
          <a:xfrm>
            <a:off x="8476488" y="1554480"/>
            <a:ext cx="786384" cy="640080"/>
          </a:xfrm>
          <a:prstGeom prst="rect">
            <a:avLst/>
          </a:prstGeom>
          <a:noFill/>
        </p:spPr>
        <p:txBody>
          <a:bodyPr wrap="square">
            <a:spAutoFit/>
          </a:bodyPr>
          <a:lstStyle/>
          <a:p>
            <a:pPr algn="ctr">
              <a:defRPr sz="950" b="1">
                <a:solidFill>
                  <a:srgbClr val="8B5CF6"/>
                </a:solidFill>
                <a:latin typeface="Segoe UI"/>
              </a:defRPr>
            </a:pPr>
            <a:r>
              <a:t>Collective</a:t>
            </a:r>
          </a:p>
          <a:p>
            <a:pPr algn="ctr">
              <a:spcBef>
                <a:spcPts val="200"/>
              </a:spcBef>
              <a:defRPr sz="800">
                <a:solidFill>
                  <a:srgbClr val="64748B"/>
                </a:solidFill>
                <a:latin typeface="Segoe UI"/>
              </a:defRPr>
            </a:pPr>
            <a:r>
              <a:t>T3+T1</a:t>
            </a:r>
          </a:p>
        </p:txBody>
      </p:sp>
      <p:sp>
        <p:nvSpPr>
          <p:cNvPr id="43" name="TextBox 42"/>
          <p:cNvSpPr txBox="1"/>
          <p:nvPr/>
        </p:nvSpPr>
        <p:spPr>
          <a:xfrm>
            <a:off x="8458200" y="3566160"/>
            <a:ext cx="822960" cy="548640"/>
          </a:xfrm>
          <a:prstGeom prst="rect">
            <a:avLst/>
          </a:prstGeom>
          <a:noFill/>
        </p:spPr>
        <p:txBody>
          <a:bodyPr wrap="square">
            <a:spAutoFit/>
          </a:bodyPr>
          <a:lstStyle/>
          <a:p>
            <a:pPr algn="ctr">
              <a:defRPr sz="800">
                <a:solidFill>
                  <a:srgbClr val="64748B"/>
                </a:solidFill>
                <a:latin typeface="Segoe UI"/>
              </a:defRPr>
            </a:pPr>
            <a:r>
              <a:t>Phase 8</a:t>
            </a:r>
          </a:p>
        </p:txBody>
      </p:sp>
      <p:sp>
        <p:nvSpPr>
          <p:cNvPr id="44" name="Rounded Rectangle 43"/>
          <p:cNvSpPr/>
          <p:nvPr/>
        </p:nvSpPr>
        <p:spPr>
          <a:xfrm>
            <a:off x="941832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601200" y="306324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9</a:t>
            </a:r>
          </a:p>
        </p:txBody>
      </p:sp>
      <p:sp>
        <p:nvSpPr>
          <p:cNvPr id="46" name="TextBox 45"/>
          <p:cNvSpPr txBox="1"/>
          <p:nvPr/>
        </p:nvSpPr>
        <p:spPr>
          <a:xfrm>
            <a:off x="9436608" y="1554480"/>
            <a:ext cx="786384" cy="640080"/>
          </a:xfrm>
          <a:prstGeom prst="rect">
            <a:avLst/>
          </a:prstGeom>
          <a:noFill/>
        </p:spPr>
        <p:txBody>
          <a:bodyPr wrap="square">
            <a:spAutoFit/>
          </a:bodyPr>
          <a:lstStyle/>
          <a:p>
            <a:pPr algn="ctr">
              <a:defRPr sz="950" b="1">
                <a:solidFill>
                  <a:srgbClr val="3B82F6"/>
                </a:solidFill>
                <a:latin typeface="Segoe UI"/>
              </a:defRPr>
            </a:pPr>
            <a:r>
              <a:t>Test+Sec</a:t>
            </a:r>
          </a:p>
          <a:p>
            <a:pPr algn="ctr">
              <a:spcBef>
                <a:spcPts val="200"/>
              </a:spcBef>
              <a:defRPr sz="800">
                <a:solidFill>
                  <a:srgbClr val="64748B"/>
                </a:solidFill>
                <a:latin typeface="Segoe UI"/>
              </a:defRPr>
            </a:pPr>
            <a:r>
              <a:t>All</a:t>
            </a:r>
          </a:p>
        </p:txBody>
      </p:sp>
      <p:sp>
        <p:nvSpPr>
          <p:cNvPr id="47" name="TextBox 46"/>
          <p:cNvSpPr txBox="1"/>
          <p:nvPr/>
        </p:nvSpPr>
        <p:spPr>
          <a:xfrm>
            <a:off x="9418320" y="3566160"/>
            <a:ext cx="822960" cy="548640"/>
          </a:xfrm>
          <a:prstGeom prst="rect">
            <a:avLst/>
          </a:prstGeom>
          <a:noFill/>
        </p:spPr>
        <p:txBody>
          <a:bodyPr wrap="square">
            <a:spAutoFit/>
          </a:bodyPr>
          <a:lstStyle/>
          <a:p>
            <a:pPr algn="ctr">
              <a:defRPr sz="800">
                <a:solidFill>
                  <a:srgbClr val="64748B"/>
                </a:solidFill>
                <a:latin typeface="Segoe UI"/>
              </a:defRPr>
            </a:pPr>
            <a:r>
              <a:t>Phase 9</a:t>
            </a:r>
          </a:p>
        </p:txBody>
      </p:sp>
      <p:sp>
        <p:nvSpPr>
          <p:cNvPr id="48" name="Rounded Rectangle 47"/>
          <p:cNvSpPr/>
          <p:nvPr/>
        </p:nvSpPr>
        <p:spPr>
          <a:xfrm>
            <a:off x="10378440" y="1417320"/>
            <a:ext cx="822960" cy="18288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561320" y="306324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8091A"/>
                </a:solidFill>
                <a:latin typeface="Segoe UI"/>
              </a:defRPr>
            </a:pPr>
            <a:r>
              <a:t>10</a:t>
            </a:r>
          </a:p>
        </p:txBody>
      </p:sp>
      <p:sp>
        <p:nvSpPr>
          <p:cNvPr id="50" name="TextBox 49"/>
          <p:cNvSpPr txBox="1"/>
          <p:nvPr/>
        </p:nvSpPr>
        <p:spPr>
          <a:xfrm>
            <a:off x="10396728" y="1554480"/>
            <a:ext cx="786384" cy="640080"/>
          </a:xfrm>
          <a:prstGeom prst="rect">
            <a:avLst/>
          </a:prstGeom>
          <a:noFill/>
        </p:spPr>
        <p:txBody>
          <a:bodyPr wrap="square">
            <a:spAutoFit/>
          </a:bodyPr>
          <a:lstStyle/>
          <a:p>
            <a:pPr algn="ctr">
              <a:defRPr sz="950" b="1">
                <a:solidFill>
                  <a:srgbClr val="10B981"/>
                </a:solidFill>
                <a:latin typeface="Segoe UI"/>
              </a:defRPr>
            </a:pPr>
            <a:r>
              <a:t>Demo</a:t>
            </a:r>
          </a:p>
          <a:p>
            <a:pPr algn="ctr">
              <a:spcBef>
                <a:spcPts val="200"/>
              </a:spcBef>
              <a:defRPr sz="800">
                <a:solidFill>
                  <a:srgbClr val="64748B"/>
                </a:solidFill>
                <a:latin typeface="Segoe UI"/>
              </a:defRPr>
            </a:pPr>
            <a:r>
              <a:t>All</a:t>
            </a:r>
          </a:p>
        </p:txBody>
      </p:sp>
      <p:sp>
        <p:nvSpPr>
          <p:cNvPr id="51" name="TextBox 50"/>
          <p:cNvSpPr txBox="1"/>
          <p:nvPr/>
        </p:nvSpPr>
        <p:spPr>
          <a:xfrm>
            <a:off x="10378440" y="3566160"/>
            <a:ext cx="822960" cy="548640"/>
          </a:xfrm>
          <a:prstGeom prst="rect">
            <a:avLst/>
          </a:prstGeom>
          <a:noFill/>
        </p:spPr>
        <p:txBody>
          <a:bodyPr wrap="square">
            <a:spAutoFit/>
          </a:bodyPr>
          <a:lstStyle/>
          <a:p>
            <a:pPr algn="ctr">
              <a:defRPr sz="800">
                <a:solidFill>
                  <a:srgbClr val="64748B"/>
                </a:solidFill>
                <a:latin typeface="Segoe UI"/>
              </a:defRPr>
            </a:pPr>
            <a:r>
              <a:t>Phase 10</a:t>
            </a:r>
          </a:p>
        </p:txBody>
      </p:sp>
      <p:sp>
        <p:nvSpPr>
          <p:cNvPr id="52" name="Oval 51"/>
          <p:cNvSpPr/>
          <p:nvPr/>
        </p:nvSpPr>
        <p:spPr>
          <a:xfrm>
            <a:off x="777240" y="4297680"/>
            <a:ext cx="182880" cy="1828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4251960"/>
            <a:ext cx="1371600" cy="274320"/>
          </a:xfrm>
          <a:prstGeom prst="rect">
            <a:avLst/>
          </a:prstGeom>
          <a:noFill/>
        </p:spPr>
        <p:txBody>
          <a:bodyPr wrap="none">
            <a:spAutoFit/>
          </a:bodyPr>
          <a:lstStyle/>
          <a:p>
            <a:pPr>
              <a:defRPr sz="900">
                <a:solidFill>
                  <a:srgbClr val="3B82F6"/>
                </a:solidFill>
                <a:latin typeface="Segoe UI"/>
              </a:defRPr>
            </a:pPr>
            <a:r>
              <a:t>Foundation</a:t>
            </a:r>
          </a:p>
        </p:txBody>
      </p:sp>
      <p:sp>
        <p:nvSpPr>
          <p:cNvPr id="54" name="Oval 53"/>
          <p:cNvSpPr/>
          <p:nvPr/>
        </p:nvSpPr>
        <p:spPr>
          <a:xfrm>
            <a:off x="2606040" y="4297680"/>
            <a:ext cx="182880" cy="18288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34640" y="4251960"/>
            <a:ext cx="1371600" cy="274320"/>
          </a:xfrm>
          <a:prstGeom prst="rect">
            <a:avLst/>
          </a:prstGeom>
          <a:noFill/>
        </p:spPr>
        <p:txBody>
          <a:bodyPr wrap="none">
            <a:spAutoFit/>
          </a:bodyPr>
          <a:lstStyle/>
          <a:p>
            <a:pPr>
              <a:defRPr sz="900">
                <a:solidFill>
                  <a:srgbClr val="22D3EE"/>
                </a:solidFill>
                <a:latin typeface="Segoe UI"/>
              </a:defRPr>
            </a:pPr>
            <a:r>
              <a:t>Core</a:t>
            </a:r>
          </a:p>
        </p:txBody>
      </p:sp>
      <p:sp>
        <p:nvSpPr>
          <p:cNvPr id="56" name="Oval 55"/>
          <p:cNvSpPr/>
          <p:nvPr/>
        </p:nvSpPr>
        <p:spPr>
          <a:xfrm>
            <a:off x="4434840" y="4297680"/>
            <a:ext cx="182880" cy="1828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3440" y="4251960"/>
            <a:ext cx="1371600" cy="274320"/>
          </a:xfrm>
          <a:prstGeom prst="rect">
            <a:avLst/>
          </a:prstGeom>
          <a:noFill/>
        </p:spPr>
        <p:txBody>
          <a:bodyPr wrap="none">
            <a:spAutoFit/>
          </a:bodyPr>
          <a:lstStyle/>
          <a:p>
            <a:pPr>
              <a:defRPr sz="900">
                <a:solidFill>
                  <a:srgbClr val="F59E0B"/>
                </a:solidFill>
                <a:latin typeface="Segoe UI"/>
              </a:defRPr>
            </a:pPr>
            <a:r>
              <a:t>Critical Path</a:t>
            </a:r>
          </a:p>
        </p:txBody>
      </p:sp>
      <p:sp>
        <p:nvSpPr>
          <p:cNvPr id="58" name="Oval 57"/>
          <p:cNvSpPr/>
          <p:nvPr/>
        </p:nvSpPr>
        <p:spPr>
          <a:xfrm>
            <a:off x="6263640" y="4297680"/>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92240" y="4251960"/>
            <a:ext cx="1371600" cy="274320"/>
          </a:xfrm>
          <a:prstGeom prst="rect">
            <a:avLst/>
          </a:prstGeom>
          <a:noFill/>
        </p:spPr>
        <p:txBody>
          <a:bodyPr wrap="none">
            <a:spAutoFit/>
          </a:bodyPr>
          <a:lstStyle/>
          <a:p>
            <a:pPr>
              <a:defRPr sz="900">
                <a:solidFill>
                  <a:srgbClr val="10B981"/>
                </a:solidFill>
                <a:latin typeface="Segoe UI"/>
              </a:defRPr>
            </a:pPr>
            <a:r>
              <a:t>Expansion</a:t>
            </a:r>
          </a:p>
        </p:txBody>
      </p:sp>
      <p:sp>
        <p:nvSpPr>
          <p:cNvPr id="60" name="Oval 59"/>
          <p:cNvSpPr/>
          <p:nvPr/>
        </p:nvSpPr>
        <p:spPr>
          <a:xfrm>
            <a:off x="8092440" y="4297680"/>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21040" y="4251960"/>
            <a:ext cx="1371600" cy="274320"/>
          </a:xfrm>
          <a:prstGeom prst="rect">
            <a:avLst/>
          </a:prstGeom>
          <a:noFill/>
        </p:spPr>
        <p:txBody>
          <a:bodyPr wrap="none">
            <a:spAutoFit/>
          </a:bodyPr>
          <a:lstStyle/>
          <a:p>
            <a:pPr>
              <a:defRPr sz="900">
                <a:solidFill>
                  <a:srgbClr val="8B5CF6"/>
                </a:solidFill>
                <a:latin typeface="Segoe UI"/>
              </a:defRPr>
            </a:pPr>
            <a:r>
              <a:t>Advanced</a:t>
            </a:r>
          </a:p>
        </p:txBody>
      </p:sp>
      <p:sp>
        <p:nvSpPr>
          <p:cNvPr id="62" name="Rounded Rectangle 61"/>
          <p:cNvSpPr/>
          <p:nvPr/>
        </p:nvSpPr>
        <p:spPr>
          <a:xfrm>
            <a:off x="777240" y="4709160"/>
            <a:ext cx="10607040" cy="1371600"/>
          </a:xfrm>
          <a:prstGeom prst="roundRect">
            <a:avLst/>
          </a:prstGeom>
          <a:solidFill>
            <a:srgbClr val="271E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8720" y="4846320"/>
            <a:ext cx="9784080" cy="1097280"/>
          </a:xfrm>
          <a:prstGeom prst="rect">
            <a:avLst/>
          </a:prstGeom>
          <a:noFill/>
        </p:spPr>
        <p:txBody>
          <a:bodyPr wrap="square">
            <a:spAutoFit/>
          </a:bodyPr>
          <a:lstStyle/>
          <a:p>
            <a:pPr algn="ctr"/>
            <a:r>
              <a:rPr sz="1400" b="1">
                <a:solidFill>
                  <a:srgbClr val="F59E0B"/>
                </a:solidFill>
                <a:latin typeface="Segoe UI"/>
              </a:rPr>
              <a:t>PHASE 4 IS THE LINCHPIN  </a:t>
            </a:r>
            <a:r>
              <a:rPr sz="1200">
                <a:solidFill>
                  <a:srgbClr val="FFFFFF"/>
                </a:solidFill>
                <a:latin typeface="Segoe UI"/>
              </a:rPr>
              <a:t>User Question → Intent → Legal Retrieval → Grounded Answer → Citation → Confidence Badge</a:t>
            </a:r>
          </a:p>
          <a:p>
            <a:pPr algn="ctr">
              <a:spcBef>
                <a:spcPts val="600"/>
              </a:spcBef>
              <a:defRPr sz="1100">
                <a:solidFill>
                  <a:srgbClr val="CBD5E1"/>
                </a:solidFill>
                <a:latin typeface="Segoe UI"/>
              </a:defRPr>
            </a:pPr>
            <a:r>
              <a:t>If Phase 4 slips → stop adding features → cut P2 scope immediately. First make the core trustworthy. Then make it bigger.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CRITICAL PATH</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Everything depends on one milestone.</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14</a:t>
            </a:r>
          </a:p>
        </p:txBody>
      </p:sp>
      <p:sp>
        <p:nvSpPr>
          <p:cNvPr id="6" name="Rounded Rectangle 5"/>
          <p:cNvSpPr/>
          <p:nvPr/>
        </p:nvSpPr>
        <p:spPr>
          <a:xfrm>
            <a:off x="3931920" y="1417320"/>
            <a:ext cx="4572000" cy="41148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417320"/>
            <a:ext cx="4572000" cy="411480"/>
          </a:xfrm>
          <a:prstGeom prst="rect">
            <a:avLst/>
          </a:prstGeom>
          <a:noFill/>
        </p:spPr>
        <p:txBody>
          <a:bodyPr wrap="none" anchor="ctr">
            <a:spAutoFit/>
          </a:bodyPr>
          <a:lstStyle/>
          <a:p>
            <a:pPr algn="ctr">
              <a:defRPr sz="1100" b="0">
                <a:solidFill>
                  <a:srgbClr val="22D3EE"/>
                </a:solidFill>
                <a:latin typeface="Segoe UI"/>
              </a:defRPr>
            </a:pPr>
            <a:r>
              <a:t>User Question</a:t>
            </a:r>
          </a:p>
        </p:txBody>
      </p:sp>
      <p:sp>
        <p:nvSpPr>
          <p:cNvPr id="8" name="TextBox 7"/>
          <p:cNvSpPr txBox="1"/>
          <p:nvPr/>
        </p:nvSpPr>
        <p:spPr>
          <a:xfrm>
            <a:off x="5943600" y="1828800"/>
            <a:ext cx="457200" cy="182880"/>
          </a:xfrm>
          <a:prstGeom prst="rect">
            <a:avLst/>
          </a:prstGeom>
          <a:noFill/>
        </p:spPr>
        <p:txBody>
          <a:bodyPr wrap="none">
            <a:spAutoFit/>
          </a:bodyPr>
          <a:lstStyle/>
          <a:p>
            <a:pPr algn="ctr">
              <a:defRPr sz="1000">
                <a:solidFill>
                  <a:srgbClr val="64748B"/>
                </a:solidFill>
              </a:defRPr>
            </a:pPr>
            <a:r>
              <a:t>↓</a:t>
            </a:r>
          </a:p>
        </p:txBody>
      </p:sp>
      <p:sp>
        <p:nvSpPr>
          <p:cNvPr id="9" name="Rounded Rectangle 8"/>
          <p:cNvSpPr/>
          <p:nvPr/>
        </p:nvSpPr>
        <p:spPr>
          <a:xfrm>
            <a:off x="3931920" y="1984248"/>
            <a:ext cx="4572000" cy="41148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1984248"/>
            <a:ext cx="4572000" cy="411480"/>
          </a:xfrm>
          <a:prstGeom prst="rect">
            <a:avLst/>
          </a:prstGeom>
          <a:noFill/>
        </p:spPr>
        <p:txBody>
          <a:bodyPr wrap="none" anchor="ctr">
            <a:spAutoFit/>
          </a:bodyPr>
          <a:lstStyle/>
          <a:p>
            <a:pPr algn="ctr">
              <a:defRPr sz="1100" b="0">
                <a:solidFill>
                  <a:srgbClr val="3B82F6"/>
                </a:solidFill>
                <a:latin typeface="Segoe UI"/>
              </a:defRPr>
            </a:pPr>
            <a:r>
              <a:t>Intent Classification</a:t>
            </a:r>
          </a:p>
        </p:txBody>
      </p:sp>
      <p:sp>
        <p:nvSpPr>
          <p:cNvPr id="11" name="TextBox 10"/>
          <p:cNvSpPr txBox="1"/>
          <p:nvPr/>
        </p:nvSpPr>
        <p:spPr>
          <a:xfrm>
            <a:off x="5943600" y="2395728"/>
            <a:ext cx="457200" cy="182880"/>
          </a:xfrm>
          <a:prstGeom prst="rect">
            <a:avLst/>
          </a:prstGeom>
          <a:noFill/>
        </p:spPr>
        <p:txBody>
          <a:bodyPr wrap="none">
            <a:spAutoFit/>
          </a:bodyPr>
          <a:lstStyle/>
          <a:p>
            <a:pPr algn="ctr">
              <a:defRPr sz="1000">
                <a:solidFill>
                  <a:srgbClr val="64748B"/>
                </a:solidFill>
              </a:defRPr>
            </a:pPr>
            <a:r>
              <a:t>↓</a:t>
            </a:r>
          </a:p>
        </p:txBody>
      </p:sp>
      <p:sp>
        <p:nvSpPr>
          <p:cNvPr id="12" name="Rounded Rectangle 11"/>
          <p:cNvSpPr/>
          <p:nvPr/>
        </p:nvSpPr>
        <p:spPr>
          <a:xfrm>
            <a:off x="3474720" y="2551176"/>
            <a:ext cx="5486400" cy="411480"/>
          </a:xfrm>
          <a:prstGeom prst="roundRect">
            <a:avLst/>
          </a:prstGeom>
          <a:solidFill>
            <a:srgbClr val="1F1A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2551176"/>
            <a:ext cx="5486400" cy="411480"/>
          </a:xfrm>
          <a:prstGeom prst="rect">
            <a:avLst/>
          </a:prstGeom>
          <a:noFill/>
        </p:spPr>
        <p:txBody>
          <a:bodyPr wrap="none" anchor="ctr">
            <a:spAutoFit/>
          </a:bodyPr>
          <a:lstStyle/>
          <a:p>
            <a:pPr algn="ctr">
              <a:defRPr sz="1100" b="1">
                <a:solidFill>
                  <a:srgbClr val="F59E0B"/>
                </a:solidFill>
                <a:latin typeface="Segoe UI"/>
              </a:defRPr>
            </a:pPr>
            <a:r>
              <a:t>Legal Retrieval (ChromaDB + BM25)</a:t>
            </a:r>
          </a:p>
        </p:txBody>
      </p:sp>
      <p:sp>
        <p:nvSpPr>
          <p:cNvPr id="14" name="TextBox 13"/>
          <p:cNvSpPr txBox="1"/>
          <p:nvPr/>
        </p:nvSpPr>
        <p:spPr>
          <a:xfrm>
            <a:off x="5943600" y="2962656"/>
            <a:ext cx="457200" cy="182880"/>
          </a:xfrm>
          <a:prstGeom prst="rect">
            <a:avLst/>
          </a:prstGeom>
          <a:noFill/>
        </p:spPr>
        <p:txBody>
          <a:bodyPr wrap="none">
            <a:spAutoFit/>
          </a:bodyPr>
          <a:lstStyle/>
          <a:p>
            <a:pPr algn="ctr">
              <a:defRPr sz="1000">
                <a:solidFill>
                  <a:srgbClr val="64748B"/>
                </a:solidFill>
              </a:defRPr>
            </a:pPr>
            <a:r>
              <a:t>↓</a:t>
            </a:r>
          </a:p>
        </p:txBody>
      </p:sp>
      <p:sp>
        <p:nvSpPr>
          <p:cNvPr id="15" name="Rounded Rectangle 14"/>
          <p:cNvSpPr/>
          <p:nvPr/>
        </p:nvSpPr>
        <p:spPr>
          <a:xfrm>
            <a:off x="3474720" y="3118104"/>
            <a:ext cx="5486400" cy="411480"/>
          </a:xfrm>
          <a:prstGeom prst="roundRect">
            <a:avLst/>
          </a:prstGeom>
          <a:solidFill>
            <a:srgbClr val="1F1A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3118104"/>
            <a:ext cx="5486400" cy="411480"/>
          </a:xfrm>
          <a:prstGeom prst="rect">
            <a:avLst/>
          </a:prstGeom>
          <a:noFill/>
        </p:spPr>
        <p:txBody>
          <a:bodyPr wrap="none" anchor="ctr">
            <a:spAutoFit/>
          </a:bodyPr>
          <a:lstStyle/>
          <a:p>
            <a:pPr algn="ctr">
              <a:defRPr sz="1100" b="1">
                <a:solidFill>
                  <a:srgbClr val="F59E0B"/>
                </a:solidFill>
                <a:latin typeface="Segoe UI"/>
              </a:defRPr>
            </a:pPr>
            <a:r>
              <a:t>Evidence Context Assembly</a:t>
            </a:r>
          </a:p>
        </p:txBody>
      </p:sp>
      <p:sp>
        <p:nvSpPr>
          <p:cNvPr id="17" name="TextBox 16"/>
          <p:cNvSpPr txBox="1"/>
          <p:nvPr/>
        </p:nvSpPr>
        <p:spPr>
          <a:xfrm>
            <a:off x="5943600" y="3529584"/>
            <a:ext cx="457200" cy="182880"/>
          </a:xfrm>
          <a:prstGeom prst="rect">
            <a:avLst/>
          </a:prstGeom>
          <a:noFill/>
        </p:spPr>
        <p:txBody>
          <a:bodyPr wrap="none">
            <a:spAutoFit/>
          </a:bodyPr>
          <a:lstStyle/>
          <a:p>
            <a:pPr algn="ctr">
              <a:defRPr sz="1000">
                <a:solidFill>
                  <a:srgbClr val="64748B"/>
                </a:solidFill>
              </a:defRPr>
            </a:pPr>
            <a:r>
              <a:t>↓</a:t>
            </a:r>
          </a:p>
        </p:txBody>
      </p:sp>
      <p:sp>
        <p:nvSpPr>
          <p:cNvPr id="18" name="Rounded Rectangle 17"/>
          <p:cNvSpPr/>
          <p:nvPr/>
        </p:nvSpPr>
        <p:spPr>
          <a:xfrm>
            <a:off x="3931920" y="3685032"/>
            <a:ext cx="4572000" cy="41148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3685032"/>
            <a:ext cx="4572000" cy="411480"/>
          </a:xfrm>
          <a:prstGeom prst="rect">
            <a:avLst/>
          </a:prstGeom>
          <a:noFill/>
        </p:spPr>
        <p:txBody>
          <a:bodyPr wrap="none" anchor="ctr">
            <a:spAutoFit/>
          </a:bodyPr>
          <a:lstStyle/>
          <a:p>
            <a:pPr algn="ctr">
              <a:defRPr sz="1100" b="0">
                <a:solidFill>
                  <a:srgbClr val="3B82F6"/>
                </a:solidFill>
                <a:latin typeface="Segoe UI"/>
              </a:defRPr>
            </a:pPr>
            <a:r>
              <a:t>LLM Synthesizes Evidence</a:t>
            </a:r>
          </a:p>
        </p:txBody>
      </p:sp>
      <p:sp>
        <p:nvSpPr>
          <p:cNvPr id="20" name="TextBox 19"/>
          <p:cNvSpPr txBox="1"/>
          <p:nvPr/>
        </p:nvSpPr>
        <p:spPr>
          <a:xfrm>
            <a:off x="5943600" y="4096512"/>
            <a:ext cx="457200" cy="182880"/>
          </a:xfrm>
          <a:prstGeom prst="rect">
            <a:avLst/>
          </a:prstGeom>
          <a:noFill/>
        </p:spPr>
        <p:txBody>
          <a:bodyPr wrap="none">
            <a:spAutoFit/>
          </a:bodyPr>
          <a:lstStyle/>
          <a:p>
            <a:pPr algn="ctr">
              <a:defRPr sz="1000">
                <a:solidFill>
                  <a:srgbClr val="64748B"/>
                </a:solidFill>
              </a:defRPr>
            </a:pPr>
            <a:r>
              <a:t>↓</a:t>
            </a:r>
          </a:p>
        </p:txBody>
      </p:sp>
      <p:sp>
        <p:nvSpPr>
          <p:cNvPr id="21" name="Rounded Rectangle 20"/>
          <p:cNvSpPr/>
          <p:nvPr/>
        </p:nvSpPr>
        <p:spPr>
          <a:xfrm>
            <a:off x="3931920" y="4251960"/>
            <a:ext cx="4572000" cy="41148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4251960"/>
            <a:ext cx="4572000" cy="411480"/>
          </a:xfrm>
          <a:prstGeom prst="rect">
            <a:avLst/>
          </a:prstGeom>
          <a:noFill/>
        </p:spPr>
        <p:txBody>
          <a:bodyPr wrap="none" anchor="ctr">
            <a:spAutoFit/>
          </a:bodyPr>
          <a:lstStyle/>
          <a:p>
            <a:pPr algn="ctr">
              <a:defRPr sz="1100" b="0">
                <a:solidFill>
                  <a:srgbClr val="10B981"/>
                </a:solidFill>
                <a:latin typeface="Segoe UI"/>
              </a:defRPr>
            </a:pPr>
            <a:r>
              <a:t>Citation Verification</a:t>
            </a:r>
          </a:p>
        </p:txBody>
      </p:sp>
      <p:sp>
        <p:nvSpPr>
          <p:cNvPr id="23" name="TextBox 22"/>
          <p:cNvSpPr txBox="1"/>
          <p:nvPr/>
        </p:nvSpPr>
        <p:spPr>
          <a:xfrm>
            <a:off x="5943600" y="4663440"/>
            <a:ext cx="457200" cy="182880"/>
          </a:xfrm>
          <a:prstGeom prst="rect">
            <a:avLst/>
          </a:prstGeom>
          <a:noFill/>
        </p:spPr>
        <p:txBody>
          <a:bodyPr wrap="none">
            <a:spAutoFit/>
          </a:bodyPr>
          <a:lstStyle/>
          <a:p>
            <a:pPr algn="ctr">
              <a:defRPr sz="1000">
                <a:solidFill>
                  <a:srgbClr val="64748B"/>
                </a:solidFill>
              </a:defRPr>
            </a:pPr>
            <a:r>
              <a:t>↓</a:t>
            </a:r>
          </a:p>
        </p:txBody>
      </p:sp>
      <p:sp>
        <p:nvSpPr>
          <p:cNvPr id="24" name="Rounded Rectangle 23"/>
          <p:cNvSpPr/>
          <p:nvPr/>
        </p:nvSpPr>
        <p:spPr>
          <a:xfrm>
            <a:off x="3931920" y="4818888"/>
            <a:ext cx="4572000" cy="41148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0" y="4818888"/>
            <a:ext cx="4572000" cy="411480"/>
          </a:xfrm>
          <a:prstGeom prst="rect">
            <a:avLst/>
          </a:prstGeom>
          <a:noFill/>
        </p:spPr>
        <p:txBody>
          <a:bodyPr wrap="none" anchor="ctr">
            <a:spAutoFit/>
          </a:bodyPr>
          <a:lstStyle/>
          <a:p>
            <a:pPr algn="ctr">
              <a:defRPr sz="1100" b="0">
                <a:solidFill>
                  <a:srgbClr val="10B981"/>
                </a:solidFill>
                <a:latin typeface="Segoe UI"/>
              </a:defRPr>
            </a:pPr>
            <a:r>
              <a:t>Confidence Badge</a:t>
            </a:r>
          </a:p>
        </p:txBody>
      </p:sp>
      <p:sp>
        <p:nvSpPr>
          <p:cNvPr id="26" name="Rounded Rectangle 25"/>
          <p:cNvSpPr/>
          <p:nvPr/>
        </p:nvSpPr>
        <p:spPr>
          <a:xfrm>
            <a:off x="9601200" y="2011680"/>
            <a:ext cx="1828800" cy="2286000"/>
          </a:xfrm>
          <a:prstGeom prst="roundRect">
            <a:avLst/>
          </a:prstGeom>
          <a:solidFill>
            <a:srgbClr val="1A1E4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2194560"/>
            <a:ext cx="1828800" cy="1920240"/>
          </a:xfrm>
          <a:prstGeom prst="rect">
            <a:avLst/>
          </a:prstGeom>
          <a:noFill/>
        </p:spPr>
        <p:txBody>
          <a:bodyPr wrap="square">
            <a:spAutoFit/>
          </a:bodyPr>
          <a:lstStyle/>
          <a:p>
            <a:pPr algn="ctr">
              <a:defRPr sz="1300" b="1">
                <a:solidFill>
                  <a:srgbClr val="F59E0B"/>
                </a:solidFill>
                <a:latin typeface="Segoe UI"/>
              </a:defRPr>
            </a:pPr>
            <a:r>
              <a:t>MILESTONE 1</a:t>
            </a:r>
          </a:p>
          <a:p>
            <a:pPr algn="ctr">
              <a:spcBef>
                <a:spcPts val="800"/>
              </a:spcBef>
              <a:defRPr sz="1600" b="1">
                <a:solidFill>
                  <a:srgbClr val="FFFFFF"/>
                </a:solidFill>
              </a:defRPr>
            </a:pPr>
            <a:r>
              <a:t>Grounded</a:t>
            </a:r>
            <a:br/>
            <a:r>
              <a:t>Answer</a:t>
            </a:r>
          </a:p>
        </p:txBody>
      </p:sp>
      <p:sp>
        <p:nvSpPr>
          <p:cNvPr id="28" name="Rounded Rectangle 27"/>
          <p:cNvSpPr/>
          <p:nvPr/>
        </p:nvSpPr>
        <p:spPr>
          <a:xfrm>
            <a:off x="777240" y="2011680"/>
            <a:ext cx="2377440" cy="2286000"/>
          </a:xfrm>
          <a:prstGeom prst="roundRect">
            <a:avLst/>
          </a:prstGeom>
          <a:solidFill>
            <a:srgbClr val="1A0E1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2194560"/>
            <a:ext cx="2194560" cy="1920240"/>
          </a:xfrm>
          <a:prstGeom prst="rect">
            <a:avLst/>
          </a:prstGeom>
          <a:noFill/>
        </p:spPr>
        <p:txBody>
          <a:bodyPr wrap="square">
            <a:spAutoFit/>
          </a:bodyPr>
          <a:lstStyle/>
          <a:p>
            <a:pPr algn="ctr">
              <a:defRPr sz="1200" b="1">
                <a:solidFill>
                  <a:srgbClr val="F43F5E"/>
                </a:solidFill>
                <a:latin typeface="Segoe UI"/>
              </a:defRPr>
            </a:pPr>
            <a:r>
              <a:t>IF THIS SLIPS</a:t>
            </a:r>
          </a:p>
          <a:p>
            <a:pPr algn="ctr">
              <a:spcBef>
                <a:spcPts val="800"/>
              </a:spcBef>
              <a:defRPr sz="1100">
                <a:solidFill>
                  <a:srgbClr val="CBD5E1"/>
                </a:solidFill>
              </a:defRPr>
            </a:pPr>
            <a:r>
              <a:t>Stop adding</a:t>
            </a:r>
            <a:br/>
            <a:r>
              <a:t>features.</a:t>
            </a:r>
            <a:br/>
            <a:br/>
            <a:r>
              <a:t>Cut P2 scope</a:t>
            </a:r>
            <a:br/>
            <a:r>
              <a:t>immediately.</a:t>
            </a:r>
          </a:p>
        </p:txBody>
      </p:sp>
      <p:sp>
        <p:nvSpPr>
          <p:cNvPr id="30" name="Rounded Rectangle 29"/>
          <p:cNvSpPr/>
          <p:nvPr/>
        </p:nvSpPr>
        <p:spPr>
          <a:xfrm>
            <a:off x="777240" y="5852160"/>
            <a:ext cx="10607040" cy="594360"/>
          </a:xfrm>
          <a:prstGeom prst="roundRect">
            <a:avLst/>
          </a:prstGeom>
          <a:solidFill>
            <a:srgbClr val="0F112B"/>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59E0B"/>
                </a:solidFill>
                <a:latin typeface="Segoe UI"/>
              </a:rPr>
              <a:t>First make the core trustworthy. Then make it bigger. Never let a P2 feature touch the critical path.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350"/>
                                  <p:tgtEl>
                                    <p:spTgt spid="6"/>
                                  </p:tgtEl>
                                </p:cBhvr>
                              </p:animEffect>
                            </p:childTnLst>
                          </p:cTn>
                        </p:par>
                      </p:childTnLst>
                    </p:cTn>
                  </p:par>
                  <p:par>
                    <p:cTn id="6" fill="hold">
                      <p:stCondLst>
                        <p:cond delay="0"/>
                      </p:stCondLst>
                      <p:childTnLst>
                        <p:par>
                          <p:cTn id="7" presetID="10" presetClass="entr" presetSubtype="0" fill="hold" nodeType="withEffect">
                            <p:stCondLst>
                              <p:cond delay="120"/>
                            </p:stCondLst>
                            <p:childTnLst>
                              <p:animEffect transition="in" filter="fade">
                                <p:cBhvr>
                                  <p:cTn id="8" dur="350"/>
                                  <p:tgtEl>
                                    <p:spTgt spid="9"/>
                                  </p:tgtEl>
                                </p:cBhvr>
                              </p:animEffect>
                            </p:childTnLst>
                          </p:cTn>
                        </p:par>
                      </p:childTnLst>
                    </p:cTn>
                  </p:par>
                  <p:par>
                    <p:cTn id="9" fill="hold">
                      <p:stCondLst>
                        <p:cond delay="0"/>
                      </p:stCondLst>
                      <p:childTnLst>
                        <p:par>
                          <p:cTn id="10" presetID="10" presetClass="entr" presetSubtype="0" fill="hold" nodeType="withEffect">
                            <p:stCondLst>
                              <p:cond delay="240"/>
                            </p:stCondLst>
                            <p:childTnLst>
                              <p:animEffect transition="in" filter="fade">
                                <p:cBhvr>
                                  <p:cTn id="11" dur="350"/>
                                  <p:tgtEl>
                                    <p:spTgt spid="12"/>
                                  </p:tgtEl>
                                </p:cBhvr>
                              </p:animEffect>
                            </p:childTnLst>
                          </p:cTn>
                        </p:par>
                      </p:childTnLst>
                    </p:cTn>
                  </p:par>
                  <p:par>
                    <p:cTn id="12" fill="hold">
                      <p:stCondLst>
                        <p:cond delay="0"/>
                      </p:stCondLst>
                      <p:childTnLst>
                        <p:par>
                          <p:cTn id="13" presetID="10" presetClass="entr" presetSubtype="0" fill="hold" nodeType="withEffect">
                            <p:stCondLst>
                              <p:cond delay="360"/>
                            </p:stCondLst>
                            <p:childTnLst>
                              <p:animEffect transition="in" filter="fade">
                                <p:cBhvr>
                                  <p:cTn id="14" dur="350"/>
                                  <p:tgtEl>
                                    <p:spTgt spid="15"/>
                                  </p:tgtEl>
                                </p:cBhvr>
                              </p:animEffect>
                            </p:childTnLst>
                          </p:cTn>
                        </p:par>
                      </p:childTnLst>
                    </p:cTn>
                  </p:par>
                  <p:par>
                    <p:cTn id="15" fill="hold">
                      <p:stCondLst>
                        <p:cond delay="0"/>
                      </p:stCondLst>
                      <p:childTnLst>
                        <p:par>
                          <p:cTn id="16" presetID="10" presetClass="entr" presetSubtype="0" fill="hold" nodeType="withEffect">
                            <p:stCondLst>
                              <p:cond delay="480"/>
                            </p:stCondLst>
                            <p:childTnLst>
                              <p:animEffect transition="in" filter="fade">
                                <p:cBhvr>
                                  <p:cTn id="17" dur="350"/>
                                  <p:tgtEl>
                                    <p:spTgt spid="18"/>
                                  </p:tgtEl>
                                </p:cBhvr>
                              </p:animEffect>
                            </p:childTnLst>
                          </p:cTn>
                        </p:par>
                      </p:childTnLst>
                    </p:cTn>
                  </p:par>
                  <p:par>
                    <p:cTn id="18" fill="hold">
                      <p:stCondLst>
                        <p:cond delay="0"/>
                      </p:stCondLst>
                      <p:childTnLst>
                        <p:par>
                          <p:cTn id="19" presetID="10" presetClass="entr" presetSubtype="0" fill="hold" nodeType="withEffect">
                            <p:stCondLst>
                              <p:cond delay="600"/>
                            </p:stCondLst>
                            <p:childTnLst>
                              <p:animEffect transition="in" filter="fade">
                                <p:cBhvr>
                                  <p:cTn id="20" dur="350"/>
                                  <p:tgtEl>
                                    <p:spTgt spid="21"/>
                                  </p:tgtEl>
                                </p:cBhvr>
                              </p:animEffect>
                            </p:childTnLst>
                          </p:cTn>
                        </p:par>
                      </p:childTnLst>
                    </p:cTn>
                  </p:par>
                  <p:par>
                    <p:cTn id="21" fill="hold">
                      <p:stCondLst>
                        <p:cond delay="0"/>
                      </p:stCondLst>
                      <p:childTnLst>
                        <p:par>
                          <p:cTn id="22" presetID="10" presetClass="entr" presetSubtype="0" fill="hold" nodeType="withEffect">
                            <p:stCondLst>
                              <p:cond delay="720"/>
                            </p:stCondLst>
                            <p:childTnLst>
                              <p:animEffect transition="in" filter="fade">
                                <p:cBhvr>
                                  <p:cTn id="23" dur="350"/>
                                  <p:tgtEl>
                                    <p:spTgt spid="24"/>
                                  </p:tgtEl>
                                </p:cBhvr>
                              </p:animEffect>
                            </p:childTnLst>
                          </p:cTn>
                        </p:par>
                      </p:childTnLst>
                    </p:cTn>
                  </p:par>
                </p:childTnLst>
              </p:cTn>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777240" y="502920"/>
            <a:ext cx="109728" cy="10972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384048"/>
            <a:ext cx="8229600" cy="256032"/>
          </a:xfrm>
          <a:prstGeom prst="rect">
            <a:avLst/>
          </a:prstGeom>
          <a:noFill/>
        </p:spPr>
        <p:txBody>
          <a:bodyPr wrap="none">
            <a:spAutoFit/>
          </a:bodyPr>
          <a:lstStyle/>
          <a:p>
            <a:pPr>
              <a:defRPr sz="950" b="1">
                <a:solidFill>
                  <a:srgbClr val="3B82F6"/>
                </a:solidFill>
                <a:latin typeface="Segoe UI"/>
              </a:defRPr>
            </a:pPr>
            <a:r>
              <a:t>DEMO STORY &amp; IMMEDIATE ACTIONS</a:t>
            </a:r>
          </a:p>
        </p:txBody>
      </p:sp>
      <p:sp>
        <p:nvSpPr>
          <p:cNvPr id="4" name="TextBox 3"/>
          <p:cNvSpPr txBox="1"/>
          <p:nvPr/>
        </p:nvSpPr>
        <p:spPr>
          <a:xfrm>
            <a:off x="777240" y="658368"/>
            <a:ext cx="9601200" cy="548640"/>
          </a:xfrm>
          <a:prstGeom prst="rect">
            <a:avLst/>
          </a:prstGeom>
          <a:noFill/>
        </p:spPr>
        <p:txBody>
          <a:bodyPr wrap="none">
            <a:spAutoFit/>
          </a:bodyPr>
          <a:lstStyle/>
          <a:p>
            <a:pPr>
              <a:defRPr sz="2400" b="1">
                <a:solidFill>
                  <a:srgbClr val="FFFFFF"/>
                </a:solidFill>
                <a:latin typeface="Segoe UI"/>
              </a:defRPr>
            </a:pPr>
            <a:r>
              <a:t>What we will demonstrate + what you do today.</a:t>
            </a:r>
          </a:p>
        </p:txBody>
      </p:sp>
      <p:sp>
        <p:nvSpPr>
          <p:cNvPr id="5" name="TextBox 4"/>
          <p:cNvSpPr txBox="1"/>
          <p:nvPr/>
        </p:nvSpPr>
        <p:spPr>
          <a:xfrm>
            <a:off x="10607040" y="384048"/>
            <a:ext cx="914400" cy="502920"/>
          </a:xfrm>
          <a:prstGeom prst="rect">
            <a:avLst/>
          </a:prstGeom>
          <a:noFill/>
        </p:spPr>
        <p:txBody>
          <a:bodyPr wrap="none">
            <a:spAutoFit/>
          </a:bodyPr>
          <a:lstStyle/>
          <a:p>
            <a:pPr algn="r">
              <a:defRPr sz="3000" b="1">
                <a:solidFill>
                  <a:srgbClr val="1A1E42"/>
                </a:solidFill>
                <a:latin typeface="Segoe UI"/>
              </a:defRPr>
            </a:pPr>
            <a:r>
              <a:t>15</a:t>
            </a:r>
          </a:p>
        </p:txBody>
      </p:sp>
      <p:sp>
        <p:nvSpPr>
          <p:cNvPr id="6" name="Rounded Rectangle 5"/>
          <p:cNvSpPr/>
          <p:nvPr/>
        </p:nvSpPr>
        <p:spPr>
          <a:xfrm>
            <a:off x="777240" y="1417320"/>
            <a:ext cx="6217920" cy="45720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417320"/>
            <a:ext cx="6217920" cy="381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1600200"/>
            <a:ext cx="2926080" cy="292608"/>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50" b="1">
                <a:solidFill>
                  <a:srgbClr val="08091A"/>
                </a:solidFill>
                <a:latin typeface="Segoe UI"/>
              </a:defRPr>
            </a:pPr>
            <a:r>
              <a:t>THE 90-SECOND DEMO STORY</a:t>
            </a:r>
          </a:p>
        </p:txBody>
      </p:sp>
      <p:sp>
        <p:nvSpPr>
          <p:cNvPr id="9" name="TextBox 8"/>
          <p:cNvSpPr txBox="1"/>
          <p:nvPr/>
        </p:nvSpPr>
        <p:spPr>
          <a:xfrm>
            <a:off x="1005840" y="2011680"/>
            <a:ext cx="5760720" cy="594360"/>
          </a:xfrm>
          <a:prstGeom prst="rect">
            <a:avLst/>
          </a:prstGeom>
          <a:noFill/>
        </p:spPr>
        <p:txBody>
          <a:bodyPr wrap="square">
            <a:spAutoFit/>
          </a:bodyPr>
          <a:lstStyle/>
          <a:p>
            <a:r>
              <a:rPr sz="1050" b="1">
                <a:solidFill>
                  <a:srgbClr val="22D3EE"/>
                </a:solidFill>
                <a:latin typeface="Segoe UI"/>
              </a:rPr>
              <a:t>1. Voice Input (Hindi)  </a:t>
            </a:r>
            <a:r>
              <a:rPr sz="1000">
                <a:solidFill>
                  <a:srgbClr val="CBD5E1"/>
                </a:solidFill>
                <a:latin typeface="Segoe UI"/>
              </a:rPr>
              <a:t>Citizen: "Mera makaan maalik deposit wapas nahi kar raha."</a:t>
            </a:r>
          </a:p>
        </p:txBody>
      </p:sp>
      <p:sp>
        <p:nvSpPr>
          <p:cNvPr id="10" name="TextBox 9"/>
          <p:cNvSpPr txBox="1"/>
          <p:nvPr/>
        </p:nvSpPr>
        <p:spPr>
          <a:xfrm>
            <a:off x="1005840" y="2578608"/>
            <a:ext cx="5760720" cy="594360"/>
          </a:xfrm>
          <a:prstGeom prst="rect">
            <a:avLst/>
          </a:prstGeom>
          <a:noFill/>
        </p:spPr>
        <p:txBody>
          <a:bodyPr wrap="square">
            <a:spAutoFit/>
          </a:bodyPr>
          <a:lstStyle/>
          <a:p>
            <a:r>
              <a:rPr sz="1050" b="1">
                <a:solidFill>
                  <a:srgbClr val="10B981"/>
                </a:solidFill>
                <a:latin typeface="Segoe UI"/>
              </a:rPr>
              <a:t>2. Case Extraction  </a:t>
            </a:r>
            <a:r>
              <a:rPr sz="1000">
                <a:solidFill>
                  <a:srgbClr val="CBD5E1"/>
                </a:solidFill>
                <a:latin typeface="Segoe UI"/>
              </a:rPr>
              <a:t>Issue: Tenancy | Amount: INR 40K | Opponent: Landlord</a:t>
            </a:r>
          </a:p>
        </p:txBody>
      </p:sp>
      <p:sp>
        <p:nvSpPr>
          <p:cNvPr id="11" name="TextBox 10"/>
          <p:cNvSpPr txBox="1"/>
          <p:nvPr/>
        </p:nvSpPr>
        <p:spPr>
          <a:xfrm>
            <a:off x="1005840" y="3145536"/>
            <a:ext cx="5760720" cy="594360"/>
          </a:xfrm>
          <a:prstGeom prst="rect">
            <a:avLst/>
          </a:prstGeom>
          <a:noFill/>
        </p:spPr>
        <p:txBody>
          <a:bodyPr wrap="square">
            <a:spAutoFit/>
          </a:bodyPr>
          <a:lstStyle/>
          <a:p>
            <a:r>
              <a:rPr sz="1050" b="1">
                <a:solidFill>
                  <a:srgbClr val="F59E0B"/>
                </a:solidFill>
                <a:latin typeface="Segoe UI"/>
              </a:rPr>
              <a:t>3. Hybrid Legal Search  </a:t>
            </a:r>
            <a:r>
              <a:rPr sz="1000">
                <a:solidFill>
                  <a:srgbClr val="CBD5E1"/>
                </a:solidFill>
                <a:latin typeface="Segoe UI"/>
              </a:rPr>
              <a:t>ChromaDB + BM25 retrieves Model Tenancy Act sections</a:t>
            </a:r>
          </a:p>
        </p:txBody>
      </p:sp>
      <p:sp>
        <p:nvSpPr>
          <p:cNvPr id="12" name="TextBox 11"/>
          <p:cNvSpPr txBox="1"/>
          <p:nvPr/>
        </p:nvSpPr>
        <p:spPr>
          <a:xfrm>
            <a:off x="1005840" y="3712464"/>
            <a:ext cx="5760720" cy="594360"/>
          </a:xfrm>
          <a:prstGeom prst="rect">
            <a:avLst/>
          </a:prstGeom>
          <a:noFill/>
        </p:spPr>
        <p:txBody>
          <a:bodyPr wrap="square">
            <a:spAutoFit/>
          </a:bodyPr>
          <a:lstStyle/>
          <a:p>
            <a:r>
              <a:rPr sz="1050" b="1">
                <a:solidFill>
                  <a:srgbClr val="10B981"/>
                </a:solidFill>
                <a:latin typeface="Segoe UI"/>
              </a:rPr>
              <a:t>4. Cited Answer + Badge  </a:t>
            </a:r>
            <a:r>
              <a:rPr sz="1000">
                <a:solidFill>
                  <a:srgbClr val="CBD5E1"/>
                </a:solidFill>
                <a:latin typeface="Segoe UI"/>
              </a:rPr>
              <a:t>GREEN [STRONG EVIDENCE] + Section 13(2) citation</a:t>
            </a:r>
          </a:p>
        </p:txBody>
      </p:sp>
      <p:sp>
        <p:nvSpPr>
          <p:cNvPr id="13" name="TextBox 12"/>
          <p:cNvSpPr txBox="1"/>
          <p:nvPr/>
        </p:nvSpPr>
        <p:spPr>
          <a:xfrm>
            <a:off x="1005840" y="4279392"/>
            <a:ext cx="5760720" cy="594360"/>
          </a:xfrm>
          <a:prstGeom prst="rect">
            <a:avLst/>
          </a:prstGeom>
          <a:noFill/>
        </p:spPr>
        <p:txBody>
          <a:bodyPr wrap="square">
            <a:spAutoFit/>
          </a:bodyPr>
          <a:lstStyle/>
          <a:p>
            <a:r>
              <a:rPr sz="1050" b="1">
                <a:solidFill>
                  <a:srgbClr val="22D3EE"/>
                </a:solidFill>
                <a:latin typeface="Segoe UI"/>
              </a:rPr>
              <a:t>5. Action Generation  </a:t>
            </a:r>
            <a:r>
              <a:rPr sz="1000">
                <a:solidFill>
                  <a:srgbClr val="CBD5E1"/>
                </a:solidFill>
                <a:latin typeface="Segoe UI"/>
              </a:rPr>
              <a:t>Evidence Checklist + 1-Click Legal Notice Draft</a:t>
            </a:r>
          </a:p>
        </p:txBody>
      </p:sp>
      <p:sp>
        <p:nvSpPr>
          <p:cNvPr id="14" name="TextBox 13"/>
          <p:cNvSpPr txBox="1"/>
          <p:nvPr/>
        </p:nvSpPr>
        <p:spPr>
          <a:xfrm>
            <a:off x="1005840" y="4846320"/>
            <a:ext cx="5760720" cy="594360"/>
          </a:xfrm>
          <a:prstGeom prst="rect">
            <a:avLst/>
          </a:prstGeom>
          <a:noFill/>
        </p:spPr>
        <p:txBody>
          <a:bodyPr wrap="square">
            <a:spAutoFit/>
          </a:bodyPr>
          <a:lstStyle/>
          <a:p>
            <a:r>
              <a:rPr sz="1050" b="1">
                <a:solidFill>
                  <a:srgbClr val="8B5CF6"/>
                </a:solidFill>
                <a:latin typeface="Segoe UI"/>
              </a:rPr>
              <a:t>6. Engine Pattern  </a:t>
            </a:r>
            <a:r>
              <a:rPr sz="1000">
                <a:solidFill>
                  <a:srgbClr val="CBD5E1"/>
                </a:solidFill>
                <a:latin typeface="Segoe UI"/>
              </a:rPr>
              <a:t>"4 similar cases nearby" → Consent → Collective Notice</a:t>
            </a:r>
          </a:p>
        </p:txBody>
      </p:sp>
      <p:sp>
        <p:nvSpPr>
          <p:cNvPr id="15" name="TextBox 14"/>
          <p:cNvSpPr txBox="1"/>
          <p:nvPr/>
        </p:nvSpPr>
        <p:spPr>
          <a:xfrm>
            <a:off x="1005840" y="5440680"/>
            <a:ext cx="5760720" cy="365760"/>
          </a:xfrm>
          <a:prstGeom prst="rect">
            <a:avLst/>
          </a:prstGeom>
          <a:noFill/>
        </p:spPr>
        <p:txBody>
          <a:bodyPr wrap="none">
            <a:spAutoFit/>
          </a:bodyPr>
          <a:lstStyle/>
          <a:p>
            <a:pPr>
              <a:defRPr sz="950" i="1">
                <a:solidFill>
                  <a:srgbClr val="F59E0B"/>
                </a:solidFill>
                <a:latin typeface="Segoe UI"/>
              </a:defRPr>
            </a:pPr>
            <a:r>
              <a:t>"It turns a legal problem into a sourced answer and an action — and it notices when you're not alone."</a:t>
            </a:r>
          </a:p>
        </p:txBody>
      </p:sp>
      <p:sp>
        <p:nvSpPr>
          <p:cNvPr id="16" name="Rounded Rectangle 15"/>
          <p:cNvSpPr/>
          <p:nvPr/>
        </p:nvSpPr>
        <p:spPr>
          <a:xfrm>
            <a:off x="7315200" y="1417320"/>
            <a:ext cx="4114800" cy="4572000"/>
          </a:xfrm>
          <a:prstGeom prst="roundRect">
            <a:avLst/>
          </a:prstGeom>
          <a:solidFill>
            <a:srgbClr val="131635"/>
          </a:solidFill>
          <a:ln w="12700">
            <a:solidFill>
              <a:srgbClr val="232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0" y="1417320"/>
            <a:ext cx="41148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98079" y="1600200"/>
            <a:ext cx="2743200" cy="29260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defRPr sz="950" b="1">
                <a:solidFill>
                  <a:srgbClr val="08091A"/>
                </a:solidFill>
                <a:latin typeface="Segoe UI"/>
              </a:defRPr>
            </a:pPr>
            <a:r>
              <a:t>TODAY'S COMMITMENT</a:t>
            </a:r>
          </a:p>
        </p:txBody>
      </p:sp>
      <p:sp>
        <p:nvSpPr>
          <p:cNvPr id="19" name="Oval 18"/>
          <p:cNvSpPr/>
          <p:nvPr/>
        </p:nvSpPr>
        <p:spPr>
          <a:xfrm>
            <a:off x="7589520" y="2057400"/>
            <a:ext cx="411480" cy="41148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8091A"/>
                </a:solidFill>
                <a:latin typeface="Segoe UI"/>
              </a:defRPr>
            </a:pPr>
            <a:r>
              <a:t>T1</a:t>
            </a:r>
          </a:p>
        </p:txBody>
      </p:sp>
      <p:sp>
        <p:nvSpPr>
          <p:cNvPr id="20" name="TextBox 19"/>
          <p:cNvSpPr txBox="1"/>
          <p:nvPr/>
        </p:nvSpPr>
        <p:spPr>
          <a:xfrm>
            <a:off x="8092440" y="2075688"/>
            <a:ext cx="3108960" cy="365760"/>
          </a:xfrm>
          <a:prstGeom prst="rect">
            <a:avLst/>
          </a:prstGeom>
          <a:noFill/>
        </p:spPr>
        <p:txBody>
          <a:bodyPr wrap="none">
            <a:spAutoFit/>
          </a:bodyPr>
          <a:lstStyle/>
          <a:p>
            <a:pPr>
              <a:defRPr sz="1050">
                <a:solidFill>
                  <a:srgbClr val="FFFFFF"/>
                </a:solidFill>
                <a:latin typeface="Segoe UI"/>
              </a:defRPr>
            </a:pPr>
            <a:r>
              <a:t>Audit frontend/ components</a:t>
            </a:r>
          </a:p>
        </p:txBody>
      </p:sp>
      <p:sp>
        <p:nvSpPr>
          <p:cNvPr id="21" name="Oval 20"/>
          <p:cNvSpPr/>
          <p:nvPr/>
        </p:nvSpPr>
        <p:spPr>
          <a:xfrm>
            <a:off x="7589520" y="256032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8091A"/>
                </a:solidFill>
                <a:latin typeface="Segoe UI"/>
              </a:defRPr>
            </a:pPr>
            <a:r>
              <a:t>T2</a:t>
            </a:r>
          </a:p>
        </p:txBody>
      </p:sp>
      <p:sp>
        <p:nvSpPr>
          <p:cNvPr id="22" name="TextBox 21"/>
          <p:cNvSpPr txBox="1"/>
          <p:nvPr/>
        </p:nvSpPr>
        <p:spPr>
          <a:xfrm>
            <a:off x="8092440" y="2578608"/>
            <a:ext cx="3108960" cy="365760"/>
          </a:xfrm>
          <a:prstGeom prst="rect">
            <a:avLst/>
          </a:prstGeom>
          <a:noFill/>
        </p:spPr>
        <p:txBody>
          <a:bodyPr wrap="none">
            <a:spAutoFit/>
          </a:bodyPr>
          <a:lstStyle/>
          <a:p>
            <a:pPr>
              <a:defRPr sz="1050">
                <a:solidFill>
                  <a:srgbClr val="FFFFFF"/>
                </a:solidFill>
                <a:latin typeface="Segoe UI"/>
              </a:defRPr>
            </a:pPr>
            <a:r>
              <a:t>Audit backend/ + pipeline.py</a:t>
            </a:r>
          </a:p>
        </p:txBody>
      </p:sp>
      <p:sp>
        <p:nvSpPr>
          <p:cNvPr id="23" name="Oval 22"/>
          <p:cNvSpPr/>
          <p:nvPr/>
        </p:nvSpPr>
        <p:spPr>
          <a:xfrm>
            <a:off x="7589520" y="3063240"/>
            <a:ext cx="411480" cy="4114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8091A"/>
                </a:solidFill>
                <a:latin typeface="Segoe UI"/>
              </a:defRPr>
            </a:pPr>
            <a:r>
              <a:t>T3</a:t>
            </a:r>
          </a:p>
        </p:txBody>
      </p:sp>
      <p:sp>
        <p:nvSpPr>
          <p:cNvPr id="24" name="TextBox 23"/>
          <p:cNvSpPr txBox="1"/>
          <p:nvPr/>
        </p:nvSpPr>
        <p:spPr>
          <a:xfrm>
            <a:off x="8092440" y="3081528"/>
            <a:ext cx="3108960" cy="365760"/>
          </a:xfrm>
          <a:prstGeom prst="rect">
            <a:avLst/>
          </a:prstGeom>
          <a:noFill/>
        </p:spPr>
        <p:txBody>
          <a:bodyPr wrap="none">
            <a:spAutoFit/>
          </a:bodyPr>
          <a:lstStyle/>
          <a:p>
            <a:pPr>
              <a:defRPr sz="1050">
                <a:solidFill>
                  <a:srgbClr val="FFFFFF"/>
                </a:solidFill>
                <a:latin typeface="Segoe UI"/>
              </a:defRPr>
            </a:pPr>
            <a:r>
              <a:t>Audit RAG setup + gather Acts</a:t>
            </a:r>
          </a:p>
        </p:txBody>
      </p:sp>
      <p:sp>
        <p:nvSpPr>
          <p:cNvPr id="25" name="Oval 24"/>
          <p:cNvSpPr/>
          <p:nvPr/>
        </p:nvSpPr>
        <p:spPr>
          <a:xfrm>
            <a:off x="7589520" y="356616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8091A"/>
                </a:solidFill>
                <a:latin typeface="Segoe UI"/>
              </a:defRPr>
            </a:pPr>
            <a:r>
              <a:t>T4</a:t>
            </a:r>
          </a:p>
        </p:txBody>
      </p:sp>
      <p:sp>
        <p:nvSpPr>
          <p:cNvPr id="26" name="TextBox 25"/>
          <p:cNvSpPr txBox="1"/>
          <p:nvPr/>
        </p:nvSpPr>
        <p:spPr>
          <a:xfrm>
            <a:off x="8092440" y="3584448"/>
            <a:ext cx="3108960" cy="365760"/>
          </a:xfrm>
          <a:prstGeom prst="rect">
            <a:avLst/>
          </a:prstGeom>
          <a:noFill/>
        </p:spPr>
        <p:txBody>
          <a:bodyPr wrap="none">
            <a:spAutoFit/>
          </a:bodyPr>
          <a:lstStyle/>
          <a:p>
            <a:pPr>
              <a:defRPr sz="1050">
                <a:solidFill>
                  <a:srgbClr val="FFFFFF"/>
                </a:solidFill>
                <a:latin typeface="Segoe UI"/>
              </a:defRPr>
            </a:pPr>
            <a:r>
              <a:t>Build docker-compose + CI</a:t>
            </a:r>
          </a:p>
        </p:txBody>
      </p:sp>
      <p:sp>
        <p:nvSpPr>
          <p:cNvPr id="27" name="Rounded Rectangle 26"/>
          <p:cNvSpPr/>
          <p:nvPr/>
        </p:nvSpPr>
        <p:spPr>
          <a:xfrm>
            <a:off x="7498079" y="4206240"/>
            <a:ext cx="3749039" cy="1554480"/>
          </a:xfrm>
          <a:prstGeom prst="roundRect">
            <a:avLst/>
          </a:prstGeom>
          <a:solidFill>
            <a:srgbClr val="0F11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0" y="4297680"/>
            <a:ext cx="3566160" cy="1371600"/>
          </a:xfrm>
          <a:prstGeom prst="rect">
            <a:avLst/>
          </a:prstGeom>
          <a:noFill/>
        </p:spPr>
        <p:txBody>
          <a:bodyPr wrap="square">
            <a:spAutoFit/>
          </a:bodyPr>
          <a:lstStyle/>
          <a:p>
            <a:pPr>
              <a:defRPr sz="900" b="1">
                <a:solidFill>
                  <a:srgbClr val="10B981"/>
                </a:solidFill>
                <a:latin typeface="Segoe UI"/>
              </a:defRPr>
            </a:pPr>
            <a:r>
              <a:t>END-OF-DAY GOAL</a:t>
            </a:r>
          </a:p>
          <a:p>
            <a:pPr>
              <a:spcBef>
                <a:spcPts val="600"/>
              </a:spcBef>
              <a:defRPr sz="1000">
                <a:solidFill>
                  <a:srgbClr val="FFFFFF"/>
                </a:solidFill>
                <a:latin typeface="Segoe UI"/>
              </a:defRPr>
            </a:pPr>
            <a:r>
              <a:t>Commit AUDIT_RESULTS.md</a:t>
            </a:r>
            <a:br/>
            <a:br/>
            <a:r>
              <a:t>Freeze CASE_SCHEMA.md</a:t>
            </a:r>
            <a:br/>
            <a:r>
              <a:t>and API_CONTRACT.md</a:t>
            </a:r>
            <a:br/>
            <a:br/>
            <a:r>
              <a:t>Phase 2 begins tomorrow!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500"/>
                                  <p:tgtEl>
                                    <p:spTgt spid="6"/>
                                  </p:tgtEl>
                                </p:cBhvr>
                              </p:animEffect>
                            </p:childTnLst>
                          </p:cTn>
                        </p:par>
                      </p:childTnLst>
                    </p:cTn>
                  </p:par>
                  <p:par>
                    <p:cTn id="6" fill="hold">
                      <p:stCondLst>
                        <p:cond delay="0"/>
                      </p:stCondLst>
                      <p:childTnLst>
                        <p:par>
                          <p:cTn id="7" presetID="10" presetClass="entr" presetSubtype="0" fill="hold" nodeType="withEffect">
                            <p:stCondLst>
                              <p:cond delay="300"/>
                            </p:stCondLst>
                            <p:childTnLst>
                              <p:animEffect transition="in" filter="fade">
                                <p:cBhvr>
                                  <p:cTn id="8" dur="500"/>
                                  <p:tgtEl>
                                    <p:spTgt spid="16"/>
                                  </p:tgtEl>
                                </p:cBhvr>
                              </p:animEffect>
                            </p:childTnLst>
                          </p:cTn>
                        </p:par>
                      </p:childTnLst>
                    </p:cTn>
                  </p:par>
                </p:childTnLst>
              </p:cTn>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91A"/>
        </a:solidFill>
        <a:effectLst/>
      </p:bgPr>
    </p:bg>
    <p:spTree>
      <p:nvGrpSpPr>
        <p:cNvPr id="1" name=""/>
        <p:cNvGrpSpPr/>
        <p:nvPr/>
      </p:nvGrpSpPr>
      <p:grpSpPr/>
      <p:sp>
        <p:nvSpPr>
          <p:cNvPr id="2" name="Oval 1"/>
          <p:cNvSpPr/>
          <p:nvPr/>
        </p:nvSpPr>
        <p:spPr>
          <a:xfrm>
            <a:off x="8229600" y="-1371600"/>
            <a:ext cx="5486400" cy="5486400"/>
          </a:xfrm>
          <a:prstGeom prst="ellipse">
            <a:avLst/>
          </a:prstGeom>
          <a:solidFill>
            <a:srgbClr val="0E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3200400"/>
            <a:ext cx="4572000" cy="4572000"/>
          </a:xfrm>
          <a:prstGeom prst="ellipse">
            <a:avLst/>
          </a:prstGeom>
          <a:solidFill>
            <a:srgbClr val="0C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3657600"/>
            <a:ext cx="4114800" cy="4114800"/>
          </a:xfrm>
          <a:prstGeom prst="ellipse">
            <a:avLst/>
          </a:prstGeom>
          <a:solidFill>
            <a:srgbClr val="0B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731520"/>
            <a:ext cx="9418320" cy="5029200"/>
          </a:xfrm>
          <a:prstGeom prst="rect">
            <a:avLst/>
          </a:prstGeom>
          <a:noFill/>
        </p:spPr>
        <p:txBody>
          <a:bodyPr wrap="square">
            <a:spAutoFit/>
          </a:bodyPr>
          <a:lstStyle/>
          <a:p>
            <a:pPr algn="ctr">
              <a:defRPr sz="1200" b="1">
                <a:solidFill>
                  <a:srgbClr val="3B82F6"/>
                </a:solidFill>
                <a:latin typeface="Segoe UI"/>
              </a:defRPr>
            </a:pPr>
            <a:r>
              <a:t>OUR DEVELOPMENT CONTRACT</a:t>
            </a:r>
          </a:p>
          <a:p>
            <a:pPr algn="ctr">
              <a:spcBef>
                <a:spcPts val="800"/>
              </a:spcBef>
            </a:pPr>
            <a:r>
              <a:rPr sz="2800" b="1">
                <a:solidFill>
                  <a:srgbClr val="FFFFFF"/>
                </a:solidFill>
                <a:latin typeface="Segoe UI"/>
              </a:rPr>
              <a:t>One architecture.</a:t>
            </a:r>
          </a:p>
          <a:p>
            <a:pPr algn="ctr">
              <a:spcBef>
                <a:spcPts val="800"/>
              </a:spcBef>
            </a:pPr>
            <a:r>
              <a:rPr sz="2800" b="1">
                <a:solidFill>
                  <a:srgbClr val="FFFFFF"/>
                </a:solidFill>
                <a:latin typeface="Segoe UI"/>
              </a:rPr>
              <a:t>Four owners.</a:t>
            </a:r>
          </a:p>
          <a:p>
            <a:pPr algn="ctr">
              <a:spcBef>
                <a:spcPts val="800"/>
              </a:spcBef>
            </a:pPr>
            <a:r>
              <a:rPr sz="2800" b="1">
                <a:solidFill>
                  <a:srgbClr val="FFFFFF"/>
                </a:solidFill>
                <a:latin typeface="Segoe UI"/>
              </a:rPr>
              <a:t>Parallel execution.</a:t>
            </a:r>
          </a:p>
          <a:p>
            <a:pPr algn="ctr">
              <a:spcBef>
                <a:spcPts val="800"/>
              </a:spcBef>
            </a:pPr>
            <a:r>
              <a:rPr sz="2800" b="1">
                <a:solidFill>
                  <a:srgbClr val="FFFFFF"/>
                </a:solidFill>
                <a:latin typeface="Segoe UI"/>
              </a:rPr>
              <a:t>AI-assisted implementation.</a:t>
            </a:r>
          </a:p>
          <a:p>
            <a:pPr algn="ctr">
              <a:spcBef>
                <a:spcPts val="800"/>
              </a:spcBef>
            </a:pPr>
            <a:r>
              <a:rPr sz="2800" b="1">
                <a:solidFill>
                  <a:srgbClr val="FFFFFF"/>
                </a:solidFill>
                <a:latin typeface="Segoe UI"/>
              </a:rPr>
              <a:t>Human-controlled decisions.</a:t>
            </a:r>
          </a:p>
          <a:p>
            <a:pPr algn="ctr">
              <a:spcBef>
                <a:spcPts val="2000"/>
              </a:spcBef>
            </a:pPr>
            <a:r>
              <a:rPr sz="1400">
                <a:solidFill>
                  <a:srgbClr val="232755"/>
                </a:solidFill>
              </a:rPr>
              <a:t>—————————</a:t>
            </a:r>
          </a:p>
          <a:p>
            <a:pPr algn="ctr">
              <a:spcBef>
                <a:spcPts val="800"/>
              </a:spcBef>
            </a:pPr>
            <a:r>
              <a:rPr sz="1800" b="1">
                <a:solidFill>
                  <a:srgbClr val="22D3EE"/>
                </a:solidFill>
                <a:latin typeface="Segoe UI"/>
              </a:rPr>
              <a:t>Build fast.</a:t>
            </a:r>
          </a:p>
          <a:p>
            <a:pPr algn="ctr">
              <a:spcBef>
                <a:spcPts val="800"/>
              </a:spcBef>
            </a:pPr>
            <a:r>
              <a:rPr sz="1800" b="1">
                <a:solidFill>
                  <a:srgbClr val="10B981"/>
                </a:solidFill>
                <a:latin typeface="Segoe UI"/>
              </a:rPr>
              <a:t>Integrate carefully.</a:t>
            </a:r>
          </a:p>
          <a:p>
            <a:pPr algn="ctr">
              <a:spcBef>
                <a:spcPts val="800"/>
              </a:spcBef>
            </a:pPr>
            <a:r>
              <a:rPr sz="1800" b="1">
                <a:solidFill>
                  <a:srgbClr val="F59E0B"/>
                </a:solidFill>
                <a:latin typeface="Segoe UI"/>
              </a:rPr>
              <a:t>Never sacrifice trust.</a:t>
            </a:r>
          </a:p>
          <a:p>
            <a:pPr algn="ctr">
              <a:spcBef>
                <a:spcPts val="3000"/>
              </a:spcBef>
            </a:pPr>
            <a:r>
              <a:rPr sz="2400" b="1">
                <a:solidFill>
                  <a:srgbClr val="FFFFFF"/>
                </a:solidFill>
                <a:latin typeface="Segoe UI"/>
              </a:rPr>
              <a:t>LEGAL SAATHI — LET'S BUILD.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animEffect transition="in" filter="fade">
                                <p:cBhvr>
                                  <p:cTn id="5" dur="800"/>
                                  <p:tgtEl>
                                    <p:spTgt spid="5"/>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